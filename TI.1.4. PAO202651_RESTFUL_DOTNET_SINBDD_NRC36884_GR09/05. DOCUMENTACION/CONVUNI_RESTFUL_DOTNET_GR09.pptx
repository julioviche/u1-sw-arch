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7" r:id="rId9"/>
    <p:sldId id="270" r:id="rId10"/>
    <p:sldId id="272" r:id="rId11"/>
    <p:sldId id="273" r:id="rId12"/>
    <p:sldId id="274" r:id="rId13"/>
    <p:sldId id="275" r:id="rId14"/>
    <p:sldId id="279" r:id="rId15"/>
    <p:sldId id="280" r:id="rId16"/>
    <p:sldId id="281" r:id="rId17"/>
    <p:sldId id="283" r:id="rId18"/>
    <p:sldId id="284" r:id="rId19"/>
    <p:sldId id="288" r:id="rId20"/>
    <p:sldId id="289" r:id="rId21"/>
    <p:sldId id="291" r:id="rId22"/>
    <p:sldId id="292" r:id="rId23"/>
    <p:sldId id="293" r:id="rId24"/>
    <p:sldId id="294" r:id="rId25"/>
    <p:sldId id="295" r:id="rId26"/>
    <p:sldId id="296" r:id="rId27"/>
    <p:sldId id="297" r:id="rId28"/>
    <p:sldId id="301" r:id="rId29"/>
    <p:sldId id="302" r:id="rId30"/>
    <p:sldId id="303" r:id="rId31"/>
  </p:sldIdLst>
  <p:sldSz cx="12192000" cy="6858000"/>
  <p:notesSz cx="6858000" cy="9144000"/>
  <p:embeddedFontLst>
    <p:embeddedFont>
      <p:font typeface="Calibri" panose="020F0502020204030204" pitchFamily="34" charset="0"/>
      <p:regular r:id="rId33"/>
      <p:bold r:id="rId34"/>
      <p:italic r:id="rId35"/>
      <p:boldItalic r:id="rId36"/>
    </p:embeddedFont>
    <p:embeddedFont>
      <p:font typeface="Cambria" panose="02040503050406030204" pitchFamily="18" charset="0"/>
      <p:regular r:id="rId37"/>
      <p:bold r:id="rId38"/>
      <p:italic r:id="rId39"/>
      <p:boldItalic r:id="rId40"/>
    </p:embeddedFont>
    <p:embeddedFont>
      <p:font typeface="Gill Sans" panose="020B0604020202020204" charset="0"/>
      <p:regular r:id="rId41"/>
      <p:bold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5" roundtripDataSignature="AMtx7mhoWsaXMVBtv1HF1G3ccxKxe1iU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d6d00c5bd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2d6d00c5bd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d62431389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" name="Google Shape;146;g2d62431389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d624313899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2" name="Google Shape;162;g2d624313899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d6243138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6" name="Google Shape;186;g2d6243138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d62431389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2d62431389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d62431389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6" name="Google Shape;236;g2d62431389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d624313899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6" name="Google Shape;246;g2d624313899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d624313899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4" name="Google Shape;254;g2d624313899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5" name="Google Shape;26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1974b856cc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8" name="Google Shape;298;g31974b856cc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1974b856cc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6" name="Google Shape;306;g31974b856cc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1974b856cc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4" name="Google Shape;314;g31974b856cc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d6d00c5bd2_2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2d6d00c5bd2_2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0" name="Google Shape;34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19782968e5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4" name="Google Shape;374;g319782968e5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19782968e5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2" name="Google Shape;382;g319782968e5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19782968e5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8" name="Google Shape;398;g319782968e5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19782968e5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8" name="Google Shape;408;g319782968e5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19782968e5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6" name="Google Shape;416;g319782968e5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24" name="Google Shape;424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2d624313899_0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35" name="Google Shape;435;g2d624313899_0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2d624313899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43" name="Google Shape;443;g2d624313899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d624313899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53" name="Google Shape;453;g2d624313899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2d6d00c5bd2_3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91" name="Google Shape;491;g2d6d00c5bd2_3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0" name="Google Shape;500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7" name="Google Shape;507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5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6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4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7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7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7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8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8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48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9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9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9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9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49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9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4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50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0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5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5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2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2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3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53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53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5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4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54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5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5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5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55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55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55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55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55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4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4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3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4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4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4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44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4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44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4_0_image13.png"/><Relationship Id="rId4" Type="http://schemas.openxmlformats.org/officeDocument/2006/relationships/image" Target="../media/ppt_img_4_1_image14.png"/><Relationship Id="rId5" Type="http://schemas.openxmlformats.org/officeDocument/2006/relationships/image" Target="../media/ppt_img_4_2_image1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5_0_image16.png"/><Relationship Id="rId4" Type="http://schemas.openxmlformats.org/officeDocument/2006/relationships/image" Target="../media/ppt_img_5_1_image1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6_0_image1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7_0_image1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8_0_image20.png"/><Relationship Id="rId4" Type="http://schemas.openxmlformats.org/officeDocument/2006/relationships/image" Target="../media/ppt_img_8_1_image21.png"/><Relationship Id="rId5" Type="http://schemas.openxmlformats.org/officeDocument/2006/relationships/image" Target="../media/ppt_img_8_2_image22.png"/><Relationship Id="rId6" Type="http://schemas.openxmlformats.org/officeDocument/2006/relationships/image" Target="../media/ppt_img_8_3_image23.png"/><Relationship Id="rId7" Type="http://schemas.openxmlformats.org/officeDocument/2006/relationships/image" Target="../media/ppt_img_8_4_image2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9_0_image24.png"/><Relationship Id="rId4" Type="http://schemas.openxmlformats.org/officeDocument/2006/relationships/image" Target="../media/ppt_img_9_1_image2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0_0_image27.png"/><Relationship Id="rId4" Type="http://schemas.openxmlformats.org/officeDocument/2006/relationships/image" Target="../media/ppt_img_10_1_image2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1_0_image2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2_0_image30.png"/><Relationship Id="rId4" Type="http://schemas.openxmlformats.org/officeDocument/2006/relationships/image" Target="../media/ppt_img_12_1_image31.png"/><Relationship Id="rId5" Type="http://schemas.openxmlformats.org/officeDocument/2006/relationships/image" Target="../media/ppt_img_12_2_image32.png"/><Relationship Id="rId6" Type="http://schemas.openxmlformats.org/officeDocument/2006/relationships/image" Target="../media/ppt_img_12_3_image3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3_0_image3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4_0_image35.png"/><Relationship Id="rId4" Type="http://schemas.openxmlformats.org/officeDocument/2006/relationships/image" Target="../media/ppt_img_14_1_image36.png"/><Relationship Id="rId5" Type="http://schemas.openxmlformats.org/officeDocument/2006/relationships/image" Target="../media/ppt_img_14_2_image37.png"/><Relationship Id="rId6" Type="http://schemas.openxmlformats.org/officeDocument/2006/relationships/image" Target="../media/ppt_img_14_3_image3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5_0_image3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6_0_image3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7_0_image3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8_0_image40.png"/><Relationship Id="rId4" Type="http://schemas.openxmlformats.org/officeDocument/2006/relationships/image" Target="../media/ppt_img_18_1_image4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19_0_image42.png"/><Relationship Id="rId4" Type="http://schemas.openxmlformats.org/officeDocument/2006/relationships/image" Target="../media/ppt_img_19_1_image4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0_0_image4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1_0_image4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2_0_image4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3_0_image4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4_0_image45.png"/><Relationship Id="rId4" Type="http://schemas.openxmlformats.org/officeDocument/2006/relationships/image" Target="../media/ppt_img_24_1_image46.png"/><Relationship Id="rId5" Type="http://schemas.openxmlformats.org/officeDocument/2006/relationships/image" Target="../media/ppt_img_24_2_image4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5_0_image46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6_0_image48.png"/><Relationship Id="rId4" Type="http://schemas.openxmlformats.org/officeDocument/2006/relationships/image" Target="../media/ppt_img_26_1_image49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7_0_image50.png"/><Relationship Id="rId4" Type="http://schemas.openxmlformats.org/officeDocument/2006/relationships/image" Target="../media/ppt_img_27_1_image51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ppt_img_28_0_image50.png"/><Relationship Id="rId4" Type="http://schemas.openxmlformats.org/officeDocument/2006/relationships/image" Target="../media/ppt_img_28_1_image5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pt-BR">
                <a:solidFill>
                  <a:schemeClr val="lt1"/>
                </a:solidFill>
              </a:rPr>
              <a:t>MANUAL TÉCNICO</a:t>
            </a:r>
            <a:br>
              <a:rPr lang="pt-BR">
                <a:solidFill>
                  <a:schemeClr val="lt1"/>
                </a:solidFill>
              </a:rPr>
            </a:br>
            <a:r>
              <a:rPr lang="pt-BR">
                <a:solidFill>
                  <a:schemeClr val="lt1"/>
                </a:solidFill>
              </a:rPr>
              <a:t>RESTFUL .NET SINBDD GR09</a:t>
            </a:r>
            <a:endParaRPr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JULIO ENRIQUE VICHE CASTILLO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s-ES" b="1">
                <a:solidFill>
                  <a:schemeClr val="lt1"/>
                </a:solidFill>
              </a:rPr>
              <a:t>GABRIEL OMAR MURILLO MEDINA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GRUPO: GR09</a:t>
            </a:r>
            <a:endParaRPr dirty="0">
              <a:solidFill>
                <a:schemeClr val="lt1"/>
              </a:solidFill>
            </a:endParaRPr>
          </a:p>
        </p:txBody>
      </p:sp>
      <p:pic>
        <p:nvPicPr>
          <p:cNvPr id="98" name="Google Shape;98;p1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7619999" y="5301801"/>
            <a:ext cx="4318000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27/10/2026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ASIGNATURA: ARQUITECTURA DE SOFTWARE</a:t>
            </a:r>
            <a:endParaRPr sz="1600" b="1" i="0" u="none" strike="noStrike" cap="none" dirty="0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2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RESTFUL EN .NET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CONSOLA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ESCRITORIO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WEB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MÓVIL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1.1 OBJETIVO Sistema .NET 10/C# 14: API REST ASP.NET Core Web API/Kestrel en TCP 5000; clientes .NET de consola, WPF, web y Android MAUI. El móvil usa XAML, HttpClient y JSON, sin campo de URL. Login MONSTER/MONSTER9; datos en memoria (SINBDD).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 lang="es-ES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/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RESTful.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Las conversiones se organizan en longitud, masa y temperatura. Cada cliente inicia con autenticación usando MONSTER / MONSTER9. Los datos se mantienen en memoria; no se utiliza base de datos.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d6d00c5bd2_0_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g2d6d00c5bd2_0_0"/>
          <p:cNvSpPr txBox="1">
            <a:spLocks noGrp="1"/>
          </p:cNvSpPr>
          <p:nvPr>
            <p:ph type="body" idx="1"/>
          </p:nvPr>
        </p:nvSpPr>
        <p:spPr>
          <a:xfrm>
            <a:off x="581200" y="20320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/>
          </a:bodyPr>
          <a:lstStyle/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 CREACIÓN DEL SERVIDOR RESTFUL Servidor C# 14/.NET 10 con ASP.NET Core Web API, controladores, Kestrel y System.Text.Json. Microsoft.AspNetCore.OpenApi 10.0.12. Escucha en TCP 5000.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endParaRPr lang="es-ES" sz="1929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/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Contexto: http://localhost:5000/api/</a:t>
            </a:r>
          </a:p>
          <a:p>
            <a:pPr marL="342900" marR="0" lvl="0" indent="-359017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Rutas: health, auth/login y conversor/{longitud,masa,temperatura}.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g2d6d00c5bd2_0_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4" name="image13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6096000" y="3709191"/>
            <a:ext cx="3131854" cy="217938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25" name="image14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2953500" y="3716772"/>
            <a:ext cx="3480507" cy="216422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26" name="image15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234986" y="3724354"/>
            <a:ext cx="3249332" cy="216422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0" name="Google Shape;140;p9"/>
          <p:cNvSpPr txBox="1">
            <a:spLocks noGrp="1"/>
          </p:cNvSpPr>
          <p:nvPr>
            <p:ph type="body" idx="1"/>
          </p:nvPr>
        </p:nvSpPr>
        <p:spPr>
          <a:xfrm>
            <a:off x="581192" y="2180497"/>
            <a:ext cx="8589441" cy="1248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1.2 CONTRATO RESTFUL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endParaRPr lang="es-ES" sz="1350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La API recibe solicitudes HTTP/JSON en el contexto configurado por Program.cs / Kestrel (Swagger UI).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Rutas: health, auth/login y conversor/longitud, conversor/masa, conversor/temperatura.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Responde con JSON; autentica al usuario antes de convertir.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2" name="image16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174120" y="3429000"/>
            <a:ext cx="5843760" cy="2964849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43" name="image17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916342" y="3401152"/>
            <a:ext cx="2105025" cy="88582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d624313899_0_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9" name="Google Shape;149;g2d624313899_0_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ARQUITECTURA DEL SERVIDOR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endParaRPr lang="es-ES" sz="1677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ASP.NET Core registra los recursos REST; Kestrel ofrece el servidor HTTP embebido y System.Text.Json procesa JSON. Las clases de servicio centralizan la autenticación y las fórmulas de conversión.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Los catálogos se mantienen en memoria, sin acceso a base de datos.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0" name="Google Shape;150;g2d624313899_0_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1" name="image18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749937" y="2870106"/>
            <a:ext cx="3268557" cy="203358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d624313899_0_2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65" name="Google Shape;165;g2d624313899_0_26"/>
          <p:cNvSpPr txBox="1">
            <a:spLocks noGrp="1"/>
          </p:cNvSpPr>
          <p:nvPr>
            <p:ph type="body" idx="1"/>
          </p:nvPr>
        </p:nvSpPr>
        <p:spPr>
          <a:xfrm>
            <a:off x="581660" y="2108200"/>
            <a:ext cx="3048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VERIFICACIÓN DE LA API Base: http://localhost:5000/api/. Valida health, auth/login y conversor/{longitud,masa,temperatura}. El servidor escucha en TCP 5000.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Base: http://localhost:5000/api/. Valida health y auth/login; prueba conversor/longitud, /masa y /temperatura.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Puerto del servidor REST: 5000.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6" name="Google Shape;166;g2d624313899_0_2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" name="image19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875414" y="2817286"/>
            <a:ext cx="4441055" cy="361543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d624313899_0_7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9" name="Google Shape;189;g2d624313899_0_71"/>
          <p:cNvSpPr txBox="1">
            <a:spLocks noGrp="1"/>
          </p:cNvSpPr>
          <p:nvPr>
            <p:ph type="body" idx="1"/>
          </p:nvPr>
        </p:nvSpPr>
        <p:spPr>
          <a:xfrm>
            <a:off x="684530" y="1921510"/>
            <a:ext cx="60186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4140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PRUEBAS DEL SERVICIO</a:t>
            </a: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0" name="Google Shape;190;g2d624313899_0_7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1" name="image20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818100" y="4415104"/>
            <a:ext cx="2808980" cy="207069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2" name="image21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2961150" y="4415104"/>
            <a:ext cx="2761232" cy="21726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3" name="image22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330934" y="4415104"/>
            <a:ext cx="2630216" cy="200899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4" name="image23.png"/>
          <p:cNvPicPr/>
          <p:nvPr/>
        </p:nvPicPr>
        <p:blipFill>
          <a:blip r:embed="rId6"/>
          <a:srcRect/>
          <a:stretch>
            <a:fillRect/>
          </a:stretch>
        </p:blipFill>
        <p:spPr>
          <a:xfrm>
            <a:off x="4671319" y="1994161"/>
            <a:ext cx="2849245" cy="207581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195" name="image20.png"/>
          <p:cNvPicPr/>
          <p:nvPr/>
        </p:nvPicPr>
        <p:blipFill>
          <a:blip r:embed="rId7"/>
          <a:srcRect/>
          <a:stretch>
            <a:fillRect/>
          </a:stretch>
        </p:blipFill>
        <p:spPr>
          <a:xfrm>
            <a:off x="679863" y="2724790"/>
            <a:ext cx="3776665" cy="134518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624313899_0_5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g2d624313899_0_51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245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CREACIÓN DEL CLIENTE CONSOLA Cliente de consola C#/.NET 10. Consume REST HTTP/JSON y separa modelo, vista y controlador; inicia con autenticación.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ES"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/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cliente solicita las credenciales antes de mostrar las opciones de conversión.</a:t>
            </a: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g2d624313899_0_5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3" name="image24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740234" y="3657435"/>
            <a:ext cx="4201160" cy="284543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24" name="image25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466506" y="3674580"/>
            <a:ext cx="4144010" cy="282829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d624313899_0_9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9" name="Google Shape;239;g2d624313899_0_95"/>
          <p:cNvSpPr txBox="1">
            <a:spLocks noGrp="1"/>
          </p:cNvSpPr>
          <p:nvPr>
            <p:ph type="body" idx="1"/>
          </p:nvPr>
        </p:nvSpPr>
        <p:spPr>
          <a:xfrm>
            <a:off x="514824" y="91462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ConversionRequest representa la magnitud, el valor y las unidades que se enviarán en el cuerpo JSON.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0" name="Google Shape;240;g2d624313899_0_9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g2d624313899_0_95"/>
          <p:cNvSpPr txBox="1">
            <a:spLocks noGrp="1"/>
          </p:cNvSpPr>
          <p:nvPr>
            <p:ph type="body" idx="1"/>
          </p:nvPr>
        </p:nvSpPr>
        <p:spPr>
          <a:xfrm>
            <a:off x="4759292" y="77006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controlador usa RestClient para invocar la API HTTP, interpretar la respuesta JSON y presentar el resultado.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242" name="image27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100618" y="4064763"/>
            <a:ext cx="5172027" cy="1777483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43" name="image28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811793" y="4064763"/>
            <a:ext cx="2955257" cy="185048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d624313899_0_1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9" name="Google Shape;249;g2d624313899_0_111"/>
          <p:cNvSpPr txBox="1">
            <a:spLocks noGrp="1"/>
          </p:cNvSpPr>
          <p:nvPr>
            <p:ph type="body" idx="1"/>
          </p:nvPr>
        </p:nvSpPr>
        <p:spPr>
          <a:xfrm>
            <a:off x="478225" y="1986150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vista de consola guía el inicio de sesión y ofrece opciones para convertir longitud, masa o temperatura. Muestra mensajes de validación y el resultado con dos decimales.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0" name="Google Shape;250;g2d624313899_0_11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1" name="image26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361215" y="2617179"/>
            <a:ext cx="4878474" cy="2609244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624313899_0_1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57" name="Google Shape;257;g2d624313899_0_138"/>
          <p:cNvSpPr txBox="1">
            <a:spLocks noGrp="1"/>
          </p:cNvSpPr>
          <p:nvPr>
            <p:ph type="body" idx="1"/>
          </p:nvPr>
        </p:nvSpPr>
        <p:spPr>
          <a:xfrm>
            <a:off x="581660" y="1930400"/>
            <a:ext cx="2413000" cy="6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Ejecución del Proyecto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8" name="Google Shape;258;g2d624313899_0_13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9" name="image30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6143877" y="3004463"/>
            <a:ext cx="2928406" cy="26436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60" name="image31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3227647" y="3004463"/>
            <a:ext cx="2808301" cy="26436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61" name="image32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311657" y="3004463"/>
            <a:ext cx="2808061" cy="26436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262" name="image33.png"/>
          <p:cNvPicPr/>
          <p:nvPr/>
        </p:nvPicPr>
        <p:blipFill>
          <a:blip r:embed="rId6"/>
          <a:srcRect/>
          <a:stretch>
            <a:fillRect/>
          </a:stretch>
        </p:blipFill>
        <p:spPr>
          <a:xfrm>
            <a:off x="3227647" y="1933668"/>
            <a:ext cx="2868295" cy="8032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68" name="Google Shape;268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7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1.4 CREACIÓN DEL CLIENTE DE ESCRITORIO Cliente C#/.NET 10 para Windows con WPF. Consume REST/JSON mediante el patrón MVC.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/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270" name="image34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2544819" y="3270983"/>
            <a:ext cx="4144010" cy="282829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1974b856cc_0_10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1" name="Google Shape;301;g31974b856cc_0_10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g31974b856cc_0_109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/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4F47827-A8E1-4FFA-A232-83861B9D7BF5}"/>
              </a:ext>
            </a:extLst>
          </p:cNvPr>
          <p:cNvSpPr txBox="1"/>
          <p:nvPr/>
        </p:nvSpPr>
        <p:spPr>
          <a:xfrm>
            <a:off x="762109" y="3269217"/>
            <a:ext cx="17121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Modelo: conserva los datos de sesión y de la conversión.</a:t>
            </a:r>
            <a:endParaRPr lang="es-EC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AE216B3-B851-4BA3-899E-396EB3A18BA2}"/>
              </a:ext>
            </a:extLst>
          </p:cNvPr>
          <p:cNvSpPr txBox="1"/>
          <p:nvPr/>
        </p:nvSpPr>
        <p:spPr>
          <a:xfrm>
            <a:off x="6214191" y="4553152"/>
            <a:ext cx="26333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Controlador: valida entradas y coordina la solicitud HTTP/JSON.</a:t>
            </a:r>
            <a:endParaRPr lang="es-EC" dirty="0"/>
          </a:p>
        </p:txBody>
      </p:sp>
      <p:pic>
        <p:nvPicPr>
          <p:cNvPr id="303" name="image35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2474259" y="4377212"/>
            <a:ext cx="3666875" cy="235536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04" name="image36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5925023" y="3893361"/>
            <a:ext cx="2743200" cy="4572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05" name="image37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2611811" y="3836431"/>
            <a:ext cx="2476500" cy="3429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06" name="image34.png"/>
          <p:cNvPicPr/>
          <p:nvPr/>
        </p:nvPicPr>
        <p:blipFill>
          <a:blip r:embed="rId6"/>
          <a:srcRect/>
          <a:stretch>
            <a:fillRect/>
          </a:stretch>
        </p:blipFill>
        <p:spPr>
          <a:xfrm>
            <a:off x="5088311" y="2609850"/>
            <a:ext cx="3019425" cy="10287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1974b856cc_0_1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9" name="Google Shape;309;g31974b856cc_0_1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g31974b856cc_0_128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/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11" name="image37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699248" y="2831802"/>
            <a:ext cx="8424537" cy="3324041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1974b856cc_0_1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7" name="Google Shape;317;g31974b856cc_0_1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g31974b856cc_0_137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Inicio de sesión del cliente de escritorio. Ingresa MONSTER / MONSTER9 para acceder al conversor.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19" name="image38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81192" y="2329030"/>
            <a:ext cx="5218973" cy="3336664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d6d00c5bd2_2_1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35" name="Google Shape;335;g2d6d00c5bd2_2_1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g2d6d00c5bd2_2_19"/>
          <p:cNvSpPr txBox="1">
            <a:spLocks noGrp="1"/>
          </p:cNvSpPr>
          <p:nvPr>
            <p:ph type="body" idx="1"/>
          </p:nvPr>
        </p:nvSpPr>
        <p:spPr>
          <a:xfrm>
            <a:off x="5791950" y="2411875"/>
            <a:ext cx="32289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Formulario de conversión. Selecciona la magnitud, las unidades de origen y destino, e ingresa el valor que se enviará a la API REST.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37" name="image39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1131103" y="2513572"/>
            <a:ext cx="3898097" cy="3116263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43" name="Google Shape;343;p3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2"/>
          <p:cNvSpPr txBox="1"/>
          <p:nvPr/>
        </p:nvSpPr>
        <p:spPr>
          <a:xfrm>
            <a:off x="636600" y="1868348"/>
            <a:ext cx="8576700" cy="18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 lnSpcReduction="10000"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1.5 CREACIÓN DEL CLIENTE WEB Cliente web C#/.NET 10 con ASP.NET Core que consume los recursos HTTP/JSON de la API.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endParaRPr lang="es-ES" sz="1800" b="1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El cliente web .NET 10 usa ASP.NET Core y consume recursos REST HTTP/JSON. 11 embebido en el puerto 8081. HTML y .NET / C#Script presentan las pantallas; los Servlets gestionan la sesión y las solicitudes HTTP/JSON a la API REST.</a:t>
            </a:r>
            <a:endParaRPr sz="2000" dirty="0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45" name="image40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863999" y="3524211"/>
            <a:ext cx="4959666" cy="3037954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46" name="image41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1211356" y="3839056"/>
            <a:ext cx="2095500" cy="56197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319782968e5_0_8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7" name="Google Shape;377;g319782968e5_0_8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g319782968e5_0_88"/>
          <p:cNvSpPr txBox="1">
            <a:spLocks noGrp="1"/>
          </p:cNvSpPr>
          <p:nvPr>
            <p:ph type="body" idx="1"/>
          </p:nvPr>
        </p:nvSpPr>
        <p:spPr>
          <a:xfrm>
            <a:off x="581200" y="19444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 página conversor.html ofrece formularios para seleccionar magnitud y unidades, ingresar el valor y mostrar la respuesta. ConversionServlet comunica el cliente web con los recursos REST.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EBFFD51-1503-4BCA-8CB9-C70596A06975}"/>
              </a:ext>
            </a:extLst>
          </p:cNvPr>
          <p:cNvSpPr txBox="1"/>
          <p:nvPr/>
        </p:nvSpPr>
        <p:spPr>
          <a:xfrm>
            <a:off x="719417" y="4185628"/>
            <a:ext cx="26244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sym typeface="Gill Sans"/>
              </a:rPr>
              <a:t>El formulario envía los datos al Servlet y presenta el resultado de la conversión.</a:t>
            </a:r>
            <a:endParaRPr lang="es-EC" dirty="0"/>
          </a:p>
        </p:txBody>
      </p:sp>
      <p:pic>
        <p:nvPicPr>
          <p:cNvPr id="379" name="image42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679277" y="3132944"/>
            <a:ext cx="3959600" cy="354539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380" name="image44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841168" y="3132944"/>
            <a:ext cx="1448002" cy="905001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19782968e5_0_7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85" name="Google Shape;385;g319782968e5_0_7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g319782968e5_0_73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index.html presenta el formulario de inicio de sesión. LoginServlet valida las credenciales y habilita el acceso al conversor cuando son correctas.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387" name="image43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2804070" y="2850777"/>
            <a:ext cx="4143559" cy="3708703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19782968e5_0_11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01" name="Google Shape;401;g319782968e5_0_11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g319782968e5_0_112"/>
          <p:cNvSpPr txBox="1">
            <a:spLocks noGrp="1"/>
          </p:cNvSpPr>
          <p:nvPr>
            <p:ph type="body" idx="1"/>
          </p:nvPr>
        </p:nvSpPr>
        <p:spPr>
          <a:xfrm>
            <a:off x="1039100" y="1913200"/>
            <a:ext cx="8038500" cy="180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Inicia el servidor REST y después el cliente web. Abre http://localhost:8081/ClienteWeb/ en el navegador para acceder al formulario de autenticación y las funciones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03" name="image44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135268" y="3257334"/>
            <a:ext cx="3200847" cy="3086531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19782968e5_0_13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1" name="Google Shape;411;g319782968e5_0_13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g319782968e5_0_135"/>
          <p:cNvSpPr txBox="1">
            <a:spLocks noGrp="1"/>
          </p:cNvSpPr>
          <p:nvPr>
            <p:ph type="body" idx="1"/>
          </p:nvPr>
        </p:nvSpPr>
        <p:spPr>
          <a:xfrm>
            <a:off x="6326975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Acceso al cliente web. Ingresa MONSTER / MONSTER9; una sesión válida permite continuar a la pantalla de conversión.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13" name="image43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803359" y="2804085"/>
            <a:ext cx="5399405" cy="27559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19782968e5_0_12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9" name="Google Shape;419;g319782968e5_0_12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g319782968e5_0_123"/>
          <p:cNvSpPr txBox="1">
            <a:spLocks noGrp="1"/>
          </p:cNvSpPr>
          <p:nvPr>
            <p:ph type="body" idx="1"/>
          </p:nvPr>
        </p:nvSpPr>
        <p:spPr>
          <a:xfrm>
            <a:off x="581200" y="2523925"/>
            <a:ext cx="2808300" cy="36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Selecciona longitud, masa o temperatura. Ingresa un valor y las unidades de origen y destino; el cliente envía una solicitud JSON y muestra el resultado con dos decimales.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21" name="image44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686896" y="2718547"/>
            <a:ext cx="5399405" cy="28194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27" name="Google Shape;427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37"/>
          <p:cNvSpPr txBox="1"/>
          <p:nvPr/>
        </p:nvSpPr>
        <p:spPr>
          <a:xfrm>
            <a:off x="406975" y="1921878"/>
            <a:ext cx="85767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1.6 CLIENTE MÓVIL Cliente Android .NET MAUI 10, C# 14, XAML, HttpClient, System.Net.Http.Json, System.Text.Json, net10.0-android y API mínima 21. Consume REST. Hotspot: 192.168.137.1:5000; emulador: 10.0.2.2:5000.</a:t>
            </a: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429" name="Google Shape;429;p37"/>
          <p:cNvSpPr txBox="1">
            <a:spLocks noGrp="1"/>
          </p:cNvSpPr>
          <p:nvPr>
            <p:ph type="body" idx="1"/>
          </p:nvPr>
        </p:nvSpPr>
        <p:spPr>
          <a:xfrm>
            <a:off x="581200" y="2253923"/>
            <a:ext cx="41781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/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/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30" name="image45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904275" y="5528800"/>
            <a:ext cx="4335775" cy="5995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31" name="image46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5410937" y="4209124"/>
            <a:ext cx="3622500" cy="191780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32" name="image47.png"/>
          <p:cNvPicPr/>
          <p:nvPr/>
        </p:nvPicPr>
        <p:blipFill>
          <a:blip r:embed="rId5"/>
          <a:srcRect/>
          <a:stretch>
            <a:fillRect/>
          </a:stretch>
        </p:blipFill>
        <p:spPr>
          <a:xfrm>
            <a:off x="6418749" y="2402189"/>
            <a:ext cx="1606875" cy="16918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2d624313899_0_15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38" name="Google Shape;438;g2d624313899_0_15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g2d624313899_0_157"/>
          <p:cNvSpPr txBox="1">
            <a:spLocks noGrp="1"/>
          </p:cNvSpPr>
          <p:nvPr>
            <p:ph type="body" idx="1"/>
          </p:nvPr>
        </p:nvSpPr>
        <p:spPr>
          <a:xfrm>
            <a:off x="581200" y="2253925"/>
            <a:ext cx="3644100" cy="3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Estructura del proyecto MAUI: páginas XAML, lógica C# y controlador de conversión. El flujo móvil implementa autenticación y conversión.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/>
            </a:r>
            <a:endParaRPr lang="es-EC" sz="1564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40" name="image46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741537" y="2559253"/>
            <a:ext cx="3225165" cy="315976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2d624313899_0_1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46" name="Google Shape;446;g2d624313899_0_17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g2d624313899_0_172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cliente C# usa HttpClient, System.Net.Http.Json y System.Text.Json para enviar HTTP/JSON y procesar respuestas.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/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48" name="Google Shape;448;g2d624313899_0_172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controlador C# valida la entrada y solicita la conversión REST.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Coordina la selección de unidades, valida los datos y solicita la conversión al recurso REST correspondiente.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49" name="image48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980331" y="3710940"/>
            <a:ext cx="3802710" cy="2848362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50" name="image49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491075" y="3711388"/>
            <a:ext cx="3478914" cy="2259718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d624313899_0_19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56" name="Google Shape;456;g2d624313899_0_19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g2d624313899_0_193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LoginPage solicita MONSTER / MONSTER9 y continúa al conversor tras autenticarse.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Solicita las credenciales MONSTER / MONSTER9 y dirige a la conversión tras una respuesta válida.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58" name="Google Shape;458;g2d624313899_0_193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página de conversión permite seleccionar magnitud/unidades, ingresar un valor y consultar REST.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Permite elegir magnitud y unidades, ingresar el valor y consultar el resultado de la API REST.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59" name="image50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096586" y="3395466"/>
            <a:ext cx="3346888" cy="3121255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60" name="image51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595071" y="3523400"/>
            <a:ext cx="3704493" cy="2290259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d6d00c5bd2_3_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94" name="Google Shape;494;g2d6d00c5bd2_3_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2d6d00c5bd2_3_16"/>
          <p:cNvSpPr txBox="1">
            <a:spLocks noGrp="1"/>
          </p:cNvSpPr>
          <p:nvPr>
            <p:ph type="body" idx="1"/>
          </p:nvPr>
        </p:nvSpPr>
        <p:spPr>
          <a:xfrm>
            <a:off x="581200" y="1984125"/>
            <a:ext cx="8589300" cy="11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lvl="0" indent="-31798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/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496" name="image50.png"/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375360" y="3132224"/>
            <a:ext cx="1577205" cy="34697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pic>
        <p:nvPicPr>
          <p:cNvPr id="497" name="image51.png"/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2107289" y="3132225"/>
            <a:ext cx="1720640" cy="346975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503" name="Google Shape;503;p41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El sistema mantiene una lógica de conversión común para las aplicaciones de consola, escritorio, web y móvil. RESTful publica recursos HTTP/JSON que los clientes .NET / C# consumen mediante solicitudes web.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La autenticación se realiza antes de convertir y las unidades se organizan en tres magnitudes. La solución es SINBDD: utiliza datos en memoria y no requiere persistencia en una base de datos.</a:t>
            </a:r>
            <a:endParaRPr sz="1900" dirty="0"/>
          </a:p>
        </p:txBody>
      </p:sp>
      <p:sp>
        <p:nvSpPr>
          <p:cNvPr id="504" name="Google Shape;504;p4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510" name="Google Shape;510;p42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Mantén el servidor activo antes de iniciar los clientes y prueba cada recurso con valores conocidos.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Conserva sincronizados las rutas REST, los modelos JSON y las respuestas de los cuatro clientes.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Al tomar capturas para el manual, incluye el inicio de sesión, una conversión por magnitud y la ejecución del servidor. Registra la solicitud, las unidades y el resultado visible.</a:t>
            </a:r>
            <a:endParaRPr lang="es-MX" sz="1900" dirty="0"/>
          </a:p>
        </p:txBody>
      </p:sp>
      <p:sp>
        <p:nvSpPr>
          <p:cNvPr id="511" name="Google Shape;511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RESTFUL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2370</Words>
  <Application>Microsoft Office PowerPoint</Application>
  <PresentationFormat>Panorámica</PresentationFormat>
  <Paragraphs>491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6" baseType="lpstr">
      <vt:lpstr>Noto Sans Symbols</vt:lpstr>
      <vt:lpstr>Gill Sans</vt:lpstr>
      <vt:lpstr>Arial</vt:lpstr>
      <vt:lpstr>Calibri</vt:lpstr>
      <vt:lpstr>Cambria</vt:lpstr>
      <vt:lpstr>Dividendo</vt:lpstr>
      <vt:lpstr>MANUAL TÉCNICO RESTFUL JAVA SINBDD GR09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Técnico RESTFUL Java SINBDD GR09</dc:title>
  <dc:creator>Murillo Medina, Gabriel Omar; Viche Castillo, Julio Enrique</dc:creator>
  <cp:lastModifiedBy>Murillo Medina, Gabriel Omar; Viche Castillo, Julio Enrique</cp:lastModifiedBy>
  <cp:revision>6</cp:revision>
  <dcterms:created xsi:type="dcterms:W3CDTF">2026-10-28T05:41:41Z</dcterms:created>
  <dcterms:modified xsi:type="dcterms:W3CDTF">2026-10-28T05:41:41Z</dcterms:modified>
</cp:coreProperties>
</file>