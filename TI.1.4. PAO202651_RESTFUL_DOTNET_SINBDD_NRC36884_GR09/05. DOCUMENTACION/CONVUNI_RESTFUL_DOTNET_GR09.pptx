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32"/>
  </p:notesMasterIdLst>
  <p:sldIdLst>
    <p:sldId id="256" r:id="rId2"/>
    <p:sldId id="257" r:id="rId3"/>
    <p:sldId id="258" r:id="rId4"/>
    <p:sldId id="259" r:id="rId5"/>
    <p:sldId id="261" r:id="rId6"/>
    <p:sldId id="262" r:id="rId7"/>
    <p:sldId id="264" r:id="rId8"/>
    <p:sldId id="267" r:id="rId9"/>
    <p:sldId id="270" r:id="rId10"/>
    <p:sldId id="272" r:id="rId11"/>
    <p:sldId id="273" r:id="rId12"/>
    <p:sldId id="274" r:id="rId13"/>
    <p:sldId id="275" r:id="rId14"/>
    <p:sldId id="279" r:id="rId15"/>
    <p:sldId id="280" r:id="rId16"/>
    <p:sldId id="281" r:id="rId17"/>
    <p:sldId id="283" r:id="rId18"/>
    <p:sldId id="284" r:id="rId19"/>
    <p:sldId id="288" r:id="rId20"/>
    <p:sldId id="289" r:id="rId21"/>
    <p:sldId id="291" r:id="rId22"/>
    <p:sldId id="292" r:id="rId23"/>
    <p:sldId id="293" r:id="rId24"/>
    <p:sldId id="294" r:id="rId25"/>
    <p:sldId id="295" r:id="rId26"/>
    <p:sldId id="296" r:id="rId27"/>
    <p:sldId id="297" r:id="rId28"/>
    <p:sldId id="301" r:id="rId29"/>
    <p:sldId id="302" r:id="rId30"/>
    <p:sldId id="303" r:id="rId31"/>
  </p:sldIdLst>
  <p:sldSz cx="12192000" cy="6858000"/>
  <p:notesSz cx="6858000" cy="9144000"/>
  <p:embeddedFontLst>
    <p:embeddedFont>
      <p:font typeface="Calibri" panose="020F0502020204030204" pitchFamily="34" charset="0"/>
      <p:regular r:id="rId33"/>
      <p:bold r:id="rId34"/>
      <p:italic r:id="rId35"/>
      <p:boldItalic r:id="rId36"/>
    </p:embeddedFont>
    <p:embeddedFont>
      <p:font typeface="Cambria" panose="02040503050406030204" pitchFamily="18" charset="0"/>
      <p:regular r:id="rId37"/>
      <p:bold r:id="rId38"/>
      <p:italic r:id="rId39"/>
      <p:boldItalic r:id="rId40"/>
    </p:embeddedFont>
    <p:embeddedFont>
      <p:font typeface="Gill Sans" panose="020B0604020202020204" charset="0"/>
      <p:regular r:id="rId41"/>
      <p:bold r:id="rId4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55" roundtripDataSignature="AMtx7mhoWsaXMVBtv1HF1G3ccxKxe1iUl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1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7.fntdata"/><Relationship Id="rId21" Type="http://schemas.openxmlformats.org/officeDocument/2006/relationships/slide" Target="slides/slide20.xml"/><Relationship Id="rId34" Type="http://schemas.openxmlformats.org/officeDocument/2006/relationships/font" Target="fonts/font2.fntdata"/><Relationship Id="rId42" Type="http://schemas.openxmlformats.org/officeDocument/2006/relationships/font" Target="fonts/font10.fntdata"/><Relationship Id="rId55" Type="http://customschemas.google.com/relationships/presentationmetadata" Target="meta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openxmlformats.org/officeDocument/2006/relationships/font" Target="fonts/font5.fntdata"/><Relationship Id="rId40" Type="http://schemas.openxmlformats.org/officeDocument/2006/relationships/font" Target="fonts/font8.fntdata"/><Relationship Id="rId58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4.fntdata"/><Relationship Id="rId57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3.fntdata"/><Relationship Id="rId56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1.fntdata"/><Relationship Id="rId38" Type="http://schemas.openxmlformats.org/officeDocument/2006/relationships/font" Target="fonts/font6.fntdata"/><Relationship Id="rId59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font" Target="fonts/font9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94" name="Google Shape;94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03" name="Google Shape;10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2d6d00c5bd2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9" name="Google Shape;119;g2d6d00c5bd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37" name="Google Shape;137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2d624313899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46" name="Google Shape;146;g2d624313899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2d624313899_0_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62" name="Google Shape;162;g2d624313899_0_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2d624313899_0_7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86" name="Google Shape;186;g2d624313899_0_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g2d624313899_0_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18" name="Google Shape;218;g2d624313899_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g2d624313899_0_9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36" name="Google Shape;236;g2d624313899_0_9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2d624313899_0_1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46" name="Google Shape;246;g2d624313899_0_1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g2d624313899_0_1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54" name="Google Shape;254;g2d624313899_0_1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65" name="Google Shape;265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g31974b856cc_0_10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98" name="Google Shape;298;g31974b856cc_0_10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g31974b856cc_0_1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06" name="Google Shape;306;g31974b856cc_0_1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g31974b856cc_0_13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14" name="Google Shape;314;g31974b856cc_0_1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g2d6d00c5bd2_2_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32" name="Google Shape;332;g2d6d00c5bd2_2_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p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40" name="Google Shape;340;p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g319782968e5_0_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74" name="Google Shape;374;g319782968e5_0_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Google Shape;381;g319782968e5_0_7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82" name="Google Shape;382;g319782968e5_0_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g319782968e5_0_1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98" name="Google Shape;398;g319782968e5_0_1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g319782968e5_0_1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08" name="Google Shape;408;g319782968e5_0_1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Google Shape;415;g319782968e5_0_1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16" name="Google Shape;416;g319782968e5_0_1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Google Shape;423;p3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24" name="Google Shape;424;p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Google Shape;434;g2d624313899_0_1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35" name="Google Shape;435;g2d624313899_0_1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Google Shape;442;g2d624313899_0_1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43" name="Google Shape;443;g2d624313899_0_1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Google Shape;452;g2d624313899_0_19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53" name="Google Shape;453;g2d624313899_0_1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" name="Google Shape;490;g2d6d00c5bd2_3_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91" name="Google Shape;491;g2d6d00c5bd2_3_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Google Shape;499;p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500" name="Google Shape;500;p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" name="Google Shape;506;p4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507" name="Google Shape;507;p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a de título" type="title">
  <p:cSld name="TITLE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45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Gill Sans"/>
              <a:buNone/>
              <a:defRPr sz="360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472"/>
              <a:buNone/>
              <a:defRPr sz="1600" cap="none">
                <a:solidFill>
                  <a:schemeClr val="accent2"/>
                </a:solidFill>
              </a:defRPr>
            </a:lvl1pPr>
            <a:lvl2pPr lvl="1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104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45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45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45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1644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objetos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6"/>
          <p:cNvSpPr/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23;p46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46"/>
          <p:cNvSpPr txBox="1">
            <a:spLocks noGrp="1"/>
          </p:cNvSpPr>
          <p:nvPr>
            <p:ph type="body" idx="1"/>
          </p:nvPr>
        </p:nvSpPr>
        <p:spPr>
          <a:xfrm>
            <a:off x="581192" y="2180496"/>
            <a:ext cx="11029615" cy="36783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25" name="Google Shape;25;p46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6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46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0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cabezado de sección" type="secHead">
  <p:cSld name="SECTION_HEADER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47"/>
          <p:cNvSpPr/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" name="Google Shape;30;p47"/>
          <p:cNvSpPr txBox="1"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Gill Sans"/>
              <a:buNone/>
              <a:defRPr sz="3600" b="0" cap="none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47"/>
          <p:cNvSpPr txBox="1"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None/>
              <a:defRPr sz="1800" cap="none">
                <a:solidFill>
                  <a:schemeClr val="accent2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2" name="Google Shape;32;p47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47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47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os objetos" type="twoObj">
  <p:cSld name="TWO_OBJECTS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48"/>
          <p:cNvSpPr/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48"/>
          <p:cNvSpPr txBox="1"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48"/>
          <p:cNvSpPr txBox="1">
            <a:spLocks noGrp="1"/>
          </p:cNvSpPr>
          <p:nvPr>
            <p:ph type="body" idx="1"/>
          </p:nvPr>
        </p:nvSpPr>
        <p:spPr>
          <a:xfrm>
            <a:off x="581193" y="2228003"/>
            <a:ext cx="5422390" cy="36330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39" name="Google Shape;39;p48"/>
          <p:cNvSpPr txBox="1">
            <a:spLocks noGrp="1"/>
          </p:cNvSpPr>
          <p:nvPr>
            <p:ph type="body" idx="2"/>
          </p:nvPr>
        </p:nvSpPr>
        <p:spPr>
          <a:xfrm>
            <a:off x="6188417" y="2228003"/>
            <a:ext cx="5422392" cy="36330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40" name="Google Shape;40;p48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48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48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ación" type="twoTxTwoObj">
  <p:cSld name="TWO_OBJECTS_WITH_TEXT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49"/>
          <p:cNvSpPr/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" name="Google Shape;45;p49"/>
          <p:cNvSpPr txBox="1"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49"/>
          <p:cNvSpPr txBox="1"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SzPts val="2024"/>
              <a:buNone/>
              <a:defRPr sz="2200" b="0">
                <a:solidFill>
                  <a:schemeClr val="accent2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40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472"/>
              <a:buNone/>
              <a:defRPr sz="1600" b="1"/>
            </a:lvl9pPr>
          </a:lstStyle>
          <a:p>
            <a:endParaRPr/>
          </a:p>
        </p:txBody>
      </p:sp>
      <p:sp>
        <p:nvSpPr>
          <p:cNvPr id="47" name="Google Shape;47;p49"/>
          <p:cNvSpPr txBox="1">
            <a:spLocks noGrp="1"/>
          </p:cNvSpPr>
          <p:nvPr>
            <p:ph type="body" idx="2"/>
          </p:nvPr>
        </p:nvSpPr>
        <p:spPr>
          <a:xfrm>
            <a:off x="581194" y="2926052"/>
            <a:ext cx="5393100" cy="2934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48" name="Google Shape;48;p49"/>
          <p:cNvSpPr txBox="1">
            <a:spLocks noGrp="1"/>
          </p:cNvSpPr>
          <p:nvPr>
            <p:ph type="body" idx="3"/>
          </p:nvPr>
        </p:nvSpPr>
        <p:spPr>
          <a:xfrm>
            <a:off x="6523735" y="2250892"/>
            <a:ext cx="5087073" cy="5533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SzPts val="2024"/>
              <a:buNone/>
              <a:defRPr sz="2200" b="0">
                <a:solidFill>
                  <a:schemeClr val="accent2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40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472"/>
              <a:buNone/>
              <a:defRPr sz="1600" b="1"/>
            </a:lvl9pPr>
          </a:lstStyle>
          <a:p>
            <a:endParaRPr/>
          </a:p>
        </p:txBody>
      </p:sp>
      <p:sp>
        <p:nvSpPr>
          <p:cNvPr id="49" name="Google Shape;49;p49"/>
          <p:cNvSpPr txBox="1">
            <a:spLocks noGrp="1"/>
          </p:cNvSpPr>
          <p:nvPr>
            <p:ph type="body" idx="4"/>
          </p:nvPr>
        </p:nvSpPr>
        <p:spPr>
          <a:xfrm>
            <a:off x="6217709" y="2926052"/>
            <a:ext cx="5393100" cy="2934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50" name="Google Shape;50;p49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49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49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olo el título" type="titleOnly">
  <p:cSld name="TITLE_ONLY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50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50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50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  <p:sp>
        <p:nvSpPr>
          <p:cNvPr id="57" name="Google Shape;57;p50"/>
          <p:cNvSpPr/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" name="Google Shape;58;p50"/>
          <p:cNvSpPr txBox="1"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 blanco" type="blank">
  <p:cSld name="BLANK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51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51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51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ido con título" type="objTx">
  <p:cSld name="OBJECT_WITH_CAPTION_TEXT"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52"/>
          <p:cNvSpPr/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p52"/>
          <p:cNvSpPr txBox="1"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58AC"/>
              </a:buClr>
              <a:buSzPts val="2000"/>
              <a:buFont typeface="Gill Sans"/>
              <a:buNone/>
              <a:defRPr sz="2000" b="0"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52"/>
          <p:cNvSpPr txBox="1">
            <a:spLocks noGrp="1"/>
          </p:cNvSpPr>
          <p:nvPr>
            <p:ph type="body" idx="1"/>
          </p:nvPr>
        </p:nvSpPr>
        <p:spPr>
          <a:xfrm>
            <a:off x="447816" y="601200"/>
            <a:ext cx="11292840" cy="42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4544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40"/>
              <a:buChar char="◼"/>
              <a:defRPr sz="2000">
                <a:solidFill>
                  <a:schemeClr val="dk2"/>
                </a:solidFill>
              </a:defRPr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 sz="1800">
                <a:solidFill>
                  <a:schemeClr val="dk2"/>
                </a:solidFill>
              </a:defRPr>
            </a:lvl2pPr>
            <a:lvl3pPr marL="1371600" lvl="2" indent="-322072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Char char="◼"/>
              <a:defRPr sz="1600">
                <a:solidFill>
                  <a:schemeClr val="dk2"/>
                </a:solidFill>
              </a:defRPr>
            </a:lvl3pPr>
            <a:lvl4pPr marL="1828800" lvl="3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4pPr>
            <a:lvl5pPr marL="2286000" lvl="4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5pPr>
            <a:lvl6pPr marL="2743200" lvl="5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6pPr>
            <a:lvl7pPr marL="3200400" lvl="6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7pPr>
            <a:lvl8pPr marL="3657600" lvl="7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8pPr>
            <a:lvl9pPr marL="4114800" lvl="8" indent="-310388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67" name="Google Shape;67;p52"/>
          <p:cNvSpPr txBox="1">
            <a:spLocks noGrp="1"/>
          </p:cNvSpPr>
          <p:nvPr>
            <p:ph type="body" idx="2"/>
          </p:nvPr>
        </p:nvSpPr>
        <p:spPr>
          <a:xfrm>
            <a:off x="5740823" y="5262296"/>
            <a:ext cx="5869987" cy="6895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r">
              <a:lnSpc>
                <a:spcPct val="100000"/>
              </a:lnSpc>
              <a:spcBef>
                <a:spcPts val="220"/>
              </a:spcBef>
              <a:spcAft>
                <a:spcPts val="0"/>
              </a:spcAft>
              <a:buSzPts val="1012"/>
              <a:buNone/>
              <a:defRPr sz="110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012"/>
              <a:buNone/>
              <a:defRPr sz="1100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20"/>
              <a:buNone/>
              <a:defRPr sz="1000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828"/>
              <a:buNone/>
              <a:defRPr sz="900"/>
            </a:lvl9pPr>
          </a:lstStyle>
          <a:p>
            <a:endParaRPr/>
          </a:p>
        </p:txBody>
      </p:sp>
      <p:sp>
        <p:nvSpPr>
          <p:cNvPr id="68" name="Google Shape;68;p52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52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52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n con título" type="picTx">
  <p:cSld name="PICTURE_WITH_CAPTION_TEXT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53"/>
          <p:cNvSpPr txBox="1"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Gill Sans"/>
              <a:buNone/>
              <a:defRPr sz="2400" b="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53"/>
          <p:cNvSpPr>
            <a:spLocks noGrp="1"/>
          </p:cNvSpPr>
          <p:nvPr>
            <p:ph type="pic" idx="2"/>
          </p:nvPr>
        </p:nvSpPr>
        <p:spPr>
          <a:xfrm>
            <a:off x="447817" y="599725"/>
            <a:ext cx="11290859" cy="3557252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53"/>
          <p:cNvSpPr txBox="1">
            <a:spLocks noGrp="1"/>
          </p:cNvSpPr>
          <p:nvPr>
            <p:ph type="body" idx="1"/>
          </p:nvPr>
        </p:nvSpPr>
        <p:spPr>
          <a:xfrm>
            <a:off x="581192" y="5260127"/>
            <a:ext cx="11029617" cy="598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SzPts val="1104"/>
              <a:buNone/>
              <a:defRPr sz="1200"/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 sz="1200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20"/>
              <a:buNone/>
              <a:defRPr sz="1000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828"/>
              <a:buNone/>
              <a:defRPr sz="900"/>
            </a:lvl9pPr>
          </a:lstStyle>
          <a:p>
            <a:endParaRPr/>
          </a:p>
        </p:txBody>
      </p:sp>
      <p:sp>
        <p:nvSpPr>
          <p:cNvPr id="75" name="Google Shape;75;p53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53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53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texto vertical" type="vertTx">
  <p:cSld name="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54"/>
          <p:cNvSpPr/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" name="Google Shape;80;p54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54"/>
          <p:cNvSpPr txBox="1">
            <a:spLocks noGrp="1"/>
          </p:cNvSpPr>
          <p:nvPr>
            <p:ph type="body" idx="1"/>
          </p:nvPr>
        </p:nvSpPr>
        <p:spPr>
          <a:xfrm rot="5400000">
            <a:off x="4334603" y="-1417408"/>
            <a:ext cx="3522794" cy="110296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22072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Char char="◼"/>
              <a:defRPr/>
            </a:lvl2pPr>
            <a:lvl3pPr marL="1371600" lvl="2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/>
            </a:lvl3pPr>
            <a:lvl4pPr marL="1828800" lvl="3" indent="-298703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Char char="◼"/>
              <a:defRPr/>
            </a:lvl4pPr>
            <a:lvl5pPr marL="2286000" lvl="4" indent="-298704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82" name="Google Shape;82;p54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54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54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vertical y texto" type="vertTitleAndTx">
  <p:cSld name="VERTICAL_TITLE_AND_VERTICAL_TEXT"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55"/>
          <p:cNvSpPr/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" name="Google Shape;87;p55"/>
          <p:cNvSpPr txBox="1">
            <a:spLocks noGrp="1"/>
          </p:cNvSpPr>
          <p:nvPr>
            <p:ph type="title"/>
          </p:nvPr>
        </p:nvSpPr>
        <p:spPr>
          <a:xfrm rot="5400000">
            <a:off x="7249746" y="2265181"/>
            <a:ext cx="5183073" cy="20041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8" name="Google Shape;88;p55"/>
          <p:cNvSpPr txBox="1">
            <a:spLocks noGrp="1"/>
          </p:cNvSpPr>
          <p:nvPr>
            <p:ph type="body" idx="1"/>
          </p:nvPr>
        </p:nvSpPr>
        <p:spPr>
          <a:xfrm rot="5400000">
            <a:off x="2131526" y="-680877"/>
            <a:ext cx="5183073" cy="78962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89" name="Google Shape;89;p55"/>
          <p:cNvSpPr txBox="1">
            <a:spLocks noGrp="1"/>
          </p:cNvSpPr>
          <p:nvPr>
            <p:ph type="dt" idx="10"/>
          </p:nvPr>
        </p:nvSpPr>
        <p:spPr>
          <a:xfrm>
            <a:off x="8993673" y="5956137"/>
            <a:ext cx="132814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0" name="Google Shape;90;p55"/>
          <p:cNvSpPr txBox="1">
            <a:spLocks noGrp="1"/>
          </p:cNvSpPr>
          <p:nvPr>
            <p:ph type="ftr" idx="11"/>
          </p:nvPr>
        </p:nvSpPr>
        <p:spPr>
          <a:xfrm>
            <a:off x="774923" y="5951811"/>
            <a:ext cx="789627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1" name="Google Shape;91;p55"/>
          <p:cNvSpPr txBox="1">
            <a:spLocks noGrp="1"/>
          </p:cNvSpPr>
          <p:nvPr>
            <p:ph type="sldNum" idx="12"/>
          </p:nvPr>
        </p:nvSpPr>
        <p:spPr>
          <a:xfrm>
            <a:off x="10446615" y="5956137"/>
            <a:ext cx="116419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44"/>
          <p:cNvSpPr txBox="1"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  <a:defRPr sz="28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44"/>
          <p:cNvSpPr txBox="1"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marR="0" lvl="0" indent="-333756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accent2"/>
              </a:buClr>
              <a:buSzPts val="1656"/>
              <a:buFont typeface="Noto Sans Symbols"/>
              <a:buChar char="◼"/>
              <a:defRPr sz="18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914400" marR="0" lvl="1" indent="-322072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472"/>
              <a:buFont typeface="Noto Sans Symbols"/>
              <a:buChar char="◼"/>
              <a:defRPr sz="16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1371600" marR="0" lvl="2" indent="-310388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288"/>
              <a:buFont typeface="Noto Sans Symbols"/>
              <a:buChar char="◼"/>
              <a:defRPr sz="14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1828800" marR="0" lvl="3" indent="-298703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2286000" marR="0" lvl="4" indent="-298704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2743200" marR="0" lvl="5" indent="-298704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3200400" marR="0" lvl="6" indent="-298704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3657600" marR="0" lvl="7" indent="-298703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4114800" marR="0" lvl="8" indent="-298703" algn="l" rtl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/>
          </a:p>
        </p:txBody>
      </p:sp>
      <p:sp>
        <p:nvSpPr>
          <p:cNvPr id="8" name="Google Shape;8;p44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/>
          </a:p>
        </p:txBody>
      </p:sp>
      <p:sp>
        <p:nvSpPr>
          <p:cNvPr id="9" name="Google Shape;9;p44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/>
          </a:p>
        </p:txBody>
      </p:sp>
      <p:sp>
        <p:nvSpPr>
          <p:cNvPr id="10" name="Google Shape;10;p44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  <p:sp>
        <p:nvSpPr>
          <p:cNvPr id="11" name="Google Shape;11;p44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44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44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"/>
          <p:cNvSpPr txBox="1">
            <a:spLocks noGrp="1"/>
          </p:cNvSpPr>
          <p:nvPr>
            <p:ph type="ctrTitle"/>
          </p:nvPr>
        </p:nvSpPr>
        <p:spPr>
          <a:xfrm>
            <a:off x="599226" y="3158569"/>
            <a:ext cx="10993549" cy="15784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pt-BR">
                <a:solidFill>
                  <a:schemeClr val="lt1"/>
                </a:solidFill>
              </a:rPr>
              <a:t>MANUAL TÉCNICO</a:t>
            </a:r>
            <a:br>
              <a:rPr lang="pt-BR">
                <a:solidFill>
                  <a:schemeClr val="lt1"/>
                </a:solidFill>
              </a:rPr>
            </a:br>
            <a:r>
              <a:rPr lang="pt-BR">
                <a:solidFill>
                  <a:schemeClr val="lt1"/>
                </a:solidFill>
              </a:rPr>
              <a:t>RESTFUL .NET SINBDD GR09</a:t>
            </a:r>
            <a:endParaRPr dirty="0"/>
          </a:p>
        </p:txBody>
      </p:sp>
      <p:sp>
        <p:nvSpPr>
          <p:cNvPr id="97" name="Google Shape;97;p1"/>
          <p:cNvSpPr txBox="1">
            <a:spLocks noGrp="1"/>
          </p:cNvSpPr>
          <p:nvPr>
            <p:ph type="subTitle" idx="1"/>
          </p:nvPr>
        </p:nvSpPr>
        <p:spPr>
          <a:xfrm>
            <a:off x="599226" y="4572000"/>
            <a:ext cx="4261531" cy="18127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72"/>
              <a:buNone/>
            </a:pPr>
            <a:r>
              <a:rPr lang="es-ES" b="1">
                <a:solidFill>
                  <a:schemeClr val="lt1"/>
                </a:solidFill>
              </a:rPr>
              <a:t>INTEGRANTES: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72"/>
              <a:buNone/>
            </a:pPr>
            <a:r>
              <a:rPr lang="es-ES" b="1">
                <a:solidFill>
                  <a:schemeClr val="lt1"/>
                </a:solidFill>
              </a:rPr>
              <a:t>JULIO ENRIQUE VICHE CASTILLO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ES" b="1">
                <a:solidFill>
                  <a:schemeClr val="lt1"/>
                </a:solidFill>
              </a:rPr>
              <a:t>GABRIEL OMAR MURILLO MEDINA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72"/>
              <a:buNone/>
            </a:pPr>
            <a:r>
              <a:rPr lang="es-ES" b="1">
                <a:solidFill>
                  <a:schemeClr val="lt1"/>
                </a:solidFill>
              </a:rPr>
              <a:t>GRUPO: GR09</a:t>
            </a:r>
            <a:endParaRPr dirty="0">
              <a:solidFill>
                <a:schemeClr val="lt1"/>
              </a:solidFill>
            </a:endParaRPr>
          </a:p>
        </p:txBody>
      </p:sp>
      <p:pic>
        <p:nvPicPr>
          <p:cNvPr id="98" name="Google Shape;98;p1" descr="Resultado de imagen para esp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9597" y="716302"/>
            <a:ext cx="11647502" cy="2193925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Google Shape;99;p1"/>
          <p:cNvSpPr txBox="1"/>
          <p:nvPr/>
        </p:nvSpPr>
        <p:spPr>
          <a:xfrm>
            <a:off x="7619999" y="5301801"/>
            <a:ext cx="4318000" cy="12353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472"/>
              <a:buFont typeface="Noto Sans Symbols"/>
              <a:buNone/>
            </a:pPr>
            <a:r>
              <a:rPr lang="es-ES" sz="1600" b="1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FECHA: 27/10/2026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472"/>
              <a:buFont typeface="Noto Sans Symbols"/>
              <a:buNone/>
            </a:pPr>
            <a:r>
              <a:rPr lang="es-ES" sz="1600" b="1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ASIGNATURA: ARQUITECTURA DE SOFTWARE</a:t>
            </a:r>
            <a:endParaRPr sz="1600" b="1" i="0" u="none" strike="noStrike" cap="none" dirty="0">
              <a:solidFill>
                <a:srgbClr val="FFFFFF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00" name="Google Shape;100;p1"/>
          <p:cNvSpPr txBox="1"/>
          <p:nvPr/>
        </p:nvSpPr>
        <p:spPr>
          <a:xfrm>
            <a:off x="11817675" y="6474048"/>
            <a:ext cx="374325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Gill Sans"/>
              <a:buNone/>
            </a:pPr>
            <a:r>
              <a:rPr lang="es-ES" sz="2000" b="0" i="0" u="none" strike="noStrike" cap="non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rPr>
              <a:t>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"/>
          <p:cNvSpPr/>
          <p:nvPr/>
        </p:nvSpPr>
        <p:spPr>
          <a:xfrm>
            <a:off x="0" y="614406"/>
            <a:ext cx="12192000" cy="6243593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Gill Sans"/>
              <a:buNone/>
            </a:pPr>
            <a:endParaRPr sz="1800" b="0" i="0" u="none" strike="noStrike" cap="none">
              <a:solidFill>
                <a:srgbClr val="FFFFFF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06" name="Google Shape;106;p2"/>
          <p:cNvSpPr/>
          <p:nvPr/>
        </p:nvSpPr>
        <p:spPr>
          <a:xfrm>
            <a:off x="442377" y="614407"/>
            <a:ext cx="3707477" cy="561177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07" name="Google Shape;107;p2"/>
          <p:cNvSpPr txBox="1">
            <a:spLocks noGrp="1"/>
          </p:cNvSpPr>
          <p:nvPr>
            <p:ph type="body" idx="1"/>
          </p:nvPr>
        </p:nvSpPr>
        <p:spPr>
          <a:xfrm>
            <a:off x="596348" y="701336"/>
            <a:ext cx="3389726" cy="5424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lnSpcReduction="10000"/>
          </a:bodyPr>
          <a:lstStyle/>
          <a:p>
            <a:pPr marL="30600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DESARROLLO</a:t>
            </a:r>
          </a:p>
          <a:p>
            <a:pPr marL="30600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OBJETIVO</a:t>
            </a:r>
          </a:p>
          <a:p>
            <a:pPr marL="30600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CREACIÓN DEL SERVIDOR RESTFUL EN JAVA</a:t>
            </a:r>
          </a:p>
          <a:p>
            <a:pPr marL="30600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CREACIÓN DEL PROYECTO – CLIENTE CONSOLA</a:t>
            </a:r>
          </a:p>
          <a:p>
            <a:pPr marL="30600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CREACIÓN DEL PROYECTO – CLIENTE ESCRITORIO</a:t>
            </a:r>
          </a:p>
          <a:p>
            <a:pPr marL="30600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CREACIÓN DEL PROYECTO – CLIENTE WEB</a:t>
            </a:r>
          </a:p>
          <a:p>
            <a:pPr marL="30600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CREACIÓN DEL PROYECTO – CLIENTE MÓVIL</a:t>
            </a:r>
          </a:p>
          <a:p>
            <a:pPr marL="30600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CONCLUSIONES</a:t>
            </a:r>
          </a:p>
          <a:p>
            <a:pPr marL="30600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RECOMENDACIONES</a:t>
            </a:r>
            <a:endParaRPr/>
          </a:p>
        </p:txBody>
      </p:sp>
      <p:pic>
        <p:nvPicPr>
          <p:cNvPr id="108" name="Google Shape;108;p2" descr="Resultado de imagen para AGENDA 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791522" y="1935576"/>
            <a:ext cx="6489819" cy="3007477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"/>
          <p:cNvSpPr txBox="1"/>
          <p:nvPr/>
        </p:nvSpPr>
        <p:spPr>
          <a:xfrm>
            <a:off x="11817675" y="6474048"/>
            <a:ext cx="374325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Gill Sans"/>
              <a:buNone/>
            </a:pPr>
            <a:r>
              <a:rPr lang="es-ES" sz="2000" b="0" i="0" u="none" strike="noStrike" cap="non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rPr>
              <a:t>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3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3"/>
          <p:cNvSpPr txBox="1">
            <a:spLocks noGrp="1"/>
          </p:cNvSpPr>
          <p:nvPr>
            <p:ph type="body" idx="1"/>
          </p:nvPr>
        </p:nvSpPr>
        <p:spPr>
          <a:xfrm>
            <a:off x="581192" y="2180496"/>
            <a:ext cx="8589441" cy="36783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1.1 OBJETIVO</a:t>
            </a: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endParaRPr lang="es-ES"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Documentar la configuración, arquitectura, ejecución y validación del conversor de unidades. El sistema ofrece clientes de consola, escritorio, web y móvil conectados a un servicio .NET / C# de tipo </a:t>
            </a: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RESTful.</a:t>
            </a: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Las conversiones se organizan en longitud, masa y temperatura. Cada cliente inicia con autenticación usando MONSTER / MONSTER9. Los datos se mantienen en memoria; no se utiliza base de datos.</a:t>
            </a:r>
            <a:endParaRPr lang="es-MX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3"/>
          <p:cNvSpPr/>
          <p:nvPr/>
        </p:nvSpPr>
        <p:spPr>
          <a:xfrm>
            <a:off x="9383697" y="0"/>
            <a:ext cx="2808303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2d6d00c5bd2_0_0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22" name="Google Shape;122;g2d6d00c5bd2_0_0"/>
          <p:cNvSpPr txBox="1">
            <a:spLocks noGrp="1"/>
          </p:cNvSpPr>
          <p:nvPr>
            <p:ph type="body" idx="1"/>
          </p:nvPr>
        </p:nvSpPr>
        <p:spPr>
          <a:xfrm>
            <a:off x="581200" y="2032000"/>
            <a:ext cx="8589300" cy="163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2500"/>
          </a:bodyPr>
          <a:lstStyle/>
          <a:p>
            <a:pPr marL="342900" marR="0" lvl="0" indent="-359017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85"/>
              <a:buChar char="∙"/>
            </a:pPr>
            <a:r>
              <a:rPr lang="es-ES" sz="1929" b="1">
                <a:latin typeface="Cambria"/>
                <a:ea typeface="Cambria"/>
                <a:cs typeface="Cambria"/>
                <a:sym typeface="Cambria"/>
              </a:rPr>
              <a:t>1.2 CREACIÓN DEL SERVIDOR RESTFUL</a:t>
            </a:r>
          </a:p>
          <a:p>
            <a:pPr marL="342900" marR="0" lvl="0" indent="-359017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85"/>
              <a:buChar char="∙"/>
            </a:pPr>
            <a:endParaRPr lang="es-ES" sz="1929" b="1"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59017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85"/>
              <a:buChar char="∙"/>
            </a:pPr>
            <a:r>
              <a:rPr lang="es-ES" sz="1929" b="1">
                <a:latin typeface="Cambria"/>
                <a:ea typeface="Cambria"/>
                <a:cs typeface="Cambria"/>
                <a:sym typeface="Cambria"/>
              </a:rPr>
              <a:t>.NET 8.0 SDK con ASP.NET Core Web API, Kestrel y System.Text.Json. Puerto 8080 (alterno 8085).</a:t>
            </a:r>
          </a:p>
          <a:p>
            <a:pPr marL="342900" marR="0" lvl="0" indent="-359017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85"/>
              <a:buChar char="∙"/>
            </a:pPr>
            <a:r>
              <a:rPr lang="es-ES" sz="1929" b="1">
                <a:latin typeface="Cambria"/>
                <a:ea typeface="Cambria"/>
                <a:cs typeface="Cambria"/>
                <a:sym typeface="Cambria"/>
              </a:rPr>
              <a:t>Contexto: http://localhost:5000/api/</a:t>
            </a:r>
          </a:p>
          <a:p>
            <a:pPr marL="342900" marR="0" lvl="0" indent="-359017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85"/>
              <a:buChar char="∙"/>
            </a:pPr>
            <a:r>
              <a:rPr lang="es-ES" sz="1929" b="1">
                <a:latin typeface="Cambria"/>
                <a:ea typeface="Cambria"/>
                <a:cs typeface="Cambria"/>
                <a:sym typeface="Cambria"/>
              </a:rPr>
              <a:t>Rutas: health, auth/login y conversor/{longitud,masa,temperatura}.</a:t>
            </a:r>
            <a:endParaRPr sz="1800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23" name="Google Shape;123;g2d6d00c5bd2_0_0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CAPTURA PENDIENTE - Estructura inicial del servidor">
            <a:extLst>
              <a:ext uri="{FF2B5EF4-FFF2-40B4-BE49-F238E27FC236}">
                <a16:creationId xmlns:a16="http://schemas.microsoft.com/office/drawing/2014/main" id="{17E77EA3-1BEA-4179-BF94-998624423603}"/>
              </a:ext>
            </a:extLst>
          </p:cNvPr>
          <p:cNvSpPr/>
          <p:nvPr/>
        </p:nvSpPr>
        <p:spPr>
          <a:xfrm>
            <a:off x="6096000" y="3709191"/>
            <a:ext cx="3131854" cy="2179386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Estructura inicial del servidor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3" name="CAPTURA PENDIENTE - Ajustes del endpoint y dependencias">
            <a:extLst>
              <a:ext uri="{FF2B5EF4-FFF2-40B4-BE49-F238E27FC236}">
                <a16:creationId xmlns:a16="http://schemas.microsoft.com/office/drawing/2014/main" id="{50ACFE48-E015-4B57-A8E4-FBBB537BEA49}"/>
              </a:ext>
            </a:extLst>
          </p:cNvPr>
          <p:cNvSpPr/>
          <p:nvPr/>
        </p:nvSpPr>
        <p:spPr>
          <a:xfrm>
            <a:off x="2953500" y="3716772"/>
            <a:ext cx="3480507" cy="2164222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Ajustes del endpoint y dependencias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4" name="CAPTURA PENDIENTE - Proyecto Maven y configuración del servidor">
            <a:extLst>
              <a:ext uri="{FF2B5EF4-FFF2-40B4-BE49-F238E27FC236}">
                <a16:creationId xmlns:a16="http://schemas.microsoft.com/office/drawing/2014/main" id="{BF619C64-20BD-4F4D-BA92-6F9DFDBD2226}"/>
              </a:ext>
            </a:extLst>
          </p:cNvPr>
          <p:cNvSpPr/>
          <p:nvPr/>
        </p:nvSpPr>
        <p:spPr>
          <a:xfrm>
            <a:off x="234986" y="3724354"/>
            <a:ext cx="3249332" cy="2164222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Proyecto Maven y configuración del servidor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9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40" name="Google Shape;140;p9"/>
          <p:cNvSpPr txBox="1">
            <a:spLocks noGrp="1"/>
          </p:cNvSpPr>
          <p:nvPr>
            <p:ph type="body" idx="1"/>
          </p:nvPr>
        </p:nvSpPr>
        <p:spPr>
          <a:xfrm>
            <a:off x="581192" y="2180497"/>
            <a:ext cx="8589441" cy="1248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marR="0" lvl="0" indent="-331355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350"/>
              <a:buChar char="∙"/>
            </a:pPr>
            <a:r>
              <a:rPr lang="es-ES" sz="1350" b="1">
                <a:latin typeface="Cambria"/>
                <a:ea typeface="Cambria"/>
                <a:cs typeface="Cambria"/>
                <a:sym typeface="Cambria"/>
              </a:rPr>
              <a:t>1.2 CONTRATO RESTFUL</a:t>
            </a:r>
          </a:p>
          <a:p>
            <a:pPr marL="342900" marR="0" lvl="0" indent="-331355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350"/>
              <a:buChar char="∙"/>
            </a:pPr>
            <a:endParaRPr lang="es-ES" sz="1350" b="1"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31355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350"/>
              <a:buChar char="∙"/>
            </a:pPr>
            <a:r>
              <a:rPr lang="es-ES" sz="1350" b="1">
                <a:latin typeface="Cambria"/>
                <a:ea typeface="Cambria"/>
                <a:cs typeface="Cambria"/>
                <a:sym typeface="Cambria"/>
              </a:rPr>
              <a:t>La API recibe solicitudes HTTP/JSON en el contexto configurado por Program.cs / Kestrel (Swagger UI).</a:t>
            </a:r>
          </a:p>
          <a:p>
            <a:pPr marL="342900" marR="0" lvl="0" indent="-331355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350"/>
              <a:buChar char="∙"/>
            </a:pPr>
            <a:r>
              <a:rPr lang="es-ES" sz="1350" b="1">
                <a:latin typeface="Cambria"/>
                <a:ea typeface="Cambria"/>
                <a:cs typeface="Cambria"/>
                <a:sym typeface="Cambria"/>
              </a:rPr>
              <a:t>Rutas: health, auth/login y conversor/longitud, conversor/masa, conversor/temperatura.</a:t>
            </a:r>
          </a:p>
          <a:p>
            <a:pPr marL="342900" marR="0" lvl="0" indent="-331355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350"/>
              <a:buChar char="∙"/>
            </a:pPr>
            <a:r>
              <a:rPr lang="es-ES" sz="1350" b="1">
                <a:latin typeface="Cambria"/>
                <a:ea typeface="Cambria"/>
                <a:cs typeface="Cambria"/>
                <a:sym typeface="Cambria"/>
              </a:rPr>
              <a:t>Responde con JSON; autentica al usuario antes de convertir.</a:t>
            </a:r>
            <a:endParaRPr lang="es-MX" sz="1800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41" name="Google Shape;141;p9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CAPTURA PENDIENTE - Configuración de recursos y formato de respuesta">
            <a:extLst>
              <a:ext uri="{FF2B5EF4-FFF2-40B4-BE49-F238E27FC236}">
                <a16:creationId xmlns:a16="http://schemas.microsoft.com/office/drawing/2014/main" id="{C7E1E34B-54B3-4282-9A1E-9BDE3F598B2F}"/>
              </a:ext>
            </a:extLst>
          </p:cNvPr>
          <p:cNvSpPr/>
          <p:nvPr/>
        </p:nvSpPr>
        <p:spPr>
          <a:xfrm>
            <a:off x="3174120" y="3429000"/>
            <a:ext cx="5843760" cy="2964849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Configuración de recursos y formato de respuesta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4" name="CAPTURA PENDIENTE - Dependencias de servicios SOAP/REST">
            <a:extLst>
              <a:ext uri="{FF2B5EF4-FFF2-40B4-BE49-F238E27FC236}">
                <a16:creationId xmlns:a16="http://schemas.microsoft.com/office/drawing/2014/main" id="{6227344A-0244-4E95-94DB-D55E648FE2B9}"/>
              </a:ext>
            </a:extLst>
          </p:cNvPr>
          <p:cNvSpPr/>
          <p:nvPr/>
        </p:nvSpPr>
        <p:spPr>
          <a:xfrm>
            <a:off x="916342" y="3401152"/>
            <a:ext cx="2105025" cy="885825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n-U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n-US" sz="900" i="1">
                <a:solidFill>
                  <a:srgbClr val="666666"/>
                </a:solidFill>
                <a:latin typeface="Arial" panose="020B0604020202020204" pitchFamily="34" charset="0"/>
              </a:rPr>
              <a:t>Dependencias ASP.NET Core y modelos JSON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2d624313899_0_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49" name="Google Shape;149;g2d624313899_0_5"/>
          <p:cNvSpPr txBox="1">
            <a:spLocks noGrp="1"/>
          </p:cNvSpPr>
          <p:nvPr>
            <p:ph type="body" idx="1"/>
          </p:nvPr>
        </p:nvSpPr>
        <p:spPr>
          <a:xfrm>
            <a:off x="581200" y="2180500"/>
            <a:ext cx="4557900" cy="387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marR="0" lvl="0" indent="-350901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77"/>
              <a:buChar char="∙"/>
            </a:pPr>
            <a:r>
              <a:rPr lang="es-ES" sz="1677" b="1">
                <a:latin typeface="Cambria"/>
                <a:ea typeface="Cambria"/>
                <a:cs typeface="Cambria"/>
                <a:sym typeface="Cambria"/>
              </a:rPr>
              <a:t>ARQUITECTURA DEL SERVIDOR</a:t>
            </a:r>
          </a:p>
          <a:p>
            <a:pPr marL="342900" marR="0" lvl="0" indent="-350901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77"/>
              <a:buChar char="∙"/>
            </a:pPr>
            <a:endParaRPr lang="es-ES" sz="1677" b="1"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50901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77"/>
              <a:buChar char="∙"/>
            </a:pPr>
            <a:r>
              <a:rPr lang="es-ES" sz="1677" b="1">
                <a:latin typeface="Cambria"/>
                <a:ea typeface="Cambria"/>
                <a:cs typeface="Cambria"/>
                <a:sym typeface="Cambria"/>
              </a:rPr>
              <a:t>ASP.NET Core registra los recursos REST; Kestrel ofrece el servidor HTTP embebido y System.Text.Json procesa JSON. Las clases de servicio centralizan la autenticación y las fórmulas de conversión.</a:t>
            </a:r>
          </a:p>
          <a:p>
            <a:pPr marL="342900" marR="0" lvl="0" indent="-350901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77"/>
              <a:buChar char="∙"/>
            </a:pPr>
            <a:r>
              <a:rPr lang="es-ES" sz="1677" b="1">
                <a:latin typeface="Cambria"/>
                <a:ea typeface="Cambria"/>
                <a:cs typeface="Cambria"/>
                <a:sym typeface="Cambria"/>
              </a:rPr>
              <a:t>Los catálogos se mantienen en memoria, sin acceso a base de datos.</a:t>
            </a:r>
            <a:endParaRPr sz="180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50" name="Google Shape;150;g2d624313899_0_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CAPTURA PENDIENTE - Paquetes y componentes del servidor">
            <a:extLst>
              <a:ext uri="{FF2B5EF4-FFF2-40B4-BE49-F238E27FC236}">
                <a16:creationId xmlns:a16="http://schemas.microsoft.com/office/drawing/2014/main" id="{454DCE1A-E548-4B0A-A877-3DAA336DC380}"/>
              </a:ext>
            </a:extLst>
          </p:cNvPr>
          <p:cNvSpPr/>
          <p:nvPr/>
        </p:nvSpPr>
        <p:spPr>
          <a:xfrm>
            <a:off x="5749937" y="2870106"/>
            <a:ext cx="3268557" cy="2033588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Paquetes y componentes del servidor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g2d624313899_0_26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65" name="Google Shape;165;g2d624313899_0_26"/>
          <p:cNvSpPr txBox="1">
            <a:spLocks noGrp="1"/>
          </p:cNvSpPr>
          <p:nvPr>
            <p:ph type="body" idx="1"/>
          </p:nvPr>
        </p:nvSpPr>
        <p:spPr>
          <a:xfrm>
            <a:off x="581660" y="2108200"/>
            <a:ext cx="3048000" cy="381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b="1">
                <a:latin typeface="Cambria"/>
                <a:ea typeface="Cambria"/>
                <a:cs typeface="Cambria"/>
                <a:sym typeface="Cambria"/>
              </a:rPr>
              <a:t>VERIFICACIÓN DE LA API</a:t>
            </a: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s-ES" b="1">
              <a:latin typeface="Cambria"/>
              <a:ea typeface="Cambria"/>
              <a:cs typeface="Cambria"/>
              <a:sym typeface="Cambria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b="1">
                <a:latin typeface="Cambria"/>
                <a:ea typeface="Cambria"/>
                <a:cs typeface="Cambria"/>
                <a:sym typeface="Cambria"/>
              </a:rPr>
              <a:t>Base: http://localhost:5000/api/. Valida health y auth/login; prueba conversor/longitud, /masa y /temperatura.</a:t>
            </a: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b="1">
                <a:latin typeface="Cambria"/>
                <a:ea typeface="Cambria"/>
                <a:cs typeface="Cambria"/>
                <a:sym typeface="Cambria"/>
              </a:rPr>
              <a:t>Puertos: 8080 y 8085.</a:t>
            </a:r>
            <a:endParaRPr lang="es-MX" sz="1670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66" name="Google Shape;166;g2d624313899_0_26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CAPTURA PENDIENTE - Código de publicación o registro de recursos">
            <a:extLst>
              <a:ext uri="{FF2B5EF4-FFF2-40B4-BE49-F238E27FC236}">
                <a16:creationId xmlns:a16="http://schemas.microsoft.com/office/drawing/2014/main" id="{AEDAC15D-A3D3-404F-9C5F-945CC788CB4C}"/>
              </a:ext>
            </a:extLst>
          </p:cNvPr>
          <p:cNvSpPr/>
          <p:nvPr/>
        </p:nvSpPr>
        <p:spPr>
          <a:xfrm>
            <a:off x="3875414" y="2817286"/>
            <a:ext cx="4441055" cy="3615432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n-U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n-US" sz="900" i="1">
                <a:solidFill>
                  <a:srgbClr val="666666"/>
                </a:solidFill>
                <a:latin typeface="Arial" panose="020B0604020202020204" pitchFamily="34" charset="0"/>
              </a:rPr>
              <a:t>Código de publicación o registro de recursos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g2d624313899_0_71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89" name="Google Shape;189;g2d624313899_0_71"/>
          <p:cNvSpPr txBox="1">
            <a:spLocks noGrp="1"/>
          </p:cNvSpPr>
          <p:nvPr>
            <p:ph type="body" idx="1"/>
          </p:nvPr>
        </p:nvSpPr>
        <p:spPr>
          <a:xfrm>
            <a:off x="684530" y="1921510"/>
            <a:ext cx="6018600" cy="69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ts val="4140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PRUEBAS DEL SERVICIO</a:t>
            </a:r>
            <a:endParaRPr sz="167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90" name="Google Shape;190;g2d624313899_0_71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CAPTURA PENDIENTE - Respuesta del servicio">
            <a:extLst>
              <a:ext uri="{FF2B5EF4-FFF2-40B4-BE49-F238E27FC236}">
                <a16:creationId xmlns:a16="http://schemas.microsoft.com/office/drawing/2014/main" id="{B2C4A3B8-9E3D-4E18-9BFA-696E1A7A9839}"/>
              </a:ext>
            </a:extLst>
          </p:cNvPr>
          <p:cNvSpPr/>
          <p:nvPr/>
        </p:nvSpPr>
        <p:spPr>
          <a:xfrm>
            <a:off x="5818100" y="4415104"/>
            <a:ext cx="2808980" cy="2070698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Respuesta del servicio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3" name="CAPTURA PENDIENTE - Prueba de conversión de temperatura">
            <a:extLst>
              <a:ext uri="{FF2B5EF4-FFF2-40B4-BE49-F238E27FC236}">
                <a16:creationId xmlns:a16="http://schemas.microsoft.com/office/drawing/2014/main" id="{465518C2-7DAD-4640-87B0-13850D7F0BF1}"/>
              </a:ext>
            </a:extLst>
          </p:cNvPr>
          <p:cNvSpPr/>
          <p:nvPr/>
        </p:nvSpPr>
        <p:spPr>
          <a:xfrm>
            <a:off x="2961150" y="4415104"/>
            <a:ext cx="2761232" cy="2172650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Prueba de conversión de temperatura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4" name="CAPTURA PENDIENTE - Prueba de conversión de masa">
            <a:extLst>
              <a:ext uri="{FF2B5EF4-FFF2-40B4-BE49-F238E27FC236}">
                <a16:creationId xmlns:a16="http://schemas.microsoft.com/office/drawing/2014/main" id="{C0532E73-4590-4CA0-9537-FB9AAEE1A6CE}"/>
              </a:ext>
            </a:extLst>
          </p:cNvPr>
          <p:cNvSpPr/>
          <p:nvPr/>
        </p:nvSpPr>
        <p:spPr>
          <a:xfrm>
            <a:off x="330934" y="4415104"/>
            <a:ext cx="2630216" cy="2008990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Prueba de conversión de masa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5" name="CAPTURA PENDIENTE - Prueba de conversión de longitud">
            <a:extLst>
              <a:ext uri="{FF2B5EF4-FFF2-40B4-BE49-F238E27FC236}">
                <a16:creationId xmlns:a16="http://schemas.microsoft.com/office/drawing/2014/main" id="{2D1CD486-4A7B-4EB5-9791-8DAA5B3291E4}"/>
              </a:ext>
            </a:extLst>
          </p:cNvPr>
          <p:cNvSpPr/>
          <p:nvPr/>
        </p:nvSpPr>
        <p:spPr>
          <a:xfrm>
            <a:off x="4671319" y="1994161"/>
            <a:ext cx="2849245" cy="2075815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Prueba de conversión de longitud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6" name="CAPTURA PENDIENTE - Prueba de autenticación">
            <a:extLst>
              <a:ext uri="{FF2B5EF4-FFF2-40B4-BE49-F238E27FC236}">
                <a16:creationId xmlns:a16="http://schemas.microsoft.com/office/drawing/2014/main" id="{CEB29770-1EED-4DD7-8C23-D733A4854BCB}"/>
              </a:ext>
            </a:extLst>
          </p:cNvPr>
          <p:cNvSpPr/>
          <p:nvPr/>
        </p:nvSpPr>
        <p:spPr>
          <a:xfrm>
            <a:off x="679863" y="2724790"/>
            <a:ext cx="3776665" cy="1345186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Prueba de autenticación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g2d624313899_0_51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221" name="Google Shape;221;g2d624313899_0_51"/>
          <p:cNvSpPr txBox="1">
            <a:spLocks noGrp="1"/>
          </p:cNvSpPr>
          <p:nvPr>
            <p:ph type="body" idx="1"/>
          </p:nvPr>
        </p:nvSpPr>
        <p:spPr>
          <a:xfrm>
            <a:off x="581200" y="1983000"/>
            <a:ext cx="8245500" cy="21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1.3 CREACIÓN DEL CLIENTE CONSOLA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es-ES" sz="1564" b="1">
              <a:latin typeface="Cambria"/>
              <a:ea typeface="Cambria"/>
              <a:cs typeface="Cambria"/>
              <a:sym typeface="Cambria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Crea una aplicación .NET / C# con Maven en Visual Studio / VS Code. Configura el cliente HTTP para comunicarse con la API REST y separa modelo, vista y controlador.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El cliente solicita las credenciales antes de mostrar las opciones de conversión.</a:t>
            </a:r>
            <a:endParaRPr sz="1670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22" name="Google Shape;222;g2d624313899_0_51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CAPTURA PENDIENTE - Configuración del cliente de consola">
            <a:extLst>
              <a:ext uri="{FF2B5EF4-FFF2-40B4-BE49-F238E27FC236}">
                <a16:creationId xmlns:a16="http://schemas.microsoft.com/office/drawing/2014/main" id="{470F980C-FB47-44A7-A8A8-971BCFC63D51}"/>
              </a:ext>
            </a:extLst>
          </p:cNvPr>
          <p:cNvSpPr/>
          <p:nvPr/>
        </p:nvSpPr>
        <p:spPr>
          <a:xfrm>
            <a:off x="4740234" y="3657435"/>
            <a:ext cx="4201160" cy="2845435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Configuración del cliente de consola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3" name="CAPTURA PENDIENTE - Creación del proyecto .NET / C# Maven">
            <a:extLst>
              <a:ext uri="{FF2B5EF4-FFF2-40B4-BE49-F238E27FC236}">
                <a16:creationId xmlns:a16="http://schemas.microsoft.com/office/drawing/2014/main" id="{85E12E47-F5C4-4ED2-9344-5707D2189E30}"/>
              </a:ext>
            </a:extLst>
          </p:cNvPr>
          <p:cNvSpPr/>
          <p:nvPr/>
        </p:nvSpPr>
        <p:spPr>
          <a:xfrm>
            <a:off x="466506" y="3674580"/>
            <a:ext cx="4144010" cy="2828290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Creación del proyecto .NET / C# Maven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g2d624313899_0_9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239" name="Google Shape;239;g2d624313899_0_95"/>
          <p:cNvSpPr txBox="1">
            <a:spLocks noGrp="1"/>
          </p:cNvSpPr>
          <p:nvPr>
            <p:ph type="body" idx="1"/>
          </p:nvPr>
        </p:nvSpPr>
        <p:spPr>
          <a:xfrm>
            <a:off x="514824" y="914626"/>
            <a:ext cx="4178100" cy="370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Modelo del Proyecto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ConversionRequest representa la magnitud, el valor y las unidades que se enviarán en el cuerpo JSON.</a:t>
            </a:r>
            <a:endParaRPr lang="es-MX" sz="1670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40" name="Google Shape;240;g2d624313899_0_9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1" name="Google Shape;241;g2d624313899_0_95"/>
          <p:cNvSpPr txBox="1">
            <a:spLocks noGrp="1"/>
          </p:cNvSpPr>
          <p:nvPr>
            <p:ph type="body" idx="1"/>
          </p:nvPr>
        </p:nvSpPr>
        <p:spPr>
          <a:xfrm>
            <a:off x="4759292" y="770066"/>
            <a:ext cx="4178100" cy="370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Controlador del Proyecto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El controlador usa RestClient para invocar la API HTTP, interpretar la respuesta JSON y presentar el resultado.</a:t>
            </a:r>
            <a:endParaRPr sz="1564" b="1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CAPTURA PENDIENTE - Controlador y cliente de servicio">
            <a:extLst>
              <a:ext uri="{FF2B5EF4-FFF2-40B4-BE49-F238E27FC236}">
                <a16:creationId xmlns:a16="http://schemas.microsoft.com/office/drawing/2014/main" id="{EC1BEABE-3CC2-47C6-878A-D718228FE067}"/>
              </a:ext>
            </a:extLst>
          </p:cNvPr>
          <p:cNvSpPr/>
          <p:nvPr/>
        </p:nvSpPr>
        <p:spPr>
          <a:xfrm>
            <a:off x="4100618" y="4064763"/>
            <a:ext cx="5172027" cy="1777483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Controlador y cliente de servicio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4" name="CAPTURA PENDIENTE - Modelo de solicitud de conversión">
            <a:extLst>
              <a:ext uri="{FF2B5EF4-FFF2-40B4-BE49-F238E27FC236}">
                <a16:creationId xmlns:a16="http://schemas.microsoft.com/office/drawing/2014/main" id="{F56BC7F3-638C-483C-977F-A1DD0317B91F}"/>
              </a:ext>
            </a:extLst>
          </p:cNvPr>
          <p:cNvSpPr/>
          <p:nvPr/>
        </p:nvSpPr>
        <p:spPr>
          <a:xfrm>
            <a:off x="811793" y="4064763"/>
            <a:ext cx="2955257" cy="1850488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Modelo de solicitud de conversión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g2d624313899_0_111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249" name="Google Shape;249;g2d624313899_0_111"/>
          <p:cNvSpPr txBox="1">
            <a:spLocks noGrp="1"/>
          </p:cNvSpPr>
          <p:nvPr>
            <p:ph type="body" idx="1"/>
          </p:nvPr>
        </p:nvSpPr>
        <p:spPr>
          <a:xfrm>
            <a:off x="478225" y="1986150"/>
            <a:ext cx="4178100" cy="370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Vista del Proyecto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La vista de consola guía el inicio de sesión y ofrece opciones para convertir longitud, masa o temperatura. Muestra mensajes de validación y el resultado con dos decimales.</a:t>
            </a:r>
            <a:endParaRPr lang="es-MX" sz="1670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50" name="Google Shape;250;g2d624313899_0_111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CAPTURA PENDIENTE - Menú y vista del cliente de consola">
            <a:extLst>
              <a:ext uri="{FF2B5EF4-FFF2-40B4-BE49-F238E27FC236}">
                <a16:creationId xmlns:a16="http://schemas.microsoft.com/office/drawing/2014/main" id="{7ED2DC89-90CA-4D4C-8DDE-39E28A817C05}"/>
              </a:ext>
            </a:extLst>
          </p:cNvPr>
          <p:cNvSpPr/>
          <p:nvPr/>
        </p:nvSpPr>
        <p:spPr>
          <a:xfrm>
            <a:off x="4361215" y="2617179"/>
            <a:ext cx="4878474" cy="2609244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Menú y vista del cliente de consola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g2d624313899_0_138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257" name="Google Shape;257;g2d624313899_0_138"/>
          <p:cNvSpPr txBox="1">
            <a:spLocks noGrp="1"/>
          </p:cNvSpPr>
          <p:nvPr>
            <p:ph type="body" idx="1"/>
          </p:nvPr>
        </p:nvSpPr>
        <p:spPr>
          <a:xfrm>
            <a:off x="581660" y="1930400"/>
            <a:ext cx="2413000" cy="69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Ejecución del Proyecto</a:t>
            </a:r>
            <a:endParaRPr sz="1564" b="1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58" name="Google Shape;258;g2d624313899_0_138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CAPTURA PENDIENTE - Resultado de conversión">
            <a:extLst>
              <a:ext uri="{FF2B5EF4-FFF2-40B4-BE49-F238E27FC236}">
                <a16:creationId xmlns:a16="http://schemas.microsoft.com/office/drawing/2014/main" id="{E21B58B1-4044-4DC0-8DA3-EB703ACEED95}"/>
              </a:ext>
            </a:extLst>
          </p:cNvPr>
          <p:cNvSpPr/>
          <p:nvPr/>
        </p:nvSpPr>
        <p:spPr>
          <a:xfrm>
            <a:off x="6143877" y="3004463"/>
            <a:ext cx="2928406" cy="2643675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Resultado de conversión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3" name="CAPTURA PENDIENTE - Selección de magnitud y unidades">
            <a:extLst>
              <a:ext uri="{FF2B5EF4-FFF2-40B4-BE49-F238E27FC236}">
                <a16:creationId xmlns:a16="http://schemas.microsoft.com/office/drawing/2014/main" id="{E4CAECE9-3FFC-4C88-A4D5-375779427E2C}"/>
              </a:ext>
            </a:extLst>
          </p:cNvPr>
          <p:cNvSpPr/>
          <p:nvPr/>
        </p:nvSpPr>
        <p:spPr>
          <a:xfrm>
            <a:off x="3227647" y="3004463"/>
            <a:ext cx="2808301" cy="2643675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Selección de magnitud y unidades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4" name="CAPTURA PENDIENTE - Autenticación correcta">
            <a:extLst>
              <a:ext uri="{FF2B5EF4-FFF2-40B4-BE49-F238E27FC236}">
                <a16:creationId xmlns:a16="http://schemas.microsoft.com/office/drawing/2014/main" id="{3A66B1A8-66BC-4834-9397-19290233A0F8}"/>
              </a:ext>
            </a:extLst>
          </p:cNvPr>
          <p:cNvSpPr/>
          <p:nvPr/>
        </p:nvSpPr>
        <p:spPr>
          <a:xfrm>
            <a:off x="311657" y="3004463"/>
            <a:ext cx="2808061" cy="2643675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n-U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n-US" sz="900" i="1">
                <a:solidFill>
                  <a:srgbClr val="666666"/>
                </a:solidFill>
                <a:latin typeface="Arial" panose="020B0604020202020204" pitchFamily="34" charset="0"/>
              </a:rPr>
              <a:t>Autenticación correcta</a:t>
            </a:r>
          </a:p>
        </p:txBody>
      </p:sp>
      <p:sp>
        <p:nvSpPr>
          <p:cNvPr id="5" name="CAPTURA PENDIENTE - Inicio del cliente">
            <a:extLst>
              <a:ext uri="{FF2B5EF4-FFF2-40B4-BE49-F238E27FC236}">
                <a16:creationId xmlns:a16="http://schemas.microsoft.com/office/drawing/2014/main" id="{177E390A-90F6-42BA-A0CF-1B58A0837155}"/>
              </a:ext>
            </a:extLst>
          </p:cNvPr>
          <p:cNvSpPr/>
          <p:nvPr/>
        </p:nvSpPr>
        <p:spPr>
          <a:xfrm>
            <a:off x="3227647" y="1933668"/>
            <a:ext cx="2868295" cy="803275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n-U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n-US" sz="900" i="1">
                <a:solidFill>
                  <a:srgbClr val="666666"/>
                </a:solidFill>
                <a:latin typeface="Arial" panose="020B0604020202020204" pitchFamily="34" charset="0"/>
              </a:rPr>
              <a:t>Inicio del cliente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7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268" name="Google Shape;268;p27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9" name="Google Shape;269;p27"/>
          <p:cNvSpPr txBox="1">
            <a:spLocks noGrp="1"/>
          </p:cNvSpPr>
          <p:nvPr>
            <p:ph type="body" idx="1"/>
          </p:nvPr>
        </p:nvSpPr>
        <p:spPr>
          <a:xfrm>
            <a:off x="581200" y="1902979"/>
            <a:ext cx="8589300" cy="11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ct val="118709"/>
              <a:buNone/>
            </a:pPr>
            <a:r>
              <a:rPr lang="es-ES" b="1">
                <a:latin typeface="Cambria"/>
                <a:ea typeface="Cambria"/>
                <a:cs typeface="Cambria"/>
                <a:sym typeface="Cambria"/>
              </a:rPr>
              <a:t>1.4 CREACIÓN DEL PROYECTO – CLIENTE ESCRITORIO</a:t>
            </a:r>
          </a:p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ct val="118709"/>
              <a:buNone/>
            </a:pPr>
            <a:endParaRPr lang="es-ES" b="1">
              <a:latin typeface="Cambria"/>
              <a:ea typeface="Cambria"/>
              <a:cs typeface="Cambria"/>
              <a:sym typeface="Cambria"/>
            </a:endParaRPr>
          </a:p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ct val="118709"/>
              <a:buNone/>
            </a:pPr>
            <a:r>
              <a:rPr lang="es-ES" b="1">
                <a:latin typeface="Cambria"/>
                <a:ea typeface="Cambria"/>
                <a:cs typeface="Cambria"/>
                <a:sym typeface="Cambria"/>
              </a:rPr>
              <a:t>Crea la aplicación .NET / C# de escritorio con Maven. La interfaz Swing consume la API REST y sigue el patrón Modelo-Vista-Controlador.</a:t>
            </a:r>
            <a:endParaRPr lang="es-MX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CAPTURA PENDIENTE - Creación del proyecto de escritorio .NET / C#">
            <a:extLst>
              <a:ext uri="{FF2B5EF4-FFF2-40B4-BE49-F238E27FC236}">
                <a16:creationId xmlns:a16="http://schemas.microsoft.com/office/drawing/2014/main" id="{663269E7-24D7-4AA2-A226-27FB469FF3D9}"/>
              </a:ext>
            </a:extLst>
          </p:cNvPr>
          <p:cNvSpPr/>
          <p:nvPr/>
        </p:nvSpPr>
        <p:spPr>
          <a:xfrm>
            <a:off x="2544819" y="3270983"/>
            <a:ext cx="4144010" cy="2828290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Creación del proyecto de escritorio .NET / C#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31974b856cc_0_109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301" name="Google Shape;301;g31974b856cc_0_109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2" name="Google Shape;302;g31974b856cc_0_109"/>
          <p:cNvSpPr txBox="1">
            <a:spLocks noGrp="1"/>
          </p:cNvSpPr>
          <p:nvPr>
            <p:ph type="body" idx="1"/>
          </p:nvPr>
        </p:nvSpPr>
        <p:spPr>
          <a:xfrm>
            <a:off x="581200" y="1715856"/>
            <a:ext cx="8589300" cy="132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●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El cliente Swing organiza la interfaz, el estado de conversión y el consumo HTTP/JSON con el patrón MVC.</a:t>
            </a:r>
            <a:endParaRPr lang="es-MX" sz="1800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04F47827-A8E1-4FFA-A232-83861B9D7BF5}"/>
              </a:ext>
            </a:extLst>
          </p:cNvPr>
          <p:cNvSpPr txBox="1"/>
          <p:nvPr/>
        </p:nvSpPr>
        <p:spPr>
          <a:xfrm>
            <a:off x="762109" y="3269217"/>
            <a:ext cx="171215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s-ES" sz="1800" b="0" i="0" u="none" strike="noStrike" kern="0" cap="none" spc="0" normalizeH="0" baseline="0" noProof="0">
                <a:ln>
                  <a:noFill/>
                </a:ln>
                <a:solidFill>
                  <a:srgbClr val="3D3D3D"/>
                </a:solidFill>
                <a:effectLst/>
                <a:uLnTx/>
                <a:uFillTx/>
                <a:latin typeface="Cambria"/>
                <a:ea typeface="Cambria"/>
                <a:cs typeface="Cambria"/>
                <a:sym typeface="Cambria"/>
              </a:rPr>
              <a:t>Modelo: conserva los datos de sesión y de la conversión.</a:t>
            </a:r>
            <a:endParaRPr lang="es-EC" dirty="0"/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4AE216B3-B851-4BA3-899E-396EB3A18BA2}"/>
              </a:ext>
            </a:extLst>
          </p:cNvPr>
          <p:cNvSpPr txBox="1"/>
          <p:nvPr/>
        </p:nvSpPr>
        <p:spPr>
          <a:xfrm>
            <a:off x="6214191" y="4553152"/>
            <a:ext cx="263338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s-ES" sz="1800" b="0" i="0" u="none" strike="noStrike" kern="0" cap="none" spc="0" normalizeH="0" baseline="0" noProof="0">
                <a:ln>
                  <a:noFill/>
                </a:ln>
                <a:solidFill>
                  <a:srgbClr val="3D3D3D"/>
                </a:solidFill>
                <a:effectLst/>
                <a:uLnTx/>
                <a:uFillTx/>
                <a:latin typeface="Cambria"/>
                <a:ea typeface="Cambria"/>
                <a:cs typeface="Cambria"/>
                <a:sym typeface="Cambria"/>
              </a:rPr>
              <a:t>Controlador: valida entradas y coordina la solicitud HTTP/JSON.</a:t>
            </a:r>
            <a:endParaRPr lang="es-EC" dirty="0"/>
          </a:p>
        </p:txBody>
      </p:sp>
      <p:sp>
        <p:nvSpPr>
          <p:cNvPr id="2" name="CAPTURA PENDIENTE - Clases del cliente de escritorio">
            <a:extLst>
              <a:ext uri="{FF2B5EF4-FFF2-40B4-BE49-F238E27FC236}">
                <a16:creationId xmlns:a16="http://schemas.microsoft.com/office/drawing/2014/main" id="{3E48AA06-D457-4923-9F04-A4D9C744287E}"/>
              </a:ext>
            </a:extLst>
          </p:cNvPr>
          <p:cNvSpPr/>
          <p:nvPr/>
        </p:nvSpPr>
        <p:spPr>
          <a:xfrm>
            <a:off x="2474259" y="4377212"/>
            <a:ext cx="3666875" cy="2355365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Clases del cliente de escritorio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3" name="CAPTURA PENDIENTE - Código de controlador">
            <a:extLst>
              <a:ext uri="{FF2B5EF4-FFF2-40B4-BE49-F238E27FC236}">
                <a16:creationId xmlns:a16="http://schemas.microsoft.com/office/drawing/2014/main" id="{43BF684B-EF2E-4949-AFE7-D0BD1F0D762A}"/>
              </a:ext>
            </a:extLst>
          </p:cNvPr>
          <p:cNvSpPr/>
          <p:nvPr/>
        </p:nvSpPr>
        <p:spPr>
          <a:xfrm>
            <a:off x="5925023" y="3893361"/>
            <a:ext cx="2743200" cy="457200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pt-BR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pt-BR" sz="900" i="1">
                <a:solidFill>
                  <a:srgbClr val="666666"/>
                </a:solidFill>
                <a:latin typeface="Arial" panose="020B0604020202020204" pitchFamily="34" charset="0"/>
              </a:rPr>
              <a:t>Código de controlador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4" name="CAPTURA PENDIENTE - Código de modelo">
            <a:extLst>
              <a:ext uri="{FF2B5EF4-FFF2-40B4-BE49-F238E27FC236}">
                <a16:creationId xmlns:a16="http://schemas.microsoft.com/office/drawing/2014/main" id="{111AEBB2-3286-4EF1-88DC-095C99C56314}"/>
              </a:ext>
            </a:extLst>
          </p:cNvPr>
          <p:cNvSpPr/>
          <p:nvPr/>
        </p:nvSpPr>
        <p:spPr>
          <a:xfrm>
            <a:off x="2611811" y="3836431"/>
            <a:ext cx="2476500" cy="342900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pt-BR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pt-BR" sz="900" i="1">
                <a:solidFill>
                  <a:srgbClr val="666666"/>
                </a:solidFill>
                <a:latin typeface="Arial" panose="020B0604020202020204" pitchFamily="34" charset="0"/>
              </a:rPr>
              <a:t>Código de modelo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5" name="CAPTURA PENDIENTE - Estructura de paquetes MVC">
            <a:extLst>
              <a:ext uri="{FF2B5EF4-FFF2-40B4-BE49-F238E27FC236}">
                <a16:creationId xmlns:a16="http://schemas.microsoft.com/office/drawing/2014/main" id="{BFE6003C-75DA-45A6-B0A3-DFE0CFC4C742}"/>
              </a:ext>
            </a:extLst>
          </p:cNvPr>
          <p:cNvSpPr/>
          <p:nvPr/>
        </p:nvSpPr>
        <p:spPr>
          <a:xfrm>
            <a:off x="5088311" y="2609850"/>
            <a:ext cx="3019425" cy="1028700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n-U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n-US" sz="900" i="1">
                <a:solidFill>
                  <a:srgbClr val="666666"/>
                </a:solidFill>
                <a:latin typeface="Arial" panose="020B0604020202020204" pitchFamily="34" charset="0"/>
              </a:rPr>
              <a:t>Estructura de paquetes MVC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g31974b856cc_0_128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309" name="Google Shape;309;g31974b856cc_0_128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0" name="Google Shape;310;g31974b856cc_0_128"/>
          <p:cNvSpPr txBox="1">
            <a:spLocks noGrp="1"/>
          </p:cNvSpPr>
          <p:nvPr>
            <p:ph type="body" idx="1"/>
          </p:nvPr>
        </p:nvSpPr>
        <p:spPr>
          <a:xfrm>
            <a:off x="581200" y="1715856"/>
            <a:ext cx="8589300" cy="132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●"/>
            </a:pPr>
            <a:r>
              <a:rPr lang="es-ES" sz="180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La vista Swing contiene las ventanas de autenticación y conversión. Los controles permiten seleccionar magnitud y unidades, ingresar el valor y consultar el resultado.</a:t>
            </a:r>
            <a:endParaRPr sz="1800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CAPTURA PENDIENTE - Interfaz Swing de autenticación y conversión">
            <a:extLst>
              <a:ext uri="{FF2B5EF4-FFF2-40B4-BE49-F238E27FC236}">
                <a16:creationId xmlns:a16="http://schemas.microsoft.com/office/drawing/2014/main" id="{FD6BCCEA-27B7-4124-B944-480E5C1E86BF}"/>
              </a:ext>
            </a:extLst>
          </p:cNvPr>
          <p:cNvSpPr/>
          <p:nvPr/>
        </p:nvSpPr>
        <p:spPr>
          <a:xfrm>
            <a:off x="699248" y="2831802"/>
            <a:ext cx="8424537" cy="3324041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Interfaz Swing de autenticación y conversión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g31974b856cc_0_137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317" name="Google Shape;317;g31974b856cc_0_137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8" name="Google Shape;318;g31974b856cc_0_137"/>
          <p:cNvSpPr txBox="1">
            <a:spLocks noGrp="1"/>
          </p:cNvSpPr>
          <p:nvPr>
            <p:ph type="body" idx="1"/>
          </p:nvPr>
        </p:nvSpPr>
        <p:spPr>
          <a:xfrm>
            <a:off x="6326975" y="2523925"/>
            <a:ext cx="2808300" cy="369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3375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Char char="●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Inicio de sesión del cliente de escritorio. Ingresa MONSTER / MONSTER9 para acceder al conversor.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CAPTURA PENDIENTE - Pantalla de inicio de sesión del escritorio">
            <a:extLst>
              <a:ext uri="{FF2B5EF4-FFF2-40B4-BE49-F238E27FC236}">
                <a16:creationId xmlns:a16="http://schemas.microsoft.com/office/drawing/2014/main" id="{091CA7AD-0B4C-4DD1-82AB-5CD1430BF9D4}"/>
              </a:ext>
            </a:extLst>
          </p:cNvPr>
          <p:cNvSpPr/>
          <p:nvPr/>
        </p:nvSpPr>
        <p:spPr>
          <a:xfrm>
            <a:off x="581192" y="2329030"/>
            <a:ext cx="5218973" cy="3336664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Pantalla de inicio de sesión del escritorio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g2d6d00c5bd2_2_19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335" name="Google Shape;335;g2d6d00c5bd2_2_19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6" name="Google Shape;336;g2d6d00c5bd2_2_19"/>
          <p:cNvSpPr txBox="1">
            <a:spLocks noGrp="1"/>
          </p:cNvSpPr>
          <p:nvPr>
            <p:ph type="body" idx="1"/>
          </p:nvPr>
        </p:nvSpPr>
        <p:spPr>
          <a:xfrm>
            <a:off x="5791950" y="2411875"/>
            <a:ext cx="3228900" cy="369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3375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Char char="●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Formulario de conversión. Selecciona la magnitud, las unidades de origen y destino, e ingresa el valor que se enviará a la API REST.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CAPTURA PENDIENTE - Formulario de conversión del escritorio">
            <a:extLst>
              <a:ext uri="{FF2B5EF4-FFF2-40B4-BE49-F238E27FC236}">
                <a16:creationId xmlns:a16="http://schemas.microsoft.com/office/drawing/2014/main" id="{8127F732-C93D-4E2A-B778-8E58DD31545F}"/>
              </a:ext>
            </a:extLst>
          </p:cNvPr>
          <p:cNvSpPr/>
          <p:nvPr/>
        </p:nvSpPr>
        <p:spPr>
          <a:xfrm>
            <a:off x="1131103" y="2513572"/>
            <a:ext cx="3898097" cy="3116263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Formulario de conversión del escritorio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32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343" name="Google Shape;343;p32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4" name="Google Shape;344;p32"/>
          <p:cNvSpPr txBox="1"/>
          <p:nvPr/>
        </p:nvSpPr>
        <p:spPr>
          <a:xfrm>
            <a:off x="636600" y="1868348"/>
            <a:ext cx="8576700" cy="182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2500" lnSpcReduction="10000"/>
          </a:bodyPr>
          <a:lstStyle/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None/>
            </a:pPr>
            <a:r>
              <a:rPr lang="es-ES" sz="1800" b="1" i="0" u="none" strike="noStrike" cap="none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1.5 CREACIÓN DEL PROYECTO – CLIENTE WEB</a:t>
            </a:r>
          </a:p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None/>
            </a:pPr>
            <a:endParaRPr lang="es-ES" sz="1800" b="1" i="0" u="none" strike="noStrike" cap="none">
              <a:solidFill>
                <a:srgbClr val="3D3D3D"/>
              </a:solidFill>
              <a:latin typeface="Cambria"/>
              <a:ea typeface="Cambria"/>
              <a:cs typeface="Cambria"/>
              <a:sym typeface="Cambria"/>
            </a:endParaRPr>
          </a:p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None/>
            </a:pPr>
            <a:r>
              <a:rPr lang="es-ES" sz="1800" b="1" i="0" u="none" strike="noStrike" cap="none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El cliente web usa Jetty 11 embebido en el puerto 8081. HTML y .NET / C#Script presentan las pantallas; los Servlets gestionan la sesión y las solicitudes HTTP/JSON a la API REST.</a:t>
            </a:r>
            <a:endParaRPr sz="2000" dirty="0">
              <a:solidFill>
                <a:srgbClr val="3D3D3D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CAPTURA PENDIENTE - Configuración de Jetty y Servlets">
            <a:extLst>
              <a:ext uri="{FF2B5EF4-FFF2-40B4-BE49-F238E27FC236}">
                <a16:creationId xmlns:a16="http://schemas.microsoft.com/office/drawing/2014/main" id="{1ED333B1-B57A-47DA-B5B8-5256D401FF3B}"/>
              </a:ext>
            </a:extLst>
          </p:cNvPr>
          <p:cNvSpPr/>
          <p:nvPr/>
        </p:nvSpPr>
        <p:spPr>
          <a:xfrm>
            <a:off x="3863999" y="3524211"/>
            <a:ext cx="4959666" cy="3037954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Configuración de Jetty y Servlets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3" name="CAPTURA PENDIENTE - Estructura del cliente web">
            <a:extLst>
              <a:ext uri="{FF2B5EF4-FFF2-40B4-BE49-F238E27FC236}">
                <a16:creationId xmlns:a16="http://schemas.microsoft.com/office/drawing/2014/main" id="{D4EC0DD7-0BA2-43B1-9C3E-B21DA267F73A}"/>
              </a:ext>
            </a:extLst>
          </p:cNvPr>
          <p:cNvSpPr/>
          <p:nvPr/>
        </p:nvSpPr>
        <p:spPr>
          <a:xfrm>
            <a:off x="1211356" y="3839056"/>
            <a:ext cx="2095500" cy="561975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Estructura del cliente web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g319782968e5_0_88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377" name="Google Shape;377;g319782968e5_0_88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8" name="Google Shape;378;g319782968e5_0_88"/>
          <p:cNvSpPr txBox="1">
            <a:spLocks noGrp="1"/>
          </p:cNvSpPr>
          <p:nvPr>
            <p:ph type="body" idx="1"/>
          </p:nvPr>
        </p:nvSpPr>
        <p:spPr>
          <a:xfrm>
            <a:off x="581200" y="1944456"/>
            <a:ext cx="8589300" cy="132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3375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Char char="●"/>
            </a:pPr>
            <a:r>
              <a:rPr lang="es-ES" sz="180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La página conversor.html ofrece formularios para seleccionar magnitud y unidades, ingresar el valor y mostrar la respuesta. ConversionServlet comunica el cliente web con los recursos REST.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7EBFFD51-1503-4BCA-8CB9-C70596A06975}"/>
              </a:ext>
            </a:extLst>
          </p:cNvPr>
          <p:cNvSpPr txBox="1"/>
          <p:nvPr/>
        </p:nvSpPr>
        <p:spPr>
          <a:xfrm>
            <a:off x="719417" y="4185628"/>
            <a:ext cx="2624418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s-ES" sz="1800" b="0" i="0" u="none" strike="noStrike" kern="0" cap="none" spc="0" normalizeH="0" baseline="0" noProof="0">
                <a:ln>
                  <a:noFill/>
                </a:ln>
                <a:solidFill>
                  <a:srgbClr val="3D3D3D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sym typeface="Gill Sans"/>
              </a:rPr>
              <a:t>El formulario envía los datos al Servlet y presenta el resultado de la conversión.</a:t>
            </a:r>
            <a:endParaRPr lang="es-EC" dirty="0"/>
          </a:p>
        </p:txBody>
      </p:sp>
      <p:sp>
        <p:nvSpPr>
          <p:cNvPr id="2" name="CAPTURA PENDIENTE - Formulario y respuesta del cliente web">
            <a:extLst>
              <a:ext uri="{FF2B5EF4-FFF2-40B4-BE49-F238E27FC236}">
                <a16:creationId xmlns:a16="http://schemas.microsoft.com/office/drawing/2014/main" id="{50F1EE2D-3E68-4D94-93CB-4966AFFED2EE}"/>
              </a:ext>
            </a:extLst>
          </p:cNvPr>
          <p:cNvSpPr/>
          <p:nvPr/>
        </p:nvSpPr>
        <p:spPr>
          <a:xfrm>
            <a:off x="3679277" y="3132944"/>
            <a:ext cx="3959600" cy="3545395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Formulario y respuesta del cliente web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4" name="CAPTURA PENDIENTE - Pantalla web de conversión">
            <a:extLst>
              <a:ext uri="{FF2B5EF4-FFF2-40B4-BE49-F238E27FC236}">
                <a16:creationId xmlns:a16="http://schemas.microsoft.com/office/drawing/2014/main" id="{5324AC23-B32E-46E5-90FD-3A5E7DF924FA}"/>
              </a:ext>
            </a:extLst>
          </p:cNvPr>
          <p:cNvSpPr/>
          <p:nvPr/>
        </p:nvSpPr>
        <p:spPr>
          <a:xfrm>
            <a:off x="841168" y="3132944"/>
            <a:ext cx="1448002" cy="905001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Pantalla web de conversión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Google Shape;384;g319782968e5_0_73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385" name="Google Shape;385;g319782968e5_0_73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6" name="Google Shape;386;g319782968e5_0_73"/>
          <p:cNvSpPr txBox="1">
            <a:spLocks noGrp="1"/>
          </p:cNvSpPr>
          <p:nvPr>
            <p:ph type="body" idx="1"/>
          </p:nvPr>
        </p:nvSpPr>
        <p:spPr>
          <a:xfrm>
            <a:off x="581200" y="1715856"/>
            <a:ext cx="8589300" cy="132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●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index.html presenta el formulario de inicio de sesión. LoginServlet valida las credenciales y habilita el acceso al conversor cuando son correctas.</a:t>
            </a:r>
            <a:endParaRPr sz="1800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CAPTURA PENDIENTE - Pantalla web de inicio de sesión">
            <a:extLst>
              <a:ext uri="{FF2B5EF4-FFF2-40B4-BE49-F238E27FC236}">
                <a16:creationId xmlns:a16="http://schemas.microsoft.com/office/drawing/2014/main" id="{3F838D8B-14B2-4CD8-9567-BA215EFD5B81}"/>
              </a:ext>
            </a:extLst>
          </p:cNvPr>
          <p:cNvSpPr/>
          <p:nvPr/>
        </p:nvSpPr>
        <p:spPr>
          <a:xfrm>
            <a:off x="2804070" y="2850777"/>
            <a:ext cx="4143559" cy="3708703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Pantalla web de inicio de sesión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g319782968e5_0_112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401" name="Google Shape;401;g319782968e5_0_112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2" name="Google Shape;402;g319782968e5_0_112"/>
          <p:cNvSpPr txBox="1">
            <a:spLocks noGrp="1"/>
          </p:cNvSpPr>
          <p:nvPr>
            <p:ph type="body" idx="1"/>
          </p:nvPr>
        </p:nvSpPr>
        <p:spPr>
          <a:xfrm>
            <a:off x="1039100" y="1913200"/>
            <a:ext cx="8038500" cy="180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3375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Cambria"/>
              <a:buChar char="●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Inicia el servidor REST y después el cliente web. Abre http://localhost:8081/ClienteWeb/ en el navegador para acceder al formulario de autenticación y las funciones de conversión.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CAPTURA PENDIENTE - Cliente web ejecutándose en el navegador">
            <a:extLst>
              <a:ext uri="{FF2B5EF4-FFF2-40B4-BE49-F238E27FC236}">
                <a16:creationId xmlns:a16="http://schemas.microsoft.com/office/drawing/2014/main" id="{3BC82B9D-141E-4A6F-B487-EA586761DCF3}"/>
              </a:ext>
            </a:extLst>
          </p:cNvPr>
          <p:cNvSpPr/>
          <p:nvPr/>
        </p:nvSpPr>
        <p:spPr>
          <a:xfrm>
            <a:off x="3135268" y="3257334"/>
            <a:ext cx="3200847" cy="3086531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Cliente web ejecutándose en el navegador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g319782968e5_0_13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411" name="Google Shape;411;g319782968e5_0_13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2" name="Google Shape;412;g319782968e5_0_135"/>
          <p:cNvSpPr txBox="1">
            <a:spLocks noGrp="1"/>
          </p:cNvSpPr>
          <p:nvPr>
            <p:ph type="body" idx="1"/>
          </p:nvPr>
        </p:nvSpPr>
        <p:spPr>
          <a:xfrm>
            <a:off x="6326975" y="2523925"/>
            <a:ext cx="2808300" cy="369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3375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Cambria"/>
              <a:buChar char="●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Acceso al cliente web. Ingresa MONSTER / MONSTER9; una sesión válida permite continuar a la pantalla de conversión.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CAPTURA PENDIENTE - Autenticación en el cliente web">
            <a:extLst>
              <a:ext uri="{FF2B5EF4-FFF2-40B4-BE49-F238E27FC236}">
                <a16:creationId xmlns:a16="http://schemas.microsoft.com/office/drawing/2014/main" id="{C394E801-C15E-45DC-B260-08AA3ABADAE5}"/>
              </a:ext>
            </a:extLst>
          </p:cNvPr>
          <p:cNvSpPr/>
          <p:nvPr/>
        </p:nvSpPr>
        <p:spPr>
          <a:xfrm>
            <a:off x="803359" y="2804085"/>
            <a:ext cx="5399405" cy="2755900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Autenticación en el cliente web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" name="Google Shape;418;g319782968e5_0_123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419" name="Google Shape;419;g319782968e5_0_123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0" name="Google Shape;420;g319782968e5_0_123"/>
          <p:cNvSpPr txBox="1">
            <a:spLocks noGrp="1"/>
          </p:cNvSpPr>
          <p:nvPr>
            <p:ph type="body" idx="1"/>
          </p:nvPr>
        </p:nvSpPr>
        <p:spPr>
          <a:xfrm>
            <a:off x="581200" y="2523925"/>
            <a:ext cx="2808300" cy="369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3375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Char char="●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Selecciona longitud, masa o temperatura. Ingresa un valor y las unidades de origen y destino; el cliente envía una solicitud JSON y muestra el resultado con dos decimales.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CAPTURA PENDIENTE - Conversión realizada desde el cliente web">
            <a:extLst>
              <a:ext uri="{FF2B5EF4-FFF2-40B4-BE49-F238E27FC236}">
                <a16:creationId xmlns:a16="http://schemas.microsoft.com/office/drawing/2014/main" id="{9BC455B7-E39D-443C-87AE-7A64222F6181}"/>
              </a:ext>
            </a:extLst>
          </p:cNvPr>
          <p:cNvSpPr/>
          <p:nvPr/>
        </p:nvSpPr>
        <p:spPr>
          <a:xfrm>
            <a:off x="3686896" y="2718547"/>
            <a:ext cx="5399405" cy="2819400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Conversión realizada desde el cliente web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Google Shape;426;p37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427" name="Google Shape;427;p37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8" name="Google Shape;428;p37"/>
          <p:cNvSpPr txBox="1"/>
          <p:nvPr/>
        </p:nvSpPr>
        <p:spPr>
          <a:xfrm>
            <a:off x="406975" y="1921878"/>
            <a:ext cx="8576700" cy="7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s-ES" sz="1800" b="1" i="0" u="none" strike="noStrike" cap="none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1.6 CLIENTE MÓVIL</a:t>
            </a:r>
            <a:endParaRPr sz="1800" b="0" i="0" u="none" strike="noStrike" cap="none">
              <a:solidFill>
                <a:srgbClr val="3D3D3D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429" name="Google Shape;429;p37"/>
          <p:cNvSpPr txBox="1">
            <a:spLocks noGrp="1"/>
          </p:cNvSpPr>
          <p:nvPr>
            <p:ph type="body" idx="1"/>
          </p:nvPr>
        </p:nvSpPr>
        <p:spPr>
          <a:xfrm>
            <a:off x="581200" y="2253923"/>
            <a:ext cx="4178100" cy="321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Crea una aplicación Android con .NET / C# y una actividad vacía. Usa HttpURLConnection y org.json para consumir la API REST.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Configura una dirección de host accesible desde el emulador o dispositivo físico.</a:t>
            </a:r>
            <a:endParaRPr sz="1564" b="1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CAPTURA PENDIENTE - Configuración del proyecto y dependencia cliente">
            <a:extLst>
              <a:ext uri="{FF2B5EF4-FFF2-40B4-BE49-F238E27FC236}">
                <a16:creationId xmlns:a16="http://schemas.microsoft.com/office/drawing/2014/main" id="{50C86C09-A255-49F6-9411-BB349FB96D6B}"/>
              </a:ext>
            </a:extLst>
          </p:cNvPr>
          <p:cNvSpPr/>
          <p:nvPr/>
        </p:nvSpPr>
        <p:spPr>
          <a:xfrm>
            <a:off x="904275" y="5528800"/>
            <a:ext cx="4335775" cy="599550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Configuración del proyecto y dependencia cliente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3" name="CAPTURA PENDIENTE - Creación de actividad Android">
            <a:extLst>
              <a:ext uri="{FF2B5EF4-FFF2-40B4-BE49-F238E27FC236}">
                <a16:creationId xmlns:a16="http://schemas.microsoft.com/office/drawing/2014/main" id="{25DA522F-0895-4629-81B9-37D7BCB50BF3}"/>
              </a:ext>
            </a:extLst>
          </p:cNvPr>
          <p:cNvSpPr/>
          <p:nvPr/>
        </p:nvSpPr>
        <p:spPr>
          <a:xfrm>
            <a:off x="5410937" y="4209124"/>
            <a:ext cx="3622500" cy="1917800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Creación de actividad Android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4" name="CAPTURA PENDIENTE - Captura del módulo descrito en esta diapositiva">
            <a:extLst>
              <a:ext uri="{FF2B5EF4-FFF2-40B4-BE49-F238E27FC236}">
                <a16:creationId xmlns:a16="http://schemas.microsoft.com/office/drawing/2014/main" id="{554899BC-2CDC-4865-BB5B-01E3D2D8969A}"/>
              </a:ext>
            </a:extLst>
          </p:cNvPr>
          <p:cNvSpPr/>
          <p:nvPr/>
        </p:nvSpPr>
        <p:spPr>
          <a:xfrm>
            <a:off x="6418749" y="2402189"/>
            <a:ext cx="1606875" cy="1691850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del módulo descrito en esta diapositiva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g2d624313899_0_157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438" name="Google Shape;438;g2d624313899_0_157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9" name="Google Shape;439;g2d624313899_0_157"/>
          <p:cNvSpPr txBox="1">
            <a:spLocks noGrp="1"/>
          </p:cNvSpPr>
          <p:nvPr>
            <p:ph type="body" idx="1"/>
          </p:nvPr>
        </p:nvSpPr>
        <p:spPr>
          <a:xfrm>
            <a:off x="581200" y="2253925"/>
            <a:ext cx="3644100" cy="348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ct val="114467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Estructura del Proyecto (MVC)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ct val="114467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La aplicación separa actividades de interfaz, controladores, modelos y cliente REST. El patrón MVC organiza el inicio de sesión y el flujo de conversión.</a:t>
            </a:r>
            <a:endParaRPr lang="es-EC" sz="1564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CAPTURA PENDIENTE - Paquetes y estructura MVC de Android">
            <a:extLst>
              <a:ext uri="{FF2B5EF4-FFF2-40B4-BE49-F238E27FC236}">
                <a16:creationId xmlns:a16="http://schemas.microsoft.com/office/drawing/2014/main" id="{112061D5-DCD0-40EF-968A-DFC2D04FA81D}"/>
              </a:ext>
            </a:extLst>
          </p:cNvPr>
          <p:cNvSpPr/>
          <p:nvPr/>
        </p:nvSpPr>
        <p:spPr>
          <a:xfrm>
            <a:off x="4741537" y="2559253"/>
            <a:ext cx="3225165" cy="3159760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Paquetes y estructura MVC de Android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Google Shape;445;g2d624313899_0_172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446" name="Google Shape;446;g2d624313899_0_172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7" name="Google Shape;447;g2d624313899_0_172"/>
          <p:cNvSpPr txBox="1">
            <a:spLocks noGrp="1"/>
          </p:cNvSpPr>
          <p:nvPr>
            <p:ph type="body" idx="1"/>
          </p:nvPr>
        </p:nvSpPr>
        <p:spPr>
          <a:xfrm>
            <a:off x="491075" y="1294250"/>
            <a:ext cx="3888600" cy="321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Modelo: RestClient.java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Usa HttpURLConnection y org.json para enviar solicitudes HTTP y procesar respuestas JSON.</a:t>
            </a:r>
            <a:endParaRPr sz="1564" b="1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448" name="Google Shape;448;g2d624313899_0_172"/>
          <p:cNvSpPr txBox="1">
            <a:spLocks noGrp="1"/>
          </p:cNvSpPr>
          <p:nvPr>
            <p:ph type="body" idx="1"/>
          </p:nvPr>
        </p:nvSpPr>
        <p:spPr>
          <a:xfrm>
            <a:off x="4698075" y="1376600"/>
            <a:ext cx="3888600" cy="321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Controlador: ConversionController.java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Coordina la selección de unidades, valida los datos y solicita la conversión al recurso REST correspondiente.</a:t>
            </a:r>
            <a:endParaRPr sz="1564" b="1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CAPTURA PENDIENTE - Controlador de conversión móvil">
            <a:extLst>
              <a:ext uri="{FF2B5EF4-FFF2-40B4-BE49-F238E27FC236}">
                <a16:creationId xmlns:a16="http://schemas.microsoft.com/office/drawing/2014/main" id="{4B592B61-C742-4195-8165-417B6E42D4FC}"/>
              </a:ext>
            </a:extLst>
          </p:cNvPr>
          <p:cNvSpPr/>
          <p:nvPr/>
        </p:nvSpPr>
        <p:spPr>
          <a:xfrm>
            <a:off x="4980331" y="3710940"/>
            <a:ext cx="3802710" cy="2848362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Controlador de conversión móvil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4" name="CAPTURA PENDIENTE - Cliente HTTP JSON del móvil">
            <a:extLst>
              <a:ext uri="{FF2B5EF4-FFF2-40B4-BE49-F238E27FC236}">
                <a16:creationId xmlns:a16="http://schemas.microsoft.com/office/drawing/2014/main" id="{E833F513-8033-4416-9E1E-E4BA1533EA86}"/>
              </a:ext>
            </a:extLst>
          </p:cNvPr>
          <p:cNvSpPr/>
          <p:nvPr/>
        </p:nvSpPr>
        <p:spPr>
          <a:xfrm>
            <a:off x="491075" y="3711388"/>
            <a:ext cx="3478914" cy="2259718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n-U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n-US" sz="900" i="1">
                <a:solidFill>
                  <a:srgbClr val="666666"/>
                </a:solidFill>
                <a:latin typeface="Arial" panose="020B0604020202020204" pitchFamily="34" charset="0"/>
              </a:rPr>
              <a:t>Cliente HTTP/JSON del móvil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g2d624313899_0_193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456" name="Google Shape;456;g2d624313899_0_193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7" name="Google Shape;457;g2d624313899_0_193"/>
          <p:cNvSpPr txBox="1">
            <a:spLocks noGrp="1"/>
          </p:cNvSpPr>
          <p:nvPr>
            <p:ph type="body" idx="1"/>
          </p:nvPr>
        </p:nvSpPr>
        <p:spPr>
          <a:xfrm>
            <a:off x="491075" y="1294250"/>
            <a:ext cx="3888600" cy="321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Vista: LoginActivity.java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Solicita las credenciales MONSTER / MONSTER9 y dirige a la conversión tras una respuesta válida.</a:t>
            </a:r>
            <a:endParaRPr sz="1564" b="1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458" name="Google Shape;458;g2d624313899_0_193"/>
          <p:cNvSpPr txBox="1">
            <a:spLocks noGrp="1"/>
          </p:cNvSpPr>
          <p:nvPr>
            <p:ph type="body" idx="1"/>
          </p:nvPr>
        </p:nvSpPr>
        <p:spPr>
          <a:xfrm>
            <a:off x="4698075" y="1376600"/>
            <a:ext cx="3888600" cy="321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Vista: ConversionActivity.java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Permite elegir magnitud y unidades, ingresar el valor y consultar el resultado de la API REST.</a:t>
            </a:r>
            <a:endParaRPr sz="1564" b="1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CAPTURA PENDIENTE - Pantalla móvil de conversión">
            <a:extLst>
              <a:ext uri="{FF2B5EF4-FFF2-40B4-BE49-F238E27FC236}">
                <a16:creationId xmlns:a16="http://schemas.microsoft.com/office/drawing/2014/main" id="{5D2BE896-C9D6-4451-8421-875BD8CFF0FD}"/>
              </a:ext>
            </a:extLst>
          </p:cNvPr>
          <p:cNvSpPr/>
          <p:nvPr/>
        </p:nvSpPr>
        <p:spPr>
          <a:xfrm>
            <a:off x="5096586" y="3395466"/>
            <a:ext cx="3346888" cy="3121255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Pantalla móvil de conversión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4" name="CAPTURA PENDIENTE - Pantalla móvil de inicio de sesión">
            <a:extLst>
              <a:ext uri="{FF2B5EF4-FFF2-40B4-BE49-F238E27FC236}">
                <a16:creationId xmlns:a16="http://schemas.microsoft.com/office/drawing/2014/main" id="{19BF357B-B2D4-4484-A803-3A3A0B58DA81}"/>
              </a:ext>
            </a:extLst>
          </p:cNvPr>
          <p:cNvSpPr/>
          <p:nvPr/>
        </p:nvSpPr>
        <p:spPr>
          <a:xfrm>
            <a:off x="595071" y="3523400"/>
            <a:ext cx="3704493" cy="2290259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Pantalla móvil de inicio de sesión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Google Shape;493;g2d6d00c5bd2_3_16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494" name="Google Shape;494;g2d6d00c5bd2_3_16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5" name="Google Shape;495;g2d6d00c5bd2_3_16"/>
          <p:cNvSpPr txBox="1">
            <a:spLocks noGrp="1"/>
          </p:cNvSpPr>
          <p:nvPr>
            <p:ph type="body" idx="1"/>
          </p:nvPr>
        </p:nvSpPr>
        <p:spPr>
          <a:xfrm>
            <a:off x="581200" y="1984125"/>
            <a:ext cx="8589300" cy="114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lnSpcReduction="10000"/>
          </a:bodyPr>
          <a:lstStyle/>
          <a:p>
            <a:pPr marL="457200" lvl="0" indent="-317981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ct val="91998"/>
              <a:buFont typeface="Cambria"/>
              <a:buChar char="●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Ejecuta primero el servidor REST. Luego inicia la aplicación en un emulador o dispositivo Android y verifica el acceso al host y al puerto del servicio (8080 o 8085).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CAPTURA PENDIENTE - Ejecución en dispositivo físico">
            <a:extLst>
              <a:ext uri="{FF2B5EF4-FFF2-40B4-BE49-F238E27FC236}">
                <a16:creationId xmlns:a16="http://schemas.microsoft.com/office/drawing/2014/main" id="{F7F24898-5E29-416B-B91C-F98BB55D46E4}"/>
              </a:ext>
            </a:extLst>
          </p:cNvPr>
          <p:cNvSpPr/>
          <p:nvPr/>
        </p:nvSpPr>
        <p:spPr>
          <a:xfrm>
            <a:off x="4375360" y="3132224"/>
            <a:ext cx="1577205" cy="3469750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Ejecución en dispositivo físico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3" name="CAPTURA PENDIENTE - Ejecución en emulador">
            <a:extLst>
              <a:ext uri="{FF2B5EF4-FFF2-40B4-BE49-F238E27FC236}">
                <a16:creationId xmlns:a16="http://schemas.microsoft.com/office/drawing/2014/main" id="{2D123914-A870-495A-8538-9F7179BF353B}"/>
              </a:ext>
            </a:extLst>
          </p:cNvPr>
          <p:cNvSpPr/>
          <p:nvPr/>
        </p:nvSpPr>
        <p:spPr>
          <a:xfrm>
            <a:off x="2107289" y="3132225"/>
            <a:ext cx="1720640" cy="3469750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Ejecución en emulador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2" name="Google Shape;502;p41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CONCLUSIONES</a:t>
            </a:r>
            <a:endParaRPr/>
          </a:p>
        </p:txBody>
      </p:sp>
      <p:sp>
        <p:nvSpPr>
          <p:cNvPr id="503" name="Google Shape;503;p41"/>
          <p:cNvSpPr txBox="1">
            <a:spLocks noGrp="1"/>
          </p:cNvSpPr>
          <p:nvPr>
            <p:ph type="body" idx="1"/>
          </p:nvPr>
        </p:nvSpPr>
        <p:spPr>
          <a:xfrm>
            <a:off x="581192" y="2180496"/>
            <a:ext cx="8589300" cy="367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None/>
            </a:pPr>
            <a:r>
              <a:rPr lang="es-ES" sz="1900">
                <a:latin typeface="Cambria"/>
                <a:ea typeface="Cambria"/>
                <a:cs typeface="Cambria"/>
                <a:sym typeface="Cambria"/>
              </a:rPr>
              <a:t>El sistema mantiene una lógica de conversión común para las aplicaciones de consola, escritorio, web y móvil. RESTful publica recursos HTTP/JSON que los clientes .NET / C# consumen mediante solicitudes web.</a:t>
            </a:r>
          </a:p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None/>
            </a:pPr>
            <a:r>
              <a:rPr lang="es-ES" sz="1900">
                <a:latin typeface="Cambria"/>
                <a:ea typeface="Cambria"/>
                <a:cs typeface="Cambria"/>
                <a:sym typeface="Cambria"/>
              </a:rPr>
              <a:t>La autenticación se realiza antes de convertir y las unidades se organizan en tres magnitudes. La solución es SINBDD: utiliza datos en memoria y no requiere persistencia en una base de datos.</a:t>
            </a:r>
            <a:endParaRPr sz="1900" dirty="0"/>
          </a:p>
        </p:txBody>
      </p:sp>
      <p:sp>
        <p:nvSpPr>
          <p:cNvPr id="504" name="Google Shape;504;p41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p42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RECOMENDACIONES</a:t>
            </a:r>
            <a:endParaRPr/>
          </a:p>
        </p:txBody>
      </p:sp>
      <p:sp>
        <p:nvSpPr>
          <p:cNvPr id="510" name="Google Shape;510;p42"/>
          <p:cNvSpPr txBox="1">
            <a:spLocks noGrp="1"/>
          </p:cNvSpPr>
          <p:nvPr>
            <p:ph type="body" idx="1"/>
          </p:nvPr>
        </p:nvSpPr>
        <p:spPr>
          <a:xfrm>
            <a:off x="581200" y="2025325"/>
            <a:ext cx="8500800" cy="429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4010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56"/>
              <a:buChar char="◼"/>
            </a:pPr>
            <a:r>
              <a:rPr lang="es-ES" sz="1900"/>
              <a:t>Mantén el servidor activo antes de iniciar los clientes y prueba cada recurso con valores conocidos.</a:t>
            </a:r>
          </a:p>
          <a:p>
            <a:pPr marL="457200" lvl="0" indent="-34010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56"/>
              <a:buChar char="◼"/>
            </a:pPr>
            <a:r>
              <a:rPr lang="es-ES" sz="1900"/>
              <a:t>Conserva sincronizados las rutas REST, los modelos JSON y las respuestas de los cuatro clientes.</a:t>
            </a:r>
          </a:p>
          <a:p>
            <a:pPr marL="457200" lvl="0" indent="-34010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56"/>
              <a:buChar char="◼"/>
            </a:pPr>
            <a:r>
              <a:rPr lang="es-ES" sz="1900"/>
              <a:t>Al tomar capturas para el manual, incluye el inicio de sesión, una conversión por magnitud y la ejecución del servidor. Registra la solicitud, las unidades y el resultado visible.</a:t>
            </a:r>
            <a:endParaRPr lang="es-MX" sz="1900" dirty="0"/>
          </a:p>
        </p:txBody>
      </p:sp>
      <p:sp>
        <p:nvSpPr>
          <p:cNvPr id="511" name="Google Shape;511;p42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ividendo">
  <a:themeElements>
    <a:clrScheme name="Dividend">
      <a:dk1>
        <a:srgbClr val="000000"/>
      </a:dk1>
      <a:lt1>
        <a:srgbClr val="FFFFFF"/>
      </a:lt1>
      <a:dk2>
        <a:srgbClr val="3D3D3D"/>
      </a:dk2>
      <a:lt2>
        <a:srgbClr val="EBEBEB"/>
      </a:lt2>
      <a:accent1>
        <a:srgbClr val="1A3260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29</TotalTime>
  <Words>2370</Words>
  <Application>Microsoft Office PowerPoint</Application>
  <PresentationFormat>Panorámica</PresentationFormat>
  <Paragraphs>491</Paragraphs>
  <Slides>30</Slides>
  <Notes>30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30</vt:i4>
      </vt:variant>
    </vt:vector>
  </HeadingPairs>
  <TitlesOfParts>
    <vt:vector size="36" baseType="lpstr">
      <vt:lpstr>Noto Sans Symbols</vt:lpstr>
      <vt:lpstr>Gill Sans</vt:lpstr>
      <vt:lpstr>Arial</vt:lpstr>
      <vt:lpstr>Calibri</vt:lpstr>
      <vt:lpstr>Cambria</vt:lpstr>
      <vt:lpstr>Dividendo</vt:lpstr>
      <vt:lpstr>MANUAL TÉCNICO RESTFUL JAVA SINBDD GR09</vt:lpstr>
      <vt:lpstr>Presentación de PowerPoint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CONCLUSIONES</vt:lpstr>
      <vt:lpstr>RECOMENDACIONES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Manual Técnico RESTFUL Java SINBDD GR09</dc:title>
  <dc:creator>Julio Enrique Viche Castillo / Gabriel Omar Murillo Medina</dc:creator>
  <cp:lastModifiedBy>Julio Enrique Viche Castillo / Gabriel Omar Murillo Medina</cp:lastModifiedBy>
  <cp:revision>6</cp:revision>
  <dcterms:created xsi:type="dcterms:W3CDTF">2026-10-28T05:41:41Z</dcterms:created>
  <dcterms:modified xsi:type="dcterms:W3CDTF">2026-10-28T05:41:41Z</dcterms:modified>
</cp:coreProperties>
</file>