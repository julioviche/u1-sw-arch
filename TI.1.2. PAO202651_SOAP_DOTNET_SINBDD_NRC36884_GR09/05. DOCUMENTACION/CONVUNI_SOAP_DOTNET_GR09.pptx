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267" r:id="rId9"/>
    <p:sldId id="270" r:id="rId10"/>
    <p:sldId id="272" r:id="rId11"/>
    <p:sldId id="273" r:id="rId12"/>
    <p:sldId id="274" r:id="rId13"/>
    <p:sldId id="275" r:id="rId14"/>
    <p:sldId id="279" r:id="rId15"/>
    <p:sldId id="280" r:id="rId16"/>
    <p:sldId id="281" r:id="rId17"/>
    <p:sldId id="283" r:id="rId18"/>
    <p:sldId id="284" r:id="rId19"/>
    <p:sldId id="288" r:id="rId20"/>
    <p:sldId id="289" r:id="rId21"/>
    <p:sldId id="291" r:id="rId22"/>
    <p:sldId id="292" r:id="rId23"/>
    <p:sldId id="293" r:id="rId24"/>
    <p:sldId id="294" r:id="rId25"/>
    <p:sldId id="295" r:id="rId26"/>
    <p:sldId id="296" r:id="rId27"/>
    <p:sldId id="297" r:id="rId28"/>
    <p:sldId id="301" r:id="rId29"/>
    <p:sldId id="302" r:id="rId30"/>
    <p:sldId id="303" r:id="rId31"/>
  </p:sldIdLst>
  <p:sldSz cx="12192000" cy="6858000"/>
  <p:notesSz cx="6858000" cy="9144000"/>
  <p:embeddedFontLst>
    <p:embeddedFont>
      <p:font typeface="Calibri" panose="020F0502020204030204" pitchFamily="34" charset="0"/>
      <p:regular r:id="rId33"/>
      <p:bold r:id="rId34"/>
      <p:italic r:id="rId35"/>
      <p:boldItalic r:id="rId36"/>
    </p:embeddedFont>
    <p:embeddedFont>
      <p:font typeface="Cambria" panose="02040503050406030204" pitchFamily="18" charset="0"/>
      <p:regular r:id="rId37"/>
      <p:bold r:id="rId38"/>
      <p:italic r:id="rId39"/>
      <p:boldItalic r:id="rId40"/>
    </p:embeddedFont>
    <p:embeddedFont>
      <p:font typeface="Gill Sans" panose="020B0604020202020204" charset="0"/>
      <p:regular r:id="rId41"/>
      <p:bold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55" roundtripDataSignature="AMtx7mhoWsaXMVBtv1HF1G3ccxKxe1iU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d6d00c5bd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g2d6d00c5bd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d62431389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6" name="Google Shape;146;g2d62431389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d624313899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2" name="Google Shape;162;g2d624313899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d6243138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6" name="Google Shape;186;g2d6243138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d62431389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8" name="Google Shape;218;g2d62431389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d624313899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6" name="Google Shape;236;g2d624313899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d624313899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6" name="Google Shape;246;g2d624313899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2d624313899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4" name="Google Shape;254;g2d624313899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5" name="Google Shape;26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1974b856cc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8" name="Google Shape;298;g31974b856cc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1974b856cc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6" name="Google Shape;306;g31974b856cc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1974b856cc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4" name="Google Shape;314;g31974b856cc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d6d00c5bd2_2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2" name="Google Shape;332;g2d6d00c5bd2_2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40" name="Google Shape;34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19782968e5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4" name="Google Shape;374;g319782968e5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19782968e5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2" name="Google Shape;382;g319782968e5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19782968e5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98" name="Google Shape;398;g319782968e5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19782968e5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08" name="Google Shape;408;g319782968e5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19782968e5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6" name="Google Shape;416;g319782968e5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24" name="Google Shape;424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2d624313899_0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35" name="Google Shape;435;g2d624313899_0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2d624313899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43" name="Google Shape;443;g2d624313899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d624313899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53" name="Google Shape;453;g2d624313899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2d6d00c5bd2_3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91" name="Google Shape;491;g2d6d00c5bd2_3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0" name="Google Shape;500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7" name="Google Shape;507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5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6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6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4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7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7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7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8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8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8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48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9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9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49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49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49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49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4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5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57" name="Google Shape;57;p50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0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5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5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2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2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5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5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3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53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53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5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5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5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4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5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54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5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5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5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55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55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55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55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55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4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4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3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4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4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4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44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4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44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pt-BR">
                <a:solidFill>
                  <a:schemeClr val="lt1"/>
                </a:solidFill>
              </a:rPr>
              <a:t>MANUAL TÉCNICO</a:t>
            </a:r>
            <a:br>
              <a:rPr lang="pt-BR">
                <a:solidFill>
                  <a:schemeClr val="lt1"/>
                </a:solidFill>
              </a:rPr>
            </a:br>
            <a:r>
              <a:rPr lang="pt-BR">
                <a:solidFill>
                  <a:schemeClr val="lt1"/>
                </a:solidFill>
              </a:rPr>
              <a:t>SOAP .NET SINBDD GR09</a:t>
            </a:r>
            <a:endParaRPr dirty="0"/>
          </a:p>
        </p:txBody>
      </p:sp>
      <p:sp>
        <p:nvSpPr>
          <p:cNvPr id="97" name="Google Shape;97;p1"/>
          <p:cNvSpPr txBox="1"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INTEGRANTES: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JULIO ENRIQUE VICHE CASTILLO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ES" b="1">
                <a:solidFill>
                  <a:schemeClr val="lt1"/>
                </a:solidFill>
              </a:rPr>
              <a:t>GABRIEL OMAR MURILLO MEDINA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GRUPO: GR09</a:t>
            </a:r>
            <a:endParaRPr dirty="0">
              <a:solidFill>
                <a:schemeClr val="lt1"/>
              </a:solidFill>
            </a:endParaRPr>
          </a:p>
        </p:txBody>
      </p:sp>
      <p:pic>
        <p:nvPicPr>
          <p:cNvPr id="98" name="Google Shape;98;p1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7619999" y="5301801"/>
            <a:ext cx="4318000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27/10/2026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ASIGNATURA: ARQUITECTURA DE SOFTWARE</a:t>
            </a:r>
            <a:endParaRPr sz="1600" b="1" i="0" u="none" strike="noStrike" cap="none" dirty="0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2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SOAP EN JAVA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CONSOLA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ESCRITORIO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WEB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MÓVIL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2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441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1.1 OBJETIVO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 lang="es-ES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Documentar la configuración, arquitectura, ejecución y validación del conversor de unidades. El sistema ofrece clientes de consola, escritorio, web y móvil conectados a un servicio .NET / C# de tipo 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SOAP.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Las conversiones se organizan en longitud, masa y temperatura. Cada cliente inicia con autenticación usando MONSTER / MONSTER9. Los datos se mantienen en memoria; no se utiliza base de datos.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d6d00c5bd2_0_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g2d6d00c5bd2_0_0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/>
          </a:bodyPr>
          <a:lstStyle/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 CREACIÓN DEL SERVIDOR SOAP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endParaRPr lang="es-ES" sz="1929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.NET 8.0 SDK, Jakarta XML Web Services y Metro. Program.cs (CoreWCF / Kestrel) publica ambos endpoints en localhost:8080.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Compila desde 04. SERVIDOR con dotnet build.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g2d6d00c5bd2_0_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Estructura inicial del servidor">
            <a:extLst>
              <a:ext uri="{FF2B5EF4-FFF2-40B4-BE49-F238E27FC236}">
                <a16:creationId xmlns:a16="http://schemas.microsoft.com/office/drawing/2014/main" id="{8F4CF77D-59BB-4DD6-9BE8-8A7DEA0F6D70}"/>
              </a:ext>
            </a:extLst>
          </p:cNvPr>
          <p:cNvSpPr/>
          <p:nvPr/>
        </p:nvSpPr>
        <p:spPr>
          <a:xfrm>
            <a:off x="6096000" y="3709191"/>
            <a:ext cx="3131854" cy="2179386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inicial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Ajustes del endpoint y dependencias">
            <a:extLst>
              <a:ext uri="{FF2B5EF4-FFF2-40B4-BE49-F238E27FC236}">
                <a16:creationId xmlns:a16="http://schemas.microsoft.com/office/drawing/2014/main" id="{C2B37573-DD7F-4CE8-A0E8-5D433887D606}"/>
              </a:ext>
            </a:extLst>
          </p:cNvPr>
          <p:cNvSpPr/>
          <p:nvPr/>
        </p:nvSpPr>
        <p:spPr>
          <a:xfrm>
            <a:off x="2953500" y="3716772"/>
            <a:ext cx="3480507" cy="216422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Ajustes del endpoint y dependencias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royecto Maven y configuración del servidor">
            <a:extLst>
              <a:ext uri="{FF2B5EF4-FFF2-40B4-BE49-F238E27FC236}">
                <a16:creationId xmlns:a16="http://schemas.microsoft.com/office/drawing/2014/main" id="{493BDDFD-617A-44F4-8FC8-D380D1BF3B86}"/>
              </a:ext>
            </a:extLst>
          </p:cNvPr>
          <p:cNvSpPr/>
          <p:nvPr/>
        </p:nvSpPr>
        <p:spPr>
          <a:xfrm>
            <a:off x="234986" y="3724354"/>
            <a:ext cx="3249332" cy="216422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Proyecto Maven y configuración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0" name="Google Shape;140;p9"/>
          <p:cNvSpPr txBox="1">
            <a:spLocks noGrp="1"/>
          </p:cNvSpPr>
          <p:nvPr>
            <p:ph type="body" idx="1"/>
          </p:nvPr>
        </p:nvSpPr>
        <p:spPr>
          <a:xfrm>
            <a:off x="581192" y="2180497"/>
            <a:ext cx="8589441" cy="1248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1.2 CONTRATO DEL SERVICIO SOAP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endParaRPr lang="es-ES" sz="1350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WSDL describe las operaciones SOAP/XML de autenticación y conversión para longitud, masa y temperatura.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Autentica al usuario antes de invocar una conversión.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onfiguración de recursos y formato de respuesta">
            <a:extLst>
              <a:ext uri="{FF2B5EF4-FFF2-40B4-BE49-F238E27FC236}">
                <a16:creationId xmlns:a16="http://schemas.microsoft.com/office/drawing/2014/main" id="{D46C417E-63B1-4351-91FB-17167D2A159B}"/>
              </a:ext>
            </a:extLst>
          </p:cNvPr>
          <p:cNvSpPr/>
          <p:nvPr/>
        </p:nvSpPr>
        <p:spPr>
          <a:xfrm>
            <a:off x="3174120" y="3429000"/>
            <a:ext cx="5843760" cy="2964849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 recursos y formato de respuesta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Dependencias de servicios SOAP/REST">
            <a:extLst>
              <a:ext uri="{FF2B5EF4-FFF2-40B4-BE49-F238E27FC236}">
                <a16:creationId xmlns:a16="http://schemas.microsoft.com/office/drawing/2014/main" id="{08E533D8-CA82-48EB-A318-4D404FD2F869}"/>
              </a:ext>
            </a:extLst>
          </p:cNvPr>
          <p:cNvSpPr/>
          <p:nvPr/>
        </p:nvSpPr>
        <p:spPr>
          <a:xfrm>
            <a:off x="916342" y="3401152"/>
            <a:ext cx="2105025" cy="88582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Dependencias de servicios SOAP/REST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d624313899_0_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9" name="Google Shape;149;g2d624313899_0_5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4557900" cy="3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ARQUITECTURA DEL SERVIDOR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endParaRPr lang="es-ES" sz="1677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La solución separa la publicación del servicio de la lógica de conversión. Publisher inicializa Metro; los endpoints SOAP delegan autenticación y conversiones en las clases de servicio.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Los catálogos de unidades y las fórmulas permanecen en memoria.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0" name="Google Shape;150;g2d624313899_0_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Paquetes y componentes del servidor">
            <a:extLst>
              <a:ext uri="{FF2B5EF4-FFF2-40B4-BE49-F238E27FC236}">
                <a16:creationId xmlns:a16="http://schemas.microsoft.com/office/drawing/2014/main" id="{D5A955C8-73DF-4A43-96ED-5C495A39CF5E}"/>
              </a:ext>
            </a:extLst>
          </p:cNvPr>
          <p:cNvSpPr/>
          <p:nvPr/>
        </p:nvSpPr>
        <p:spPr>
          <a:xfrm>
            <a:off x="5749937" y="2870106"/>
            <a:ext cx="3268557" cy="203358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Paquetes y componentes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d624313899_0_2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65" name="Google Shape;165;g2d624313899_0_26"/>
          <p:cNvSpPr txBox="1">
            <a:spLocks noGrp="1"/>
          </p:cNvSpPr>
          <p:nvPr>
            <p:ph type="body" idx="1"/>
          </p:nvPr>
        </p:nvSpPr>
        <p:spPr>
          <a:xfrm>
            <a:off x="581660" y="2108200"/>
            <a:ext cx="3048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PUBLICACIÓN DE ENDPOINTS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Program.cs (CoreWCF / Kestrel) inicia Metro en localhost:8080 y publica ServicioAutenticacion y ServicioConversion.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Mantén activo el servidor mientras se ejecutan los clientes .NET / C#.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66" name="Google Shape;166;g2d624313899_0_2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ódigo de publicación o registro de recursos">
            <a:extLst>
              <a:ext uri="{FF2B5EF4-FFF2-40B4-BE49-F238E27FC236}">
                <a16:creationId xmlns:a16="http://schemas.microsoft.com/office/drawing/2014/main" id="{B7CF14C7-A1FB-46CD-9B06-2501C6854F36}"/>
              </a:ext>
            </a:extLst>
          </p:cNvPr>
          <p:cNvSpPr/>
          <p:nvPr/>
        </p:nvSpPr>
        <p:spPr>
          <a:xfrm>
            <a:off x="3875414" y="2817286"/>
            <a:ext cx="4441055" cy="361543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Código de publicación o registro de recursos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d624313899_0_7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9" name="Google Shape;189;g2d624313899_0_71"/>
          <p:cNvSpPr txBox="1">
            <a:spLocks noGrp="1"/>
          </p:cNvSpPr>
          <p:nvPr>
            <p:ph type="body" idx="1"/>
          </p:nvPr>
        </p:nvSpPr>
        <p:spPr>
          <a:xfrm>
            <a:off x="684530" y="1921510"/>
            <a:ext cx="60186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4140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PRUEBAS DEL SERVICIO</a:t>
            </a: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0" name="Google Shape;190;g2d624313899_0_7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Respuesta del servicio">
            <a:extLst>
              <a:ext uri="{FF2B5EF4-FFF2-40B4-BE49-F238E27FC236}">
                <a16:creationId xmlns:a16="http://schemas.microsoft.com/office/drawing/2014/main" id="{E9114EA8-A636-4E5D-9078-2EE4448E41EF}"/>
              </a:ext>
            </a:extLst>
          </p:cNvPr>
          <p:cNvSpPr/>
          <p:nvPr/>
        </p:nvSpPr>
        <p:spPr>
          <a:xfrm>
            <a:off x="5818100" y="4415104"/>
            <a:ext cx="2808980" cy="207069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Respuesta del servicio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Prueba de conversión de temperatura">
            <a:extLst>
              <a:ext uri="{FF2B5EF4-FFF2-40B4-BE49-F238E27FC236}">
                <a16:creationId xmlns:a16="http://schemas.microsoft.com/office/drawing/2014/main" id="{DEA656A8-E519-47C1-AE44-5E7BD4AF055A}"/>
              </a:ext>
            </a:extLst>
          </p:cNvPr>
          <p:cNvSpPr/>
          <p:nvPr/>
        </p:nvSpPr>
        <p:spPr>
          <a:xfrm>
            <a:off x="2961150" y="4415104"/>
            <a:ext cx="2761232" cy="21726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conversión de temperatura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rueba de conversión de masa">
            <a:extLst>
              <a:ext uri="{FF2B5EF4-FFF2-40B4-BE49-F238E27FC236}">
                <a16:creationId xmlns:a16="http://schemas.microsoft.com/office/drawing/2014/main" id="{C2E3AF7B-1C5B-485E-8F00-68AB1DFA319F}"/>
              </a:ext>
            </a:extLst>
          </p:cNvPr>
          <p:cNvSpPr/>
          <p:nvPr/>
        </p:nvSpPr>
        <p:spPr>
          <a:xfrm>
            <a:off x="330934" y="4415104"/>
            <a:ext cx="2630216" cy="20089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conversión de masa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5" name="CAPTURA PENDIENTE - Prueba de conversión de longitud">
            <a:extLst>
              <a:ext uri="{FF2B5EF4-FFF2-40B4-BE49-F238E27FC236}">
                <a16:creationId xmlns:a16="http://schemas.microsoft.com/office/drawing/2014/main" id="{C9C3B946-C4DF-42E1-81A6-50079FD40A92}"/>
              </a:ext>
            </a:extLst>
          </p:cNvPr>
          <p:cNvSpPr/>
          <p:nvPr/>
        </p:nvSpPr>
        <p:spPr>
          <a:xfrm>
            <a:off x="4671319" y="1994161"/>
            <a:ext cx="2849245" cy="207581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conversión de longitud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6" name="CAPTURA PENDIENTE - Prueba de autenticación">
            <a:extLst>
              <a:ext uri="{FF2B5EF4-FFF2-40B4-BE49-F238E27FC236}">
                <a16:creationId xmlns:a16="http://schemas.microsoft.com/office/drawing/2014/main" id="{D9C4CD0A-85E6-4476-8C1E-18E66A405171}"/>
              </a:ext>
            </a:extLst>
          </p:cNvPr>
          <p:cNvSpPr/>
          <p:nvPr/>
        </p:nvSpPr>
        <p:spPr>
          <a:xfrm>
            <a:off x="679863" y="2724790"/>
            <a:ext cx="3776665" cy="1345186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autenticación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624313899_0_5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1" name="Google Shape;221;g2d624313899_0_51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245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1.3 CREACIÓN DEL CLIENTE CONSOLA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ES"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.NET / C# con Maven en Visual Studio / VS Code. Configura el consumo de los endpoints SOAP y separa modelo, vista y controlador.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cliente presenta primero el formulario de autenticación y, al validar las credenciales, muestra el menú de conversión.</a:t>
            </a:r>
            <a:endParaRPr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22" name="Google Shape;222;g2d624313899_0_5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onfiguración del cliente de consola">
            <a:extLst>
              <a:ext uri="{FF2B5EF4-FFF2-40B4-BE49-F238E27FC236}">
                <a16:creationId xmlns:a16="http://schemas.microsoft.com/office/drawing/2014/main" id="{3A7959C0-C4A0-43B5-A418-6987B537CAD0}"/>
              </a:ext>
            </a:extLst>
          </p:cNvPr>
          <p:cNvSpPr/>
          <p:nvPr/>
        </p:nvSpPr>
        <p:spPr>
          <a:xfrm>
            <a:off x="4740234" y="3657435"/>
            <a:ext cx="4201160" cy="284543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del cliente de consola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reación del proyecto .NET / C# Maven">
            <a:extLst>
              <a:ext uri="{FF2B5EF4-FFF2-40B4-BE49-F238E27FC236}">
                <a16:creationId xmlns:a16="http://schemas.microsoft.com/office/drawing/2014/main" id="{6398EAC1-FA1A-438E-84B6-8806E14BAE12}"/>
              </a:ext>
            </a:extLst>
          </p:cNvPr>
          <p:cNvSpPr/>
          <p:nvPr/>
        </p:nvSpPr>
        <p:spPr>
          <a:xfrm>
            <a:off x="466506" y="3674580"/>
            <a:ext cx="4144010" cy="28282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del proyecto .NET / C# Maven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d624313899_0_9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9" name="Google Shape;239;g2d624313899_0_95"/>
          <p:cNvSpPr txBox="1">
            <a:spLocks noGrp="1"/>
          </p:cNvSpPr>
          <p:nvPr>
            <p:ph type="body" idx="1"/>
          </p:nvPr>
        </p:nvSpPr>
        <p:spPr>
          <a:xfrm>
            <a:off x="514824" y="91462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ConversionRequest representa los datos de magnitud, valor y unidades que se envían al servicio.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0" name="Google Shape;240;g2d624313899_0_9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g2d624313899_0_95"/>
          <p:cNvSpPr txBox="1">
            <a:spLocks noGrp="1"/>
          </p:cNvSpPr>
          <p:nvPr>
            <p:ph type="body" idx="1"/>
          </p:nvPr>
        </p:nvSpPr>
        <p:spPr>
          <a:xfrm>
            <a:off x="4759292" y="77006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controlador valida la sesión, prepara las llamadas SOAP y presenta al usuario el resultado de cada conversión.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trolador y cliente de servicio">
            <a:extLst>
              <a:ext uri="{FF2B5EF4-FFF2-40B4-BE49-F238E27FC236}">
                <a16:creationId xmlns:a16="http://schemas.microsoft.com/office/drawing/2014/main" id="{7DD048F7-291C-4466-917F-C53A70400149}"/>
              </a:ext>
            </a:extLst>
          </p:cNvPr>
          <p:cNvSpPr/>
          <p:nvPr/>
        </p:nvSpPr>
        <p:spPr>
          <a:xfrm>
            <a:off x="4100618" y="4064763"/>
            <a:ext cx="5172027" cy="177748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Controlador y cliente de servicio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Modelo de solicitud de conversión">
            <a:extLst>
              <a:ext uri="{FF2B5EF4-FFF2-40B4-BE49-F238E27FC236}">
                <a16:creationId xmlns:a16="http://schemas.microsoft.com/office/drawing/2014/main" id="{BE1FDCDF-BB08-4024-ACC0-08D4758E0B68}"/>
              </a:ext>
            </a:extLst>
          </p:cNvPr>
          <p:cNvSpPr/>
          <p:nvPr/>
        </p:nvSpPr>
        <p:spPr>
          <a:xfrm>
            <a:off x="811793" y="4064763"/>
            <a:ext cx="2955257" cy="185048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Modelo de solicitud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d624313899_0_1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9" name="Google Shape;249;g2d624313899_0_111"/>
          <p:cNvSpPr txBox="1">
            <a:spLocks noGrp="1"/>
          </p:cNvSpPr>
          <p:nvPr>
            <p:ph type="body" idx="1"/>
          </p:nvPr>
        </p:nvSpPr>
        <p:spPr>
          <a:xfrm>
            <a:off x="478225" y="1986150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vista de consola guía el inicio de sesión y ofrece opciones para convertir longitud, masa o temperatura. Muestra mensajes de validación y el resultado con dos decimales.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0" name="Google Shape;250;g2d624313899_0_11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Menú y vista del cliente de consola">
            <a:extLst>
              <a:ext uri="{FF2B5EF4-FFF2-40B4-BE49-F238E27FC236}">
                <a16:creationId xmlns:a16="http://schemas.microsoft.com/office/drawing/2014/main" id="{86A93331-0F14-4AEA-961B-40B7F4D43301}"/>
              </a:ext>
            </a:extLst>
          </p:cNvPr>
          <p:cNvSpPr/>
          <p:nvPr/>
        </p:nvSpPr>
        <p:spPr>
          <a:xfrm>
            <a:off x="4361215" y="2617179"/>
            <a:ext cx="4878474" cy="260924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Menú y vista del cliente de consola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624313899_0_1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57" name="Google Shape;257;g2d624313899_0_138"/>
          <p:cNvSpPr txBox="1">
            <a:spLocks noGrp="1"/>
          </p:cNvSpPr>
          <p:nvPr>
            <p:ph type="body" idx="1"/>
          </p:nvPr>
        </p:nvSpPr>
        <p:spPr>
          <a:xfrm>
            <a:off x="581660" y="1930400"/>
            <a:ext cx="24130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Ejecución del Proyecto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8" name="Google Shape;258;g2d624313899_0_13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Resultado de conversión">
            <a:extLst>
              <a:ext uri="{FF2B5EF4-FFF2-40B4-BE49-F238E27FC236}">
                <a16:creationId xmlns:a16="http://schemas.microsoft.com/office/drawing/2014/main" id="{708B9276-A510-45E6-9B14-51584D3088AA}"/>
              </a:ext>
            </a:extLst>
          </p:cNvPr>
          <p:cNvSpPr/>
          <p:nvPr/>
        </p:nvSpPr>
        <p:spPr>
          <a:xfrm>
            <a:off x="6143877" y="3004463"/>
            <a:ext cx="2928406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Resultado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Selección de magnitud y unidades">
            <a:extLst>
              <a:ext uri="{FF2B5EF4-FFF2-40B4-BE49-F238E27FC236}">
                <a16:creationId xmlns:a16="http://schemas.microsoft.com/office/drawing/2014/main" id="{AD0D4F79-D159-4DE7-A355-9CDF12FB1E7D}"/>
              </a:ext>
            </a:extLst>
          </p:cNvPr>
          <p:cNvSpPr/>
          <p:nvPr/>
        </p:nvSpPr>
        <p:spPr>
          <a:xfrm>
            <a:off x="3227647" y="3004463"/>
            <a:ext cx="2808301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Selección de magnitud y unidades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Autenticación correcta">
            <a:extLst>
              <a:ext uri="{FF2B5EF4-FFF2-40B4-BE49-F238E27FC236}">
                <a16:creationId xmlns:a16="http://schemas.microsoft.com/office/drawing/2014/main" id="{7F99F7C5-D9BE-4E6B-AE75-5BFAABFDAA28}"/>
              </a:ext>
            </a:extLst>
          </p:cNvPr>
          <p:cNvSpPr/>
          <p:nvPr/>
        </p:nvSpPr>
        <p:spPr>
          <a:xfrm>
            <a:off x="311657" y="3004463"/>
            <a:ext cx="2808061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Autenticación correcta</a:t>
            </a:r>
          </a:p>
        </p:txBody>
      </p:sp>
      <p:sp>
        <p:nvSpPr>
          <p:cNvPr id="5" name="CAPTURA PENDIENTE - Inicio del cliente">
            <a:extLst>
              <a:ext uri="{FF2B5EF4-FFF2-40B4-BE49-F238E27FC236}">
                <a16:creationId xmlns:a16="http://schemas.microsoft.com/office/drawing/2014/main" id="{8E2476A0-8191-4A53-A3DE-FADF4D8205EF}"/>
              </a:ext>
            </a:extLst>
          </p:cNvPr>
          <p:cNvSpPr/>
          <p:nvPr/>
        </p:nvSpPr>
        <p:spPr>
          <a:xfrm>
            <a:off x="3227647" y="1933668"/>
            <a:ext cx="2868295" cy="8032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Inicio del cliente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68" name="Google Shape;268;p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7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1.4 CREACIÓN DEL PROYECTO – CLIENTE ESCRITORIO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Crea la aplicación .NET / C# de escritorio con Maven. La interfaz Swing consume los mismos endpoints SOAP y sigue el patrón Modelo-Vista-Controlador.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reación del proyecto de escritorio .NET / C#">
            <a:extLst>
              <a:ext uri="{FF2B5EF4-FFF2-40B4-BE49-F238E27FC236}">
                <a16:creationId xmlns:a16="http://schemas.microsoft.com/office/drawing/2014/main" id="{D28BE577-97A7-4289-87EA-2CB12471E21C}"/>
              </a:ext>
            </a:extLst>
          </p:cNvPr>
          <p:cNvSpPr/>
          <p:nvPr/>
        </p:nvSpPr>
        <p:spPr>
          <a:xfrm>
            <a:off x="2544819" y="3270983"/>
            <a:ext cx="4144010" cy="28282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del proyecto de escritorio .NET / C#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1974b856cc_0_10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1" name="Google Shape;301;g31974b856cc_0_10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g31974b856cc_0_109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El cliente Swing organiza la interfaz, el estado de conversión y el consumo SOAP con el patrón MVC.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4F47827-A8E1-4FFA-A232-83861B9D7BF5}"/>
              </a:ext>
            </a:extLst>
          </p:cNvPr>
          <p:cNvSpPr txBox="1"/>
          <p:nvPr/>
        </p:nvSpPr>
        <p:spPr>
          <a:xfrm>
            <a:off x="762109" y="3269217"/>
            <a:ext cx="17121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Modelo: conserva los datos de sesión y de la conversión.</a:t>
            </a:r>
            <a:endParaRPr lang="es-EC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AE216B3-B851-4BA3-899E-396EB3A18BA2}"/>
              </a:ext>
            </a:extLst>
          </p:cNvPr>
          <p:cNvSpPr txBox="1"/>
          <p:nvPr/>
        </p:nvSpPr>
        <p:spPr>
          <a:xfrm>
            <a:off x="6214191" y="4553152"/>
            <a:ext cx="26333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Controlador: valida entradas y coordina la llamada SOAP.</a:t>
            </a:r>
            <a:endParaRPr lang="es-EC" dirty="0"/>
          </a:p>
        </p:txBody>
      </p:sp>
      <p:sp>
        <p:nvSpPr>
          <p:cNvPr id="2" name="CAPTURA PENDIENTE - Clases del cliente de escritorio">
            <a:extLst>
              <a:ext uri="{FF2B5EF4-FFF2-40B4-BE49-F238E27FC236}">
                <a16:creationId xmlns:a16="http://schemas.microsoft.com/office/drawing/2014/main" id="{FC04A46C-F8FC-4B32-89E4-37F1F61238A7}"/>
              </a:ext>
            </a:extLst>
          </p:cNvPr>
          <p:cNvSpPr/>
          <p:nvPr/>
        </p:nvSpPr>
        <p:spPr>
          <a:xfrm>
            <a:off x="2474259" y="4377212"/>
            <a:ext cx="3666875" cy="235536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Clases del cliente de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ódigo de controlador">
            <a:extLst>
              <a:ext uri="{FF2B5EF4-FFF2-40B4-BE49-F238E27FC236}">
                <a16:creationId xmlns:a16="http://schemas.microsoft.com/office/drawing/2014/main" id="{8D27FDBE-3262-425D-901F-736C75C67653}"/>
              </a:ext>
            </a:extLst>
          </p:cNvPr>
          <p:cNvSpPr/>
          <p:nvPr/>
        </p:nvSpPr>
        <p:spPr>
          <a:xfrm>
            <a:off x="5925023" y="3893361"/>
            <a:ext cx="27432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Código de controlador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ódigo de modelo">
            <a:extLst>
              <a:ext uri="{FF2B5EF4-FFF2-40B4-BE49-F238E27FC236}">
                <a16:creationId xmlns:a16="http://schemas.microsoft.com/office/drawing/2014/main" id="{D9BA546A-1E15-4A80-AA57-994B60F099F9}"/>
              </a:ext>
            </a:extLst>
          </p:cNvPr>
          <p:cNvSpPr/>
          <p:nvPr/>
        </p:nvSpPr>
        <p:spPr>
          <a:xfrm>
            <a:off x="2611811" y="3836431"/>
            <a:ext cx="2476500" cy="3429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Código de modelo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5" name="CAPTURA PENDIENTE - Estructura de paquetes MVC">
            <a:extLst>
              <a:ext uri="{FF2B5EF4-FFF2-40B4-BE49-F238E27FC236}">
                <a16:creationId xmlns:a16="http://schemas.microsoft.com/office/drawing/2014/main" id="{B197BBDF-1B0B-4C10-9B0A-1F8D65F9C273}"/>
              </a:ext>
            </a:extLst>
          </p:cNvPr>
          <p:cNvSpPr/>
          <p:nvPr/>
        </p:nvSpPr>
        <p:spPr>
          <a:xfrm>
            <a:off x="5088311" y="2609850"/>
            <a:ext cx="3019425" cy="10287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de paquetes MVC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1974b856cc_0_12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9" name="Google Shape;309;g31974b856cc_0_1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g31974b856cc_0_128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 vista Swing contiene las ventanas de autenticación y conversión. Los controles permiten seleccionar magnitud y unidades, ingresar el valor y consultar el resultado.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Interfaz Swing de autenticación y conversión">
            <a:extLst>
              <a:ext uri="{FF2B5EF4-FFF2-40B4-BE49-F238E27FC236}">
                <a16:creationId xmlns:a16="http://schemas.microsoft.com/office/drawing/2014/main" id="{72D8D44A-0A8E-4206-9ECA-659FC89E010E}"/>
              </a:ext>
            </a:extLst>
          </p:cNvPr>
          <p:cNvSpPr/>
          <p:nvPr/>
        </p:nvSpPr>
        <p:spPr>
          <a:xfrm>
            <a:off x="699248" y="2831802"/>
            <a:ext cx="8424537" cy="332404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Interfaz Swing de autenticación y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1974b856cc_0_1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7" name="Google Shape;317;g31974b856cc_0_1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g31974b856cc_0_137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Inicio de sesión del cliente de escritorio. Ingresa MONSTER / MONSTER9 para acceder al conversor.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de inicio de sesión del escritorio">
            <a:extLst>
              <a:ext uri="{FF2B5EF4-FFF2-40B4-BE49-F238E27FC236}">
                <a16:creationId xmlns:a16="http://schemas.microsoft.com/office/drawing/2014/main" id="{DDBE8347-1A58-405A-86AC-1D65FA07AFBF}"/>
              </a:ext>
            </a:extLst>
          </p:cNvPr>
          <p:cNvSpPr/>
          <p:nvPr/>
        </p:nvSpPr>
        <p:spPr>
          <a:xfrm>
            <a:off x="581192" y="2329030"/>
            <a:ext cx="5218973" cy="333666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de inicio de sesión del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d6d00c5bd2_2_1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35" name="Google Shape;335;g2d6d00c5bd2_2_1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g2d6d00c5bd2_2_19"/>
          <p:cNvSpPr txBox="1">
            <a:spLocks noGrp="1"/>
          </p:cNvSpPr>
          <p:nvPr>
            <p:ph type="body" idx="1"/>
          </p:nvPr>
        </p:nvSpPr>
        <p:spPr>
          <a:xfrm>
            <a:off x="5791950" y="2411875"/>
            <a:ext cx="32289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Formulario de conversión. Selecciona la magnitud, las unidades de origen y destino, e ingresa el valor que se enviará al servicio SOAP.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Formulario de conversión del escritorio">
            <a:extLst>
              <a:ext uri="{FF2B5EF4-FFF2-40B4-BE49-F238E27FC236}">
                <a16:creationId xmlns:a16="http://schemas.microsoft.com/office/drawing/2014/main" id="{E5A38DE0-325D-4447-9F55-51FC2D2555CE}"/>
              </a:ext>
            </a:extLst>
          </p:cNvPr>
          <p:cNvSpPr/>
          <p:nvPr/>
        </p:nvSpPr>
        <p:spPr>
          <a:xfrm>
            <a:off x="1131103" y="2513572"/>
            <a:ext cx="3898097" cy="311626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Formulario de conversión del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43" name="Google Shape;343;p3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32"/>
          <p:cNvSpPr txBox="1"/>
          <p:nvPr/>
        </p:nvSpPr>
        <p:spPr>
          <a:xfrm>
            <a:off x="636600" y="1868348"/>
            <a:ext cx="8576700" cy="18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 lnSpcReduction="10000"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1.5 CREACIÓN DEL PROYECTO – CLIENTE WEB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lang="es-ES" sz="1800" b="1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El cliente web se ejecuta con Jetty 11 embebido en el puerto 8081. Las vistas HTML/JSP presentan las pantallas; LoginServlet y ConversionServlet gestionan la sesión y las solicitudes SOAP.</a:t>
            </a:r>
            <a:endParaRPr sz="2000" dirty="0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figuración de Jetty y Servlets">
            <a:extLst>
              <a:ext uri="{FF2B5EF4-FFF2-40B4-BE49-F238E27FC236}">
                <a16:creationId xmlns:a16="http://schemas.microsoft.com/office/drawing/2014/main" id="{16593287-0CEF-49B8-974F-2F1AE8A0C15E}"/>
              </a:ext>
            </a:extLst>
          </p:cNvPr>
          <p:cNvSpPr/>
          <p:nvPr/>
        </p:nvSpPr>
        <p:spPr>
          <a:xfrm>
            <a:off x="3863999" y="3524211"/>
            <a:ext cx="4959666" cy="303795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 Jetty y Servlets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Estructura del cliente web">
            <a:extLst>
              <a:ext uri="{FF2B5EF4-FFF2-40B4-BE49-F238E27FC236}">
                <a16:creationId xmlns:a16="http://schemas.microsoft.com/office/drawing/2014/main" id="{9547CBA9-C1D8-4B24-853B-4A2AF89BF58F}"/>
              </a:ext>
            </a:extLst>
          </p:cNvPr>
          <p:cNvSpPr/>
          <p:nvPr/>
        </p:nvSpPr>
        <p:spPr>
          <a:xfrm>
            <a:off x="1211356" y="3839056"/>
            <a:ext cx="2095500" cy="5619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del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19782968e5_0_8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7" name="Google Shape;377;g319782968e5_0_8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g319782968e5_0_88"/>
          <p:cNvSpPr txBox="1">
            <a:spLocks noGrp="1"/>
          </p:cNvSpPr>
          <p:nvPr>
            <p:ph type="body" idx="1"/>
          </p:nvPr>
        </p:nvSpPr>
        <p:spPr>
          <a:xfrm>
            <a:off x="581200" y="19444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Las vistas conversor.html y conversor.jsp ofrecen el formulario de conversión. ConversionServlet comunica el cliente web con el servicio SOAP.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EBFFD51-1503-4BCA-8CB9-C70596A06975}"/>
              </a:ext>
            </a:extLst>
          </p:cNvPr>
          <p:cNvSpPr txBox="1"/>
          <p:nvPr/>
        </p:nvSpPr>
        <p:spPr>
          <a:xfrm>
            <a:off x="719417" y="4185628"/>
            <a:ext cx="26244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sym typeface="Gill Sans"/>
              </a:rPr>
              <a:t>El formulario envía los datos al Servlet y presenta el resultado de la conversión.</a:t>
            </a:r>
            <a:endParaRPr lang="es-EC" dirty="0"/>
          </a:p>
        </p:txBody>
      </p:sp>
      <p:sp>
        <p:nvSpPr>
          <p:cNvPr id="2" name="CAPTURA PENDIENTE - Formulario y respuesta del cliente web">
            <a:extLst>
              <a:ext uri="{FF2B5EF4-FFF2-40B4-BE49-F238E27FC236}">
                <a16:creationId xmlns:a16="http://schemas.microsoft.com/office/drawing/2014/main" id="{406C6AF6-33CF-47B3-8FB5-DCC2D1E16140}"/>
              </a:ext>
            </a:extLst>
          </p:cNvPr>
          <p:cNvSpPr/>
          <p:nvPr/>
        </p:nvSpPr>
        <p:spPr>
          <a:xfrm>
            <a:off x="3679277" y="3132944"/>
            <a:ext cx="3959600" cy="354539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Formulario y respuesta del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antalla web de conversión">
            <a:extLst>
              <a:ext uri="{FF2B5EF4-FFF2-40B4-BE49-F238E27FC236}">
                <a16:creationId xmlns:a16="http://schemas.microsoft.com/office/drawing/2014/main" id="{5F4C8FCF-4366-4C4F-9FAD-C323C0C23A42}"/>
              </a:ext>
            </a:extLst>
          </p:cNvPr>
          <p:cNvSpPr/>
          <p:nvPr/>
        </p:nvSpPr>
        <p:spPr>
          <a:xfrm>
            <a:off x="841168" y="3132944"/>
            <a:ext cx="1448002" cy="90500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web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19782968e5_0_7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85" name="Google Shape;385;g319782968e5_0_7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g319782968e5_0_73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index.html y index.jsp ofrecen el inicio de sesión. LoginServlet valida las credenciales y habilita el acceso al conversor cuando son correctas.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web de inicio de sesión">
            <a:extLst>
              <a:ext uri="{FF2B5EF4-FFF2-40B4-BE49-F238E27FC236}">
                <a16:creationId xmlns:a16="http://schemas.microsoft.com/office/drawing/2014/main" id="{D3F36737-3CBD-4B2C-B211-D67B93A6A9C6}"/>
              </a:ext>
            </a:extLst>
          </p:cNvPr>
          <p:cNvSpPr/>
          <p:nvPr/>
        </p:nvSpPr>
        <p:spPr>
          <a:xfrm>
            <a:off x="2804070" y="2850777"/>
            <a:ext cx="4143559" cy="370870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web de inicio de sesión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19782968e5_0_11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01" name="Google Shape;401;g319782968e5_0_11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g319782968e5_0_112"/>
          <p:cNvSpPr txBox="1">
            <a:spLocks noGrp="1"/>
          </p:cNvSpPr>
          <p:nvPr>
            <p:ph type="body" idx="1"/>
          </p:nvPr>
        </p:nvSpPr>
        <p:spPr>
          <a:xfrm>
            <a:off x="1039100" y="1913200"/>
            <a:ext cx="8038500" cy="180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Inicia el servidor SOAP y después el cliente web. Abre http://localhost:8081/ClienteWeb/ en el navegador para acceder al formulario de autenticación y las funciones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liente web ejecutándose en el navegador">
            <a:extLst>
              <a:ext uri="{FF2B5EF4-FFF2-40B4-BE49-F238E27FC236}">
                <a16:creationId xmlns:a16="http://schemas.microsoft.com/office/drawing/2014/main" id="{20B3726C-F6B4-45C9-AC26-56D387AC5E00}"/>
              </a:ext>
            </a:extLst>
          </p:cNvPr>
          <p:cNvSpPr/>
          <p:nvPr/>
        </p:nvSpPr>
        <p:spPr>
          <a:xfrm>
            <a:off x="3135268" y="3257334"/>
            <a:ext cx="3200847" cy="308653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Cliente web ejecutándose en el navegador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19782968e5_0_13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1" name="Google Shape;411;g319782968e5_0_13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g319782968e5_0_135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Acceso al cliente web. Ingresa MONSTER / MONSTER9; una sesión válida permite continuar a la pantalla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Autenticación en el cliente web">
            <a:extLst>
              <a:ext uri="{FF2B5EF4-FFF2-40B4-BE49-F238E27FC236}">
                <a16:creationId xmlns:a16="http://schemas.microsoft.com/office/drawing/2014/main" id="{EF175D66-5604-41C8-8DB4-58DDF5F7B0ED}"/>
              </a:ext>
            </a:extLst>
          </p:cNvPr>
          <p:cNvSpPr/>
          <p:nvPr/>
        </p:nvSpPr>
        <p:spPr>
          <a:xfrm>
            <a:off x="803359" y="2804085"/>
            <a:ext cx="5399405" cy="27559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Autenticación en 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19782968e5_0_12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9" name="Google Shape;419;g319782968e5_0_12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g319782968e5_0_123"/>
          <p:cNvSpPr txBox="1">
            <a:spLocks noGrp="1"/>
          </p:cNvSpPr>
          <p:nvPr>
            <p:ph type="body" idx="1"/>
          </p:nvPr>
        </p:nvSpPr>
        <p:spPr>
          <a:xfrm>
            <a:off x="581200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Selecciona longitud, masa o temperatura. Ingresa un valor y las unidades de origen y destino; el cliente solicita la operación al servicio y muestra el resultado con dos decimales.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versión realizada desde el cliente web">
            <a:extLst>
              <a:ext uri="{FF2B5EF4-FFF2-40B4-BE49-F238E27FC236}">
                <a16:creationId xmlns:a16="http://schemas.microsoft.com/office/drawing/2014/main" id="{CF652FE7-A338-4840-BAF2-EB38435440B1}"/>
              </a:ext>
            </a:extLst>
          </p:cNvPr>
          <p:cNvSpPr/>
          <p:nvPr/>
        </p:nvSpPr>
        <p:spPr>
          <a:xfrm>
            <a:off x="3686896" y="2718547"/>
            <a:ext cx="5399405" cy="28194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Conversión realizada desde 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27" name="Google Shape;427;p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37"/>
          <p:cNvSpPr txBox="1"/>
          <p:nvPr/>
        </p:nvSpPr>
        <p:spPr>
          <a:xfrm>
            <a:off x="406975" y="1921878"/>
            <a:ext cx="8576700" cy="7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1.6 CLIENTE MÓVIL</a:t>
            </a: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429" name="Google Shape;429;p37"/>
          <p:cNvSpPr txBox="1">
            <a:spLocks noGrp="1"/>
          </p:cNvSpPr>
          <p:nvPr>
            <p:ph type="body" idx="1"/>
          </p:nvPr>
        </p:nvSpPr>
        <p:spPr>
          <a:xfrm>
            <a:off x="581200" y="2253923"/>
            <a:ext cx="41781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Android con .NET / C# y una actividad vacía. Agrega HttpClient / CoreWCF y configura el acceso al servicio SOAP en localhost:8080.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En emulador o dispositivo físico, usa una dirección de host accesible desde Android.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figuración del proyecto y dependencia cliente">
            <a:extLst>
              <a:ext uri="{FF2B5EF4-FFF2-40B4-BE49-F238E27FC236}">
                <a16:creationId xmlns:a16="http://schemas.microsoft.com/office/drawing/2014/main" id="{7FA02659-968B-436E-8575-1E22FA0ED2B1}"/>
              </a:ext>
            </a:extLst>
          </p:cNvPr>
          <p:cNvSpPr/>
          <p:nvPr/>
        </p:nvSpPr>
        <p:spPr>
          <a:xfrm>
            <a:off x="904275" y="5528800"/>
            <a:ext cx="4335775" cy="5995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del proyecto y dependencia cliente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reación de actividad Android">
            <a:extLst>
              <a:ext uri="{FF2B5EF4-FFF2-40B4-BE49-F238E27FC236}">
                <a16:creationId xmlns:a16="http://schemas.microsoft.com/office/drawing/2014/main" id="{41284340-73FC-4346-8B2A-67FE8EF1697E}"/>
              </a:ext>
            </a:extLst>
          </p:cNvPr>
          <p:cNvSpPr/>
          <p:nvPr/>
        </p:nvSpPr>
        <p:spPr>
          <a:xfrm>
            <a:off x="5410937" y="4209124"/>
            <a:ext cx="3622500" cy="1917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 actividad Android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aptura del módulo descrito en esta diapositiva">
            <a:extLst>
              <a:ext uri="{FF2B5EF4-FFF2-40B4-BE49-F238E27FC236}">
                <a16:creationId xmlns:a16="http://schemas.microsoft.com/office/drawing/2014/main" id="{4C801D5B-CB78-4EE0-B2EB-3BF11E28CAE4}"/>
              </a:ext>
            </a:extLst>
          </p:cNvPr>
          <p:cNvSpPr/>
          <p:nvPr/>
        </p:nvSpPr>
        <p:spPr>
          <a:xfrm>
            <a:off x="6418749" y="2402189"/>
            <a:ext cx="1606875" cy="16918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del módulo descrito en esta diapositiva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2d624313899_0_15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38" name="Google Shape;438;g2d624313899_0_15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g2d624313899_0_157"/>
          <p:cNvSpPr txBox="1">
            <a:spLocks noGrp="1"/>
          </p:cNvSpPr>
          <p:nvPr>
            <p:ph type="body" idx="1"/>
          </p:nvPr>
        </p:nvSpPr>
        <p:spPr>
          <a:xfrm>
            <a:off x="581200" y="2253925"/>
            <a:ext cx="3644100" cy="3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Estructura del Proyecto (MVC)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aplicación separa actividades de interfaz, controladores, modelos y cliente SOAP. El patrón MVC organiza el inicio de sesión y el flujo de conversión.</a:t>
            </a:r>
            <a:endParaRPr lang="es-EC" sz="1564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quetes y estructura MVC de Android">
            <a:extLst>
              <a:ext uri="{FF2B5EF4-FFF2-40B4-BE49-F238E27FC236}">
                <a16:creationId xmlns:a16="http://schemas.microsoft.com/office/drawing/2014/main" id="{36702E61-9B71-4603-BAD8-1C10AD2775F5}"/>
              </a:ext>
            </a:extLst>
          </p:cNvPr>
          <p:cNvSpPr/>
          <p:nvPr/>
        </p:nvSpPr>
        <p:spPr>
          <a:xfrm>
            <a:off x="4741537" y="2559253"/>
            <a:ext cx="3225165" cy="315976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Paquetes y estructura MVC de Android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2d624313899_0_17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46" name="Google Shape;446;g2d624313899_0_17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g2d624313899_0_172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Modelo: SoapClient.java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Usa HttpClient / CoreWCF para construir solicitudes SOAP y procesar respuestas del servicio.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48" name="Google Shape;448;g2d624313899_0_172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Controlador: ConversionController.java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Coordina la selección de unidades, valida los datos y solicita la conversión al endpoint SOAP.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trolador de conversión móvil">
            <a:extLst>
              <a:ext uri="{FF2B5EF4-FFF2-40B4-BE49-F238E27FC236}">
                <a16:creationId xmlns:a16="http://schemas.microsoft.com/office/drawing/2014/main" id="{760DE4C0-82E6-4314-AB2E-742463D86AE8}"/>
              </a:ext>
            </a:extLst>
          </p:cNvPr>
          <p:cNvSpPr/>
          <p:nvPr/>
        </p:nvSpPr>
        <p:spPr>
          <a:xfrm>
            <a:off x="4980331" y="3429000"/>
            <a:ext cx="3802710" cy="284836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Controlador de conversión móvil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liente SOAP/REST del móvil">
            <a:extLst>
              <a:ext uri="{FF2B5EF4-FFF2-40B4-BE49-F238E27FC236}">
                <a16:creationId xmlns:a16="http://schemas.microsoft.com/office/drawing/2014/main" id="{BD4B1769-EB83-4114-B094-A3F8F5C58221}"/>
              </a:ext>
            </a:extLst>
          </p:cNvPr>
          <p:cNvSpPr/>
          <p:nvPr/>
        </p:nvSpPr>
        <p:spPr>
          <a:xfrm>
            <a:off x="491075" y="3711388"/>
            <a:ext cx="3478914" cy="225971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Cliente SOAP/REST del móvil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d624313899_0_19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56" name="Google Shape;456;g2d624313899_0_19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g2d624313899_0_193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LoginActivity.java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Solicita las credenciales MONSTER / MONSTER9 y dirige a la conversión tras una respuesta válida.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58" name="Google Shape;458;g2d624313899_0_193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ConversionActivity.java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Permite elegir magnitud y unidades, ingresar el valor y consultar el resultado del servicio.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móvil de conversión">
            <a:extLst>
              <a:ext uri="{FF2B5EF4-FFF2-40B4-BE49-F238E27FC236}">
                <a16:creationId xmlns:a16="http://schemas.microsoft.com/office/drawing/2014/main" id="{285724F7-4293-4679-9704-747298B3B882}"/>
              </a:ext>
            </a:extLst>
          </p:cNvPr>
          <p:cNvSpPr/>
          <p:nvPr/>
        </p:nvSpPr>
        <p:spPr>
          <a:xfrm>
            <a:off x="5096586" y="3395466"/>
            <a:ext cx="3346888" cy="312125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móvil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antalla móvil de inicio de sesión">
            <a:extLst>
              <a:ext uri="{FF2B5EF4-FFF2-40B4-BE49-F238E27FC236}">
                <a16:creationId xmlns:a16="http://schemas.microsoft.com/office/drawing/2014/main" id="{04AF29B5-117D-4812-83CA-A17B8CAD3DD2}"/>
              </a:ext>
            </a:extLst>
          </p:cNvPr>
          <p:cNvSpPr/>
          <p:nvPr/>
        </p:nvSpPr>
        <p:spPr>
          <a:xfrm>
            <a:off x="595071" y="3523400"/>
            <a:ext cx="3704493" cy="2290259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móvil de inicio de sesión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2d6d00c5bd2_3_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94" name="Google Shape;494;g2d6d00c5bd2_3_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g2d6d00c5bd2_3_16"/>
          <p:cNvSpPr txBox="1">
            <a:spLocks noGrp="1"/>
          </p:cNvSpPr>
          <p:nvPr>
            <p:ph type="body" idx="1"/>
          </p:nvPr>
        </p:nvSpPr>
        <p:spPr>
          <a:xfrm>
            <a:off x="581200" y="1984125"/>
            <a:ext cx="8589300" cy="11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lvl="0" indent="-31798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Ejecuta primero el servidor SOAP. Luego inicia la aplicación en un emulador o dispositivo Android y verifica el acceso a la dirección del host y al puerto 8080.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Ejecución en dispositivo físico">
            <a:extLst>
              <a:ext uri="{FF2B5EF4-FFF2-40B4-BE49-F238E27FC236}">
                <a16:creationId xmlns:a16="http://schemas.microsoft.com/office/drawing/2014/main" id="{EFF9EA56-8E4A-4C81-B84A-E7CEC6A7482C}"/>
              </a:ext>
            </a:extLst>
          </p:cNvPr>
          <p:cNvSpPr/>
          <p:nvPr/>
        </p:nvSpPr>
        <p:spPr>
          <a:xfrm>
            <a:off x="4375360" y="3132224"/>
            <a:ext cx="1577205" cy="34697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Ejecución en dispositivo físico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Ejecución en emulador">
            <a:extLst>
              <a:ext uri="{FF2B5EF4-FFF2-40B4-BE49-F238E27FC236}">
                <a16:creationId xmlns:a16="http://schemas.microsoft.com/office/drawing/2014/main" id="{6C8C1FDA-779D-4992-A82B-C2E2CFB93887}"/>
              </a:ext>
            </a:extLst>
          </p:cNvPr>
          <p:cNvSpPr/>
          <p:nvPr/>
        </p:nvSpPr>
        <p:spPr>
          <a:xfrm>
            <a:off x="2107289" y="3132225"/>
            <a:ext cx="1720640" cy="34697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Ejecución en emulador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503" name="Google Shape;503;p41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El sistema mantiene una lógica de conversión común para las aplicaciones de consola, escritorio, web y móvil. SOAP publica operaciones interoperables que los clientes .NET / C# consumen mediante sus herramientas correspondientes.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La autenticación se realiza antes de convertir y las unidades se organizan en tres magnitudes. La solución es SINBDD: utiliza datos en memoria y no requiere persistencia en una base de datos.</a:t>
            </a:r>
            <a:endParaRPr sz="1900" dirty="0"/>
          </a:p>
        </p:txBody>
      </p:sp>
      <p:sp>
        <p:nvSpPr>
          <p:cNvPr id="504" name="Google Shape;504;p4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510" name="Google Shape;510;p42"/>
          <p:cNvSpPr txBox="1"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Mantén el servidor activo antes de iniciar los clientes y prueba cada operación con valores conocidos.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Conserva sincronizados los endpoints SOAP, los modelos de solicitud y las respuestas de los cuatro clientes.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Al tomar capturas para el manual, incluye el inicio de sesión, una conversión por magnitud y la ejecución del servidor. Registra el valor enviado, las unidades y el resultado visible.</a:t>
            </a:r>
            <a:endParaRPr lang="es-MX" sz="1900" dirty="0"/>
          </a:p>
        </p:txBody>
      </p:sp>
      <p:sp>
        <p:nvSpPr>
          <p:cNvPr id="511" name="Google Shape;511;p4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2320</Words>
  <Application>Microsoft Office PowerPoint</Application>
  <PresentationFormat>Panorámica</PresentationFormat>
  <Paragraphs>489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6" baseType="lpstr">
      <vt:lpstr>Gill Sans</vt:lpstr>
      <vt:lpstr>Arial</vt:lpstr>
      <vt:lpstr>Calibri</vt:lpstr>
      <vt:lpstr>Cambria</vt:lpstr>
      <vt:lpstr>Noto Sans Symbols</vt:lpstr>
      <vt:lpstr>Dividendo</vt:lpstr>
      <vt:lpstr>MANUAL TÉCNICO SOAP JAVA SINBDD GR09</vt:lpstr>
      <vt:lpstr>Presentación de PowerPoint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Técnico SOAP Java SINBDD GR09</dc:title>
  <dc:creator>Julio Enrique Viche Castillo / Gabriel Omar Murillo Medina</dc:creator>
  <cp:lastModifiedBy>Julio Enrique Viche Castillo / Gabriel Omar Murillo Medina</cp:lastModifiedBy>
  <cp:revision>5</cp:revision>
  <dcterms:created xsi:type="dcterms:W3CDTF">2026-10-28T05:41:41Z</dcterms:created>
  <dcterms:modified xsi:type="dcterms:W3CDTF">2026-10-28T05:41:41Z</dcterms:modified>
</cp:coreProperties>
</file>