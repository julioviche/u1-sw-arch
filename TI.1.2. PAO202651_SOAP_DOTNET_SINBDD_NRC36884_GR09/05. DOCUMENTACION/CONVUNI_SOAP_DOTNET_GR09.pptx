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1" r:id="rId6"/>
    <p:sldId id="262" r:id="rId7"/>
    <p:sldId id="264" r:id="rId8"/>
    <p:sldId id="267" r:id="rId9"/>
    <p:sldId id="270" r:id="rId10"/>
    <p:sldId id="272" r:id="rId11"/>
    <p:sldId id="273" r:id="rId12"/>
    <p:sldId id="274" r:id="rId13"/>
    <p:sldId id="275" r:id="rId14"/>
    <p:sldId id="279" r:id="rId15"/>
    <p:sldId id="280" r:id="rId16"/>
    <p:sldId id="281" r:id="rId17"/>
    <p:sldId id="283" r:id="rId18"/>
    <p:sldId id="284" r:id="rId19"/>
    <p:sldId id="288" r:id="rId20"/>
    <p:sldId id="289" r:id="rId21"/>
    <p:sldId id="291" r:id="rId22"/>
    <p:sldId id="292" r:id="rId23"/>
    <p:sldId id="293" r:id="rId24"/>
    <p:sldId id="294" r:id="rId25"/>
    <p:sldId id="295" r:id="rId26"/>
    <p:sldId id="296" r:id="rId27"/>
    <p:sldId id="297" r:id="rId28"/>
    <p:sldId id="301" r:id="rId29"/>
    <p:sldId id="302" r:id="rId30"/>
    <p:sldId id="303" r:id="rId31"/>
  </p:sldIdLst>
  <p:sldSz cx="12192000" cy="6858000"/>
  <p:notesSz cx="6858000" cy="9144000"/>
  <p:embeddedFontLst>
    <p:embeddedFont>
      <p:font typeface="Calibri" panose="020F0502020204030204" pitchFamily="34" charset="0"/>
      <p:regular r:id="rId33"/>
      <p:bold r:id="rId34"/>
      <p:italic r:id="rId35"/>
      <p:boldItalic r:id="rId36"/>
    </p:embeddedFont>
    <p:embeddedFont>
      <p:font typeface="Cambria" panose="02040503050406030204" pitchFamily="18" charset="0"/>
      <p:regular r:id="rId37"/>
      <p:bold r:id="rId38"/>
      <p:italic r:id="rId39"/>
      <p:boldItalic r:id="rId40"/>
    </p:embeddedFont>
    <p:embeddedFont>
      <p:font typeface="Gill Sans" panose="020B0604020202020204" charset="0"/>
      <p:regular r:id="rId41"/>
      <p:bold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55" roundtripDataSignature="AMtx7mhoWsaXMVBtv1HF1G3ccxKxe1iU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55" Type="http://customschemas.google.com/relationships/presentationmetadata" Target="meta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2d6d00c5bd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9" name="Google Shape;119;g2d6d00c5bd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7" name="Google Shape;13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2d624313899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6" name="Google Shape;146;g2d624313899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2d624313899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2" name="Google Shape;162;g2d624313899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d624313899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6" name="Google Shape;186;g2d624313899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2d62431389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8" name="Google Shape;218;g2d62431389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2d624313899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36" name="Google Shape;236;g2d624313899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d624313899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6" name="Google Shape;246;g2d624313899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2d624313899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54" name="Google Shape;254;g2d624313899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65" name="Google Shape;265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1974b856cc_0_1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8" name="Google Shape;298;g31974b856cc_0_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1974b856cc_0_1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06" name="Google Shape;306;g31974b856cc_0_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1974b856cc_0_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14" name="Google Shape;314;g31974b856cc_0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2d6d00c5bd2_2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32" name="Google Shape;332;g2d6d00c5bd2_2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40" name="Google Shape;340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19782968e5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74" name="Google Shape;374;g319782968e5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319782968e5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82" name="Google Shape;382;g319782968e5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19782968e5_0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98" name="Google Shape;398;g319782968e5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19782968e5_0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08" name="Google Shape;408;g319782968e5_0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319782968e5_0_1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16" name="Google Shape;416;g319782968e5_0_1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24" name="Google Shape;424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2d624313899_0_1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35" name="Google Shape;435;g2d624313899_0_1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2d624313899_0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43" name="Google Shape;443;g2d624313899_0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2d624313899_0_1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53" name="Google Shape;453;g2d624313899_0_1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2d6d00c5bd2_3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91" name="Google Shape;491;g2d6d00c5bd2_3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00" name="Google Shape;500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07" name="Google Shape;507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5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6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6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4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7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7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7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8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48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8"/>
          <p:cNvSpPr txBox="1"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48"/>
          <p:cNvSpPr txBox="1"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4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4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4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49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49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49"/>
          <p:cNvSpPr txBox="1"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49"/>
          <p:cNvSpPr txBox="1"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49"/>
          <p:cNvSpPr txBox="1"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49"/>
          <p:cNvSpPr txBox="1"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49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49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9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5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5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5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57" name="Google Shape;57;p50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50"/>
          <p:cNvSpPr txBox="1"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5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5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5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52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52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52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lvl="2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lvl="3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lvl="4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lvl="5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52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5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52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5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3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53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53"/>
          <p:cNvSpPr txBox="1"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5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5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5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4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54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54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5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5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55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55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55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55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55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55"/>
          <p:cNvSpPr txBox="1"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4"/>
          <p:cNvSpPr txBox="1"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44"/>
          <p:cNvSpPr txBox="1"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22072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10388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29870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870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98703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8" name="Google Shape;8;p4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9" name="Google Shape;9;p4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0" name="Google Shape;10;p4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11" name="Google Shape;11;p44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44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44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4_0_image53.png"/><Relationship Id="rId4" Type="http://schemas.openxmlformats.org/officeDocument/2006/relationships/image" Target="../media/ppt_img_4_1_image54.png"/><Relationship Id="rId5" Type="http://schemas.openxmlformats.org/officeDocument/2006/relationships/image" Target="../media/ppt_img_4_2_image5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5_0_image56.png"/><Relationship Id="rId4" Type="http://schemas.openxmlformats.org/officeDocument/2006/relationships/image" Target="../media/ppt_img_5_1_image5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6_0_image5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7_0_image5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8_0_image64.png"/><Relationship Id="rId4" Type="http://schemas.openxmlformats.org/officeDocument/2006/relationships/image" Target="../media/ppt_img_8_1_image65.png"/><Relationship Id="rId5" Type="http://schemas.openxmlformats.org/officeDocument/2006/relationships/image" Target="../media/ppt_img_8_2_image66.png"/><Relationship Id="rId6" Type="http://schemas.openxmlformats.org/officeDocument/2006/relationships/image" Target="../media/ppt_img_8_3_image67.png"/><Relationship Id="rId7" Type="http://schemas.openxmlformats.org/officeDocument/2006/relationships/image" Target="../media/ppt_img_8_4_image6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9_0_image68.png"/><Relationship Id="rId4" Type="http://schemas.openxmlformats.org/officeDocument/2006/relationships/image" Target="../media/ppt_img_9_1_image6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0_0_image70.png"/><Relationship Id="rId4" Type="http://schemas.openxmlformats.org/officeDocument/2006/relationships/image" Target="../media/ppt_img_10_1_image7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1_0_image7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2_0_image116.png"/><Relationship Id="rId4" Type="http://schemas.openxmlformats.org/officeDocument/2006/relationships/image" Target="../media/ppt_img_12_1_image117.png"/><Relationship Id="rId5" Type="http://schemas.openxmlformats.org/officeDocument/2006/relationships/image" Target="../media/ppt_img_12_2_image118.png"/><Relationship Id="rId6" Type="http://schemas.openxmlformats.org/officeDocument/2006/relationships/image" Target="../media/ppt_img_12_3_image11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3_0_image7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4_0_image78.png"/><Relationship Id="rId4" Type="http://schemas.openxmlformats.org/officeDocument/2006/relationships/image" Target="../media/ppt_img_14_1_image79.png"/><Relationship Id="rId5" Type="http://schemas.openxmlformats.org/officeDocument/2006/relationships/image" Target="../media/ppt_img_14_2_image80.png"/><Relationship Id="rId6" Type="http://schemas.openxmlformats.org/officeDocument/2006/relationships/image" Target="../media/ppt_img_14_3_image8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5_0_image8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6_0_image12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7_0_image12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8_0_image100.png"/><Relationship Id="rId4" Type="http://schemas.openxmlformats.org/officeDocument/2006/relationships/image" Target="../media/ppt_img_18_1_image10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9_0_image102.png"/><Relationship Id="rId4" Type="http://schemas.openxmlformats.org/officeDocument/2006/relationships/image" Target="../media/ppt_img_19_1_image10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0_0_image109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1_0_image125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2_0_image126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3_0_image127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4_0_image112.png"/><Relationship Id="rId4" Type="http://schemas.openxmlformats.org/officeDocument/2006/relationships/image" Target="../media/ppt_img_24_1_image113.png"/><Relationship Id="rId5" Type="http://schemas.openxmlformats.org/officeDocument/2006/relationships/image" Target="../media/ppt_img_24_2_image114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5_0_image11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6_0_image114.png"/><Relationship Id="rId4" Type="http://schemas.openxmlformats.org/officeDocument/2006/relationships/image" Target="../media/ppt_img_26_1_image114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7_0_image130.png"/><Relationship Id="rId4" Type="http://schemas.openxmlformats.org/officeDocument/2006/relationships/image" Target="../media/ppt_img_27_1_image131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8_0_image131.png"/><Relationship Id="rId4" Type="http://schemas.openxmlformats.org/officeDocument/2006/relationships/image" Target="../media/ppt_img_28_1_image132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"/>
          <p:cNvSpPr txBox="1"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pt-BR">
                <a:solidFill>
                  <a:schemeClr val="lt1"/>
                </a:solidFill>
              </a:rPr>
              <a:t>MANUAL TÉCNICO</a:t>
            </a:r>
            <a:br>
              <a:rPr lang="pt-BR">
                <a:solidFill>
                  <a:schemeClr val="lt1"/>
                </a:solidFill>
              </a:rPr>
            </a:br>
            <a:r>
              <a:rPr lang="pt-BR">
                <a:solidFill>
                  <a:schemeClr val="lt1"/>
                </a:solidFill>
              </a:rPr>
              <a:t>SOAP .NET SINBDD GR09</a:t>
            </a:r>
            <a:endParaRPr dirty="0"/>
          </a:p>
        </p:txBody>
      </p:sp>
      <p:sp>
        <p:nvSpPr>
          <p:cNvPr id="97" name="Google Shape;97;p1"/>
          <p:cNvSpPr txBox="1">
            <a:spLocks noGrp="1"/>
          </p:cNvSpPr>
          <p:nvPr>
            <p:ph type="subTitle" idx="1"/>
          </p:nvPr>
        </p:nvSpPr>
        <p:spPr>
          <a:xfrm>
            <a:off x="599226" y="45720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INTEGRANTES: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JULIO ENRIQUE VICHE CASTILLO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ES" b="1">
                <a:solidFill>
                  <a:schemeClr val="lt1"/>
                </a:solidFill>
              </a:rPr>
              <a:t>GABRIEL OMAR MURILLO MEDINA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GRUPO: GR09</a:t>
            </a:r>
            <a:endParaRPr dirty="0">
              <a:solidFill>
                <a:schemeClr val="lt1"/>
              </a:solidFill>
            </a:endParaRPr>
          </a:p>
        </p:txBody>
      </p:sp>
      <p:pic>
        <p:nvPicPr>
          <p:cNvPr id="98" name="Google Shape;98;p1" descr="Resultado de imagen para es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"/>
          <p:cNvSpPr txBox="1"/>
          <p:nvPr/>
        </p:nvSpPr>
        <p:spPr>
          <a:xfrm>
            <a:off x="7619999" y="5301801"/>
            <a:ext cx="4318000" cy="1235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FECHA: 27/10/2026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ASIGNATURA: ARQUITECTURA DE SOFTWARE</a:t>
            </a:r>
            <a:endParaRPr sz="1600" b="1" i="0" u="none" strike="noStrike" cap="none" dirty="0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0" name="Google Shape;100;p1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"/>
          <p:cNvSpPr/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7" name="Google Shape;107;p2"/>
          <p:cNvSpPr txBox="1"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DESARROLLO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OBJETIVO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SERVIDOR SOAP EN JAVA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CONSOLA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ESCRITORIO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WEB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MÓVIL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CONCLUSIONES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RECOMENDACIONES</a:t>
            </a:r>
            <a:endParaRPr/>
          </a:p>
        </p:txBody>
      </p:sp>
      <p:pic>
        <p:nvPicPr>
          <p:cNvPr id="108" name="Google Shape;108;p2" descr="Resultado de imagen para AGENDA 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1522" y="1935576"/>
            <a:ext cx="6489819" cy="3007477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3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441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1.1 OBJETIVO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endParaRPr lang="es-ES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Documentar la configuración, arquitectura, ejecución y validación del conversor de unidades. El sistema ofrece clientes de consola, escritorio, web y móvil conectados a un servicio .NET / C# de tipo 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SOAP.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Las conversiones se organizan en longitud, masa y temperatura. Cada cliente inicia con autenticación usando MONSTER / MONSTER9. Los datos se mantienen en memoria; no se utiliza base de datos.</a:t>
            </a:r>
            <a:endParaRPr lang="es-MX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3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2d6d00c5bd2_0_0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g2d6d00c5bd2_0_0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/>
          </a:bodyPr>
          <a:lstStyle/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 CREACIÓN DEL SERVIDOR SOAP</a:t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endParaRPr lang="es-ES" sz="1929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.NET 8.0 SDK, Jakarta XML Web Services y Metro. Program.cs (CoreWCF / Kestrel) publica ambos endpoints en localhost:8080.</a:t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Compila desde 04. SERVIDOR con dotnet build.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g2d6d00c5bd2_0_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4" name="image53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6096000" y="3709191"/>
            <a:ext cx="3131854" cy="2179386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25" name="image54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2953500" y="3716772"/>
            <a:ext cx="3480507" cy="2164222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26" name="image55.png"/>
          <p:cNvPicPr/>
          <p:nvPr/>
        </p:nvPicPr>
        <p:blipFill>
          <a:blip r:embed="rId5"/>
          <a:srcRect/>
          <a:stretch>
            <a:fillRect/>
          </a:stretch>
        </p:blipFill>
        <p:spPr>
          <a:xfrm>
            <a:off x="234986" y="3724354"/>
            <a:ext cx="3249332" cy="2164222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0" name="Google Shape;140;p9"/>
          <p:cNvSpPr txBox="1">
            <a:spLocks noGrp="1"/>
          </p:cNvSpPr>
          <p:nvPr>
            <p:ph type="body" idx="1"/>
          </p:nvPr>
        </p:nvSpPr>
        <p:spPr>
          <a:xfrm>
            <a:off x="581192" y="2180497"/>
            <a:ext cx="8589441" cy="1248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1.2 CONTRATO DEL SERVICIO SOAP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endParaRPr lang="es-ES" sz="1350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WSDL describe las operaciones SOAP/XML de autenticación y conversión para longitud, masa y temperatura.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Autentica al usuario antes de invocar una conversión.</a:t>
            </a:r>
            <a:endParaRPr lang="es-MX"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41" name="Google Shape;141;p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2" name="image56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3174120" y="3429000"/>
            <a:ext cx="5843760" cy="2964849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43" name="image57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916342" y="3401152"/>
            <a:ext cx="2105025" cy="88582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2d624313899_0_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9" name="Google Shape;149;g2d624313899_0_5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4557900" cy="38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ARQUITECTURA DEL SERVIDOR</a:t>
            </a: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endParaRPr lang="es-ES" sz="1677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La solución separa la publicación del servicio de la lógica de conversión. Publisher inicializa Metro; los endpoints SOAP delegan autenticación y conversiones en las clases de servicio.</a:t>
            </a: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Los catálogos de unidades y las fórmulas permanecen en memoria.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50" name="Google Shape;150;g2d624313899_0_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1" name="image58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5749937" y="2870106"/>
            <a:ext cx="3268557" cy="2033588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d624313899_0_2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65" name="Google Shape;165;g2d624313899_0_26"/>
          <p:cNvSpPr txBox="1">
            <a:spLocks noGrp="1"/>
          </p:cNvSpPr>
          <p:nvPr>
            <p:ph type="body" idx="1"/>
          </p:nvPr>
        </p:nvSpPr>
        <p:spPr>
          <a:xfrm>
            <a:off x="581660" y="2108200"/>
            <a:ext cx="3048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PUBLICACIÓN DE ENDPOINTS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Program.cs (CoreWCF / Kestrel) inicia Metro en localhost:8080 y publica ServicioAutenticacion y ServicioConversion.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Mantén activo el servidor mientras se ejecutan los clientes .NET / C#.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66" name="Google Shape;166;g2d624313899_0_2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7" name="image59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3875414" y="2817286"/>
            <a:ext cx="4441055" cy="3615432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d624313899_0_7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89" name="Google Shape;189;g2d624313899_0_71"/>
          <p:cNvSpPr txBox="1">
            <a:spLocks noGrp="1"/>
          </p:cNvSpPr>
          <p:nvPr>
            <p:ph type="body" idx="1"/>
          </p:nvPr>
        </p:nvSpPr>
        <p:spPr>
          <a:xfrm>
            <a:off x="684530" y="1921510"/>
            <a:ext cx="6018600" cy="6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4140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PRUEBAS DEL SERVICIO</a:t>
            </a:r>
            <a:endParaRPr sz="167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90" name="Google Shape;190;g2d624313899_0_7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1" name="image64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5818100" y="4415104"/>
            <a:ext cx="2808980" cy="2070698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92" name="image65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2961150" y="4415104"/>
            <a:ext cx="2761232" cy="217265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93" name="image66.png"/>
          <p:cNvPicPr/>
          <p:nvPr/>
        </p:nvPicPr>
        <p:blipFill>
          <a:blip r:embed="rId5"/>
          <a:srcRect/>
          <a:stretch>
            <a:fillRect/>
          </a:stretch>
        </p:blipFill>
        <p:spPr>
          <a:xfrm>
            <a:off x="330934" y="4415104"/>
            <a:ext cx="2630216" cy="200899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94" name="image67.png"/>
          <p:cNvPicPr/>
          <p:nvPr/>
        </p:nvPicPr>
        <p:blipFill>
          <a:blip r:embed="rId6"/>
          <a:srcRect/>
          <a:stretch>
            <a:fillRect/>
          </a:stretch>
        </p:blipFill>
        <p:spPr>
          <a:xfrm>
            <a:off x="4671319" y="1994161"/>
            <a:ext cx="2849245" cy="207581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95" name="image64.png"/>
          <p:cNvPicPr/>
          <p:nvPr/>
        </p:nvPicPr>
        <p:blipFill>
          <a:blip r:embed="rId7"/>
          <a:srcRect/>
          <a:stretch>
            <a:fillRect/>
          </a:stretch>
        </p:blipFill>
        <p:spPr>
          <a:xfrm>
            <a:off x="679863" y="2724790"/>
            <a:ext cx="3776665" cy="1345186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2d624313899_0_5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21" name="Google Shape;221;g2d624313899_0_51"/>
          <p:cNvSpPr txBox="1">
            <a:spLocks noGrp="1"/>
          </p:cNvSpPr>
          <p:nvPr>
            <p:ph type="body" idx="1"/>
          </p:nvPr>
        </p:nvSpPr>
        <p:spPr>
          <a:xfrm>
            <a:off x="581200" y="1983000"/>
            <a:ext cx="8245500" cy="21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1.3 CREACIÓN DEL CLIENTE CONSOLA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s-ES" sz="1564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Crea una aplicación .NET / C# con Maven en Visual Studio / VS Code. Configura el consumo de los endpoints SOAP y separa modelo, vista y controlador.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El cliente presenta primero el formulario de autenticación y, al validar las credenciales, muestra el menú de conversión.</a:t>
            </a:r>
            <a:endParaRPr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22" name="Google Shape;222;g2d624313899_0_5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3" name="image68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4740234" y="3657435"/>
            <a:ext cx="4201160" cy="284543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224" name="image69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466506" y="3674580"/>
            <a:ext cx="4144010" cy="282829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2d624313899_0_9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39" name="Google Shape;239;g2d624313899_0_95"/>
          <p:cNvSpPr txBox="1">
            <a:spLocks noGrp="1"/>
          </p:cNvSpPr>
          <p:nvPr>
            <p:ph type="body" idx="1"/>
          </p:nvPr>
        </p:nvSpPr>
        <p:spPr>
          <a:xfrm>
            <a:off x="514824" y="914626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Modelo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ConversionRequest representa los datos de magnitud, valor y unidades que se envían al servicio.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40" name="Google Shape;240;g2d624313899_0_9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g2d624313899_0_95"/>
          <p:cNvSpPr txBox="1">
            <a:spLocks noGrp="1"/>
          </p:cNvSpPr>
          <p:nvPr>
            <p:ph type="body" idx="1"/>
          </p:nvPr>
        </p:nvSpPr>
        <p:spPr>
          <a:xfrm>
            <a:off x="4759292" y="770066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Controlador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El controlador valida la sesión, prepara las llamadas SOAP y presenta al usuario el resultado de cada conversión.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242" name="image70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4100618" y="4064763"/>
            <a:ext cx="5172027" cy="1777483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243" name="image71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811793" y="4064763"/>
            <a:ext cx="2955257" cy="1850488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2d624313899_0_11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49" name="Google Shape;249;g2d624313899_0_111"/>
          <p:cNvSpPr txBox="1">
            <a:spLocks noGrp="1"/>
          </p:cNvSpPr>
          <p:nvPr>
            <p:ph type="body" idx="1"/>
          </p:nvPr>
        </p:nvSpPr>
        <p:spPr>
          <a:xfrm>
            <a:off x="478225" y="1986150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La vista de consola guía el inicio de sesión y ofrece opciones para convertir longitud, masa o temperatura. Muestra mensajes de validación y el resultado con dos decimales.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50" name="Google Shape;250;g2d624313899_0_11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1" name="image72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4361215" y="2617179"/>
            <a:ext cx="4878474" cy="2609244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2d624313899_0_13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57" name="Google Shape;257;g2d624313899_0_138"/>
          <p:cNvSpPr txBox="1">
            <a:spLocks noGrp="1"/>
          </p:cNvSpPr>
          <p:nvPr>
            <p:ph type="body" idx="1"/>
          </p:nvPr>
        </p:nvSpPr>
        <p:spPr>
          <a:xfrm>
            <a:off x="581660" y="1930400"/>
            <a:ext cx="2413000" cy="6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Ejecución del Proyecto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58" name="Google Shape;258;g2d624313899_0_13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9" name="image116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6143877" y="3004463"/>
            <a:ext cx="2928406" cy="264367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260" name="image117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3227647" y="3004463"/>
            <a:ext cx="2808301" cy="264367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261" name="image118.png"/>
          <p:cNvPicPr/>
          <p:nvPr/>
        </p:nvPicPr>
        <p:blipFill>
          <a:blip r:embed="rId5"/>
          <a:srcRect/>
          <a:stretch>
            <a:fillRect/>
          </a:stretch>
        </p:blipFill>
        <p:spPr>
          <a:xfrm>
            <a:off x="311657" y="3004463"/>
            <a:ext cx="2808061" cy="264367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262" name="image119.png"/>
          <p:cNvPicPr/>
          <p:nvPr/>
        </p:nvPicPr>
        <p:blipFill>
          <a:blip r:embed="rId6"/>
          <a:srcRect/>
          <a:stretch>
            <a:fillRect/>
          </a:stretch>
        </p:blipFill>
        <p:spPr>
          <a:xfrm>
            <a:off x="3227647" y="1933668"/>
            <a:ext cx="2868295" cy="80327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68" name="Google Shape;268;p2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27"/>
          <p:cNvSpPr txBox="1">
            <a:spLocks noGrp="1"/>
          </p:cNvSpPr>
          <p:nvPr>
            <p:ph type="body" idx="1"/>
          </p:nvPr>
        </p:nvSpPr>
        <p:spPr>
          <a:xfrm>
            <a:off x="581200" y="190297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1.4 CREACIÓN DEL PROYECTO – CLIENTE ESCRITORIO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endParaRPr lang="es-ES" b="1"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Crea la aplicación .NET / C# de escritorio con Maven. La interfaz Swing consume los mismos endpoints SOAP y sigue el patrón Modelo-Vista-Controlador.</a:t>
            </a:r>
            <a:endParaRPr lang="es-MX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270" name="image77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2544819" y="3270983"/>
            <a:ext cx="4144010" cy="282829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1974b856cc_0_10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1" name="Google Shape;301;g31974b856cc_0_10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g31974b856cc_0_109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El cliente Swing organiza la interfaz, el estado de conversión y el consumo SOAP con el patrón MVC.</a:t>
            </a:r>
            <a:endParaRPr lang="es-MX"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04F47827-A8E1-4FFA-A232-83861B9D7BF5}"/>
              </a:ext>
            </a:extLst>
          </p:cNvPr>
          <p:cNvSpPr txBox="1"/>
          <p:nvPr/>
        </p:nvSpPr>
        <p:spPr>
          <a:xfrm>
            <a:off x="762109" y="3269217"/>
            <a:ext cx="171215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mbria"/>
                <a:ea typeface="Cambria"/>
                <a:cs typeface="Cambria"/>
                <a:sym typeface="Cambria"/>
              </a:rPr>
              <a:t>Modelo: conserva los datos de sesión y de la conversión.</a:t>
            </a:r>
            <a:endParaRPr lang="es-EC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AE216B3-B851-4BA3-899E-396EB3A18BA2}"/>
              </a:ext>
            </a:extLst>
          </p:cNvPr>
          <p:cNvSpPr txBox="1"/>
          <p:nvPr/>
        </p:nvSpPr>
        <p:spPr>
          <a:xfrm>
            <a:off x="6214191" y="4553152"/>
            <a:ext cx="263338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mbria"/>
                <a:ea typeface="Cambria"/>
                <a:cs typeface="Cambria"/>
                <a:sym typeface="Cambria"/>
              </a:rPr>
              <a:t>Controlador: valida entradas y coordina la llamada SOAP.</a:t>
            </a:r>
            <a:endParaRPr lang="es-EC" dirty="0"/>
          </a:p>
        </p:txBody>
      </p:sp>
      <p:pic>
        <p:nvPicPr>
          <p:cNvPr id="303" name="image78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2474259" y="4377212"/>
            <a:ext cx="3666875" cy="235536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304" name="image79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5925023" y="3893361"/>
            <a:ext cx="2743200" cy="4572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305" name="image80.png"/>
          <p:cNvPicPr/>
          <p:nvPr/>
        </p:nvPicPr>
        <p:blipFill>
          <a:blip r:embed="rId5"/>
          <a:srcRect/>
          <a:stretch>
            <a:fillRect/>
          </a:stretch>
        </p:blipFill>
        <p:spPr>
          <a:xfrm>
            <a:off x="2611811" y="3836431"/>
            <a:ext cx="2476500" cy="3429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306" name="image81.png"/>
          <p:cNvPicPr/>
          <p:nvPr/>
        </p:nvPicPr>
        <p:blipFill>
          <a:blip r:embed="rId6"/>
          <a:srcRect/>
          <a:stretch>
            <a:fillRect/>
          </a:stretch>
        </p:blipFill>
        <p:spPr>
          <a:xfrm>
            <a:off x="5088311" y="2609850"/>
            <a:ext cx="3019425" cy="10287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1974b856cc_0_12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9" name="Google Shape;309;g31974b856cc_0_12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g31974b856cc_0_128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 sz="180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La vista Swing contiene las ventanas de autenticación y conversión. Los controles permiten seleccionar magnitud y unidades, ingresar el valor y consultar el resultado.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11" name="image87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699248" y="2831802"/>
            <a:ext cx="8424537" cy="3324041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1974b856cc_0_13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17" name="Google Shape;317;g31974b856cc_0_13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g31974b856cc_0_137"/>
          <p:cNvSpPr txBox="1">
            <a:spLocks noGrp="1"/>
          </p:cNvSpPr>
          <p:nvPr>
            <p:ph type="body" idx="1"/>
          </p:nvPr>
        </p:nvSpPr>
        <p:spPr>
          <a:xfrm>
            <a:off x="6326975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Inicio de sesión del cliente de escritorio. Ingresa MONSTER / MONSTER9 para acceder al conversor.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19" name="image121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581192" y="2329030"/>
            <a:ext cx="5218973" cy="3336664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d6d00c5bd2_2_1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35" name="Google Shape;335;g2d6d00c5bd2_2_1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g2d6d00c5bd2_2_19"/>
          <p:cNvSpPr txBox="1">
            <a:spLocks noGrp="1"/>
          </p:cNvSpPr>
          <p:nvPr>
            <p:ph type="body" idx="1"/>
          </p:nvPr>
        </p:nvSpPr>
        <p:spPr>
          <a:xfrm>
            <a:off x="5791950" y="2411875"/>
            <a:ext cx="32289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Formulario de conversión. Selecciona la magnitud, las unidades de origen y destino, e ingresa el valor que se enviará al servicio SOAP.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37" name="image122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1131103" y="2513572"/>
            <a:ext cx="3898097" cy="3116263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3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43" name="Google Shape;343;p3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32"/>
          <p:cNvSpPr txBox="1"/>
          <p:nvPr/>
        </p:nvSpPr>
        <p:spPr>
          <a:xfrm>
            <a:off x="636600" y="1868348"/>
            <a:ext cx="8576700" cy="18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 lnSpcReduction="10000"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1.5 CREACIÓN DEL PROYECTO – CLIENTE WEB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endParaRPr lang="es-ES" sz="1800" b="1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El cliente web se ejecuta con Jetty 11 embebido en el puerto 8081. Las vistas HTML/JSP presentan las pantallas; LoginServlet y ConversionServlet gestionan la sesión y las solicitudes SOAP.</a:t>
            </a:r>
            <a:endParaRPr sz="2000" dirty="0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45" name="image100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3863999" y="3524211"/>
            <a:ext cx="4959666" cy="3037954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346" name="image101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1211356" y="3839056"/>
            <a:ext cx="2095500" cy="56197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319782968e5_0_8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77" name="Google Shape;377;g319782968e5_0_8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g319782968e5_0_88"/>
          <p:cNvSpPr txBox="1">
            <a:spLocks noGrp="1"/>
          </p:cNvSpPr>
          <p:nvPr>
            <p:ph type="body" idx="1"/>
          </p:nvPr>
        </p:nvSpPr>
        <p:spPr>
          <a:xfrm>
            <a:off x="581200" y="19444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 sz="180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Las vistas conversor.html y conversor.jsp ofrecen el formulario de conversión. ConversionServlet comunica el cliente web con el servicio SOAP.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7EBFFD51-1503-4BCA-8CB9-C70596A06975}"/>
              </a:ext>
            </a:extLst>
          </p:cNvPr>
          <p:cNvSpPr txBox="1"/>
          <p:nvPr/>
        </p:nvSpPr>
        <p:spPr>
          <a:xfrm>
            <a:off x="719417" y="4185628"/>
            <a:ext cx="262441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sym typeface="Gill Sans"/>
              </a:rPr>
              <a:t>El formulario envía los datos al Servlet y presenta el resultado de la conversión.</a:t>
            </a:r>
            <a:endParaRPr lang="es-EC" dirty="0"/>
          </a:p>
        </p:txBody>
      </p:sp>
      <p:pic>
        <p:nvPicPr>
          <p:cNvPr id="379" name="image102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3679277" y="3132944"/>
            <a:ext cx="3959600" cy="354539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380" name="image103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841168" y="3132944"/>
            <a:ext cx="1448002" cy="905001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319782968e5_0_7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85" name="Google Shape;385;g319782968e5_0_7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g319782968e5_0_73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index.html y index.jsp ofrecen el inicio de sesión. LoginServlet valida las credenciales y habilita el acceso al conversor cuando son correctas.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87" name="image109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2804070" y="2850777"/>
            <a:ext cx="4143559" cy="3708703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19782968e5_0_11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01" name="Google Shape;401;g319782968e5_0_11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g319782968e5_0_112"/>
          <p:cNvSpPr txBox="1">
            <a:spLocks noGrp="1"/>
          </p:cNvSpPr>
          <p:nvPr>
            <p:ph type="body" idx="1"/>
          </p:nvPr>
        </p:nvSpPr>
        <p:spPr>
          <a:xfrm>
            <a:off x="1039100" y="1913200"/>
            <a:ext cx="8038500" cy="180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Inicia el servidor SOAP y después el cliente web. Abre http://localhost:8081/ClienteWeb/ en el navegador para acceder al formulario de autenticación y las funciones de conversión.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03" name="image125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3135268" y="3257334"/>
            <a:ext cx="3200847" cy="3086531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g319782968e5_0_13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11" name="Google Shape;411;g319782968e5_0_13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g319782968e5_0_135"/>
          <p:cNvSpPr txBox="1">
            <a:spLocks noGrp="1"/>
          </p:cNvSpPr>
          <p:nvPr>
            <p:ph type="body" idx="1"/>
          </p:nvPr>
        </p:nvSpPr>
        <p:spPr>
          <a:xfrm>
            <a:off x="6326975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Acceso al cliente web. Ingresa MONSTER / MONSTER9; una sesión válida permite continuar a la pantalla de conversión.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13" name="image126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803359" y="2804085"/>
            <a:ext cx="5399405" cy="27559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319782968e5_0_12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19" name="Google Shape;419;g319782968e5_0_12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g319782968e5_0_123"/>
          <p:cNvSpPr txBox="1">
            <a:spLocks noGrp="1"/>
          </p:cNvSpPr>
          <p:nvPr>
            <p:ph type="body" idx="1"/>
          </p:nvPr>
        </p:nvSpPr>
        <p:spPr>
          <a:xfrm>
            <a:off x="581200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Selecciona longitud, masa o temperatura. Ingresa un valor y las unidades de origen y destino; el cliente solicita la operación al servicio y muestra el resultado con dos decimales.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21" name="image127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3686896" y="2718547"/>
            <a:ext cx="5399405" cy="28194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3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27" name="Google Shape;427;p3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37"/>
          <p:cNvSpPr txBox="1"/>
          <p:nvPr/>
        </p:nvSpPr>
        <p:spPr>
          <a:xfrm>
            <a:off x="406975" y="1921878"/>
            <a:ext cx="8576700" cy="7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1.6 CLIENTE MÓVIL</a:t>
            </a:r>
            <a:endParaRPr sz="1800" b="0" i="0" u="none" strike="noStrike" cap="none">
              <a:solidFill>
                <a:srgbClr val="3D3D3D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429" name="Google Shape;429;p37"/>
          <p:cNvSpPr txBox="1">
            <a:spLocks noGrp="1"/>
          </p:cNvSpPr>
          <p:nvPr>
            <p:ph type="body" idx="1"/>
          </p:nvPr>
        </p:nvSpPr>
        <p:spPr>
          <a:xfrm>
            <a:off x="581200" y="2253923"/>
            <a:ext cx="41781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Crea una aplicación Android con .NET / C# y una actividad vacía. Agrega HttpClient / CoreWCF y configura el acceso al servicio SOAP en localhost:8080.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En emulador o dispositivo físico, usa una dirección de host accesible desde Android.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30" name="image112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904275" y="5528800"/>
            <a:ext cx="4335775" cy="59955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431" name="image113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5410937" y="4209124"/>
            <a:ext cx="3622500" cy="19178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432" name="image114.png"/>
          <p:cNvPicPr/>
          <p:nvPr/>
        </p:nvPicPr>
        <p:blipFill>
          <a:blip r:embed="rId5"/>
          <a:srcRect/>
          <a:stretch>
            <a:fillRect/>
          </a:stretch>
        </p:blipFill>
        <p:spPr>
          <a:xfrm>
            <a:off x="6418749" y="2402189"/>
            <a:ext cx="1606875" cy="169185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2d624313899_0_15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38" name="Google Shape;438;g2d624313899_0_15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g2d624313899_0_157"/>
          <p:cNvSpPr txBox="1">
            <a:spLocks noGrp="1"/>
          </p:cNvSpPr>
          <p:nvPr>
            <p:ph type="body" idx="1"/>
          </p:nvPr>
        </p:nvSpPr>
        <p:spPr>
          <a:xfrm>
            <a:off x="581200" y="2253925"/>
            <a:ext cx="3644100" cy="3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Estructura del Proyecto (MVC)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La aplicación separa actividades de interfaz, controladores, modelos y cliente SOAP. El patrón MVC organiza el inicio de sesión y el flujo de conversión.</a:t>
            </a:r>
            <a:endParaRPr lang="es-EC" sz="1564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40" name="image113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4741537" y="2559253"/>
            <a:ext cx="3225165" cy="315976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2d624313899_0_17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46" name="Google Shape;446;g2d624313899_0_17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g2d624313899_0_172"/>
          <p:cNvSpPr txBox="1">
            <a:spLocks noGrp="1"/>
          </p:cNvSpPr>
          <p:nvPr>
            <p:ph type="body" idx="1"/>
          </p:nvPr>
        </p:nvSpPr>
        <p:spPr>
          <a:xfrm>
            <a:off x="491075" y="129425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Modelo: SoapClient.java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Usa HttpClient / CoreWCF para construir solicitudes SOAP y procesar respuestas del servicio.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48" name="Google Shape;448;g2d624313899_0_172"/>
          <p:cNvSpPr txBox="1">
            <a:spLocks noGrp="1"/>
          </p:cNvSpPr>
          <p:nvPr>
            <p:ph type="body" idx="1"/>
          </p:nvPr>
        </p:nvSpPr>
        <p:spPr>
          <a:xfrm>
            <a:off x="4698075" y="137660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Controlador: ConversionController.java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Coordina la selección de unidades, valida los datos y solicita la conversión al endpoint SOAP.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49" name="image114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4980331" y="3429000"/>
            <a:ext cx="3802710" cy="2848362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450" name="image114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491075" y="3711388"/>
            <a:ext cx="3478914" cy="2259718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2d624313899_0_19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56" name="Google Shape;456;g2d624313899_0_19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g2d624313899_0_193"/>
          <p:cNvSpPr txBox="1">
            <a:spLocks noGrp="1"/>
          </p:cNvSpPr>
          <p:nvPr>
            <p:ph type="body" idx="1"/>
          </p:nvPr>
        </p:nvSpPr>
        <p:spPr>
          <a:xfrm>
            <a:off x="491075" y="129425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Vista: LoginActivity.java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Solicita las credenciales MONSTER / MONSTER9 y dirige a la conversión tras una respuesta válida.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58" name="Google Shape;458;g2d624313899_0_193"/>
          <p:cNvSpPr txBox="1">
            <a:spLocks noGrp="1"/>
          </p:cNvSpPr>
          <p:nvPr>
            <p:ph type="body" idx="1"/>
          </p:nvPr>
        </p:nvSpPr>
        <p:spPr>
          <a:xfrm>
            <a:off x="4698075" y="137660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Vista: ConversionActivity.java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Permite elegir magnitud y unidades, ingresar el valor y consultar el resultado del servicio.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59" name="image130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5096586" y="3395466"/>
            <a:ext cx="3346888" cy="312125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460" name="image131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595071" y="3523400"/>
            <a:ext cx="3704493" cy="2290259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2d6d00c5bd2_3_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94" name="Google Shape;494;g2d6d00c5bd2_3_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g2d6d00c5bd2_3_16"/>
          <p:cNvSpPr txBox="1">
            <a:spLocks noGrp="1"/>
          </p:cNvSpPr>
          <p:nvPr>
            <p:ph type="body" idx="1"/>
          </p:nvPr>
        </p:nvSpPr>
        <p:spPr>
          <a:xfrm>
            <a:off x="581200" y="1984125"/>
            <a:ext cx="8589300" cy="11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457200" lvl="0" indent="-31798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91998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Ejecuta primero el servidor SOAP. Luego inicia la aplicación en un emulador o dispositivo Android y verifica el acceso a la dirección del host y al puerto 8080.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96" name="image131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4375360" y="3132224"/>
            <a:ext cx="1577205" cy="346975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497" name="image132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2107289" y="3132225"/>
            <a:ext cx="1720640" cy="346975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4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CONCLUSIONES</a:t>
            </a:r>
            <a:endParaRPr/>
          </a:p>
        </p:txBody>
      </p:sp>
      <p:sp>
        <p:nvSpPr>
          <p:cNvPr id="503" name="Google Shape;503;p41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300" cy="36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El sistema mantiene una lógica de conversión común para las aplicaciones de consola, escritorio, web y móvil. SOAP publica operaciones interoperables que los clientes .NET / C# consumen mediante sus herramientas correspondientes.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La autenticación se realiza antes de convertir y las unidades se organizan en tres magnitudes. La solución es SINBDD: utiliza datos en memoria y no requiere persistencia en una base de datos.</a:t>
            </a:r>
            <a:endParaRPr sz="1900" dirty="0"/>
          </a:p>
        </p:txBody>
      </p:sp>
      <p:sp>
        <p:nvSpPr>
          <p:cNvPr id="504" name="Google Shape;504;p4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RECOMENDACIONES</a:t>
            </a:r>
            <a:endParaRPr/>
          </a:p>
        </p:txBody>
      </p:sp>
      <p:sp>
        <p:nvSpPr>
          <p:cNvPr id="510" name="Google Shape;510;p42"/>
          <p:cNvSpPr txBox="1">
            <a:spLocks noGrp="1"/>
          </p:cNvSpPr>
          <p:nvPr>
            <p:ph type="body" idx="1"/>
          </p:nvPr>
        </p:nvSpPr>
        <p:spPr>
          <a:xfrm>
            <a:off x="581200" y="2025325"/>
            <a:ext cx="8500800" cy="42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Mantén el servidor activo antes de iniciar los clientes y prueba cada operación con valores conocidos.</a:t>
            </a:r>
          </a:p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Conserva sincronizados los endpoints SOAP, los modelos de solicitud y las respuestas de los cuatro clientes.</a:t>
            </a:r>
          </a:p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Al tomar capturas para el manual, incluye el inicio de sesión, una conversión por magnitud y la ejecución del servidor. Registra el valor enviado, las unidades y el resultado visible.</a:t>
            </a:r>
            <a:endParaRPr lang="es-MX" sz="1900" dirty="0"/>
          </a:p>
        </p:txBody>
      </p:sp>
      <p:sp>
        <p:nvSpPr>
          <p:cNvPr id="511" name="Google Shape;511;p4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2320</Words>
  <Application>Microsoft Office PowerPoint</Application>
  <PresentationFormat>Panorámica</PresentationFormat>
  <Paragraphs>489</Paragraphs>
  <Slides>30</Slides>
  <Notes>30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6" baseType="lpstr">
      <vt:lpstr>Gill Sans</vt:lpstr>
      <vt:lpstr>Arial</vt:lpstr>
      <vt:lpstr>Calibri</vt:lpstr>
      <vt:lpstr>Cambria</vt:lpstr>
      <vt:lpstr>Noto Sans Symbols</vt:lpstr>
      <vt:lpstr>Dividendo</vt:lpstr>
      <vt:lpstr>MANUAL TÉCNICO SOAP JAVA SINBDD GR09</vt:lpstr>
      <vt:lpstr>Presentación de PowerPoint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CONCLUSIONES</vt:lpstr>
      <vt:lpstr>RECOMENDACIONES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Manual Técnico SOAP Java SINBDD GR09</dc:title>
  <dc:creator>Murillo Medina, Gabriel Omar; Viche Castillo, Julio Enrique</dc:creator>
  <cp:lastModifiedBy>Murillo Medina, Gabriel Omar; Viche Castillo, Julio Enrique</cp:lastModifiedBy>
  <cp:revision>5</cp:revision>
  <dcterms:created xsi:type="dcterms:W3CDTF">2026-10-28T05:41:41Z</dcterms:created>
  <dcterms:modified xsi:type="dcterms:W3CDTF">2026-10-28T05:41:41Z</dcterms:modified>
</cp:coreProperties>
</file>