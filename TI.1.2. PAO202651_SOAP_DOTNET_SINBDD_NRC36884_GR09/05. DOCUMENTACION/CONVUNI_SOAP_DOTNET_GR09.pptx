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70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3" r:id="rId18"/>
    <p:sldId id="284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301" r:id="rId29"/>
    <p:sldId id="302" r:id="rId30"/>
    <p:sldId id="303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Gill Sans" panose="020B060402020202020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243138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2d6243138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2431389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d62431389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62431389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d62431389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974b856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1974b856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974b856c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31974b856c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974b856c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g31974b856c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d00c5bd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d6d00c5bd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9782968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319782968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782968e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19782968e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9782968e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19782968e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9782968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g319782968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782968e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319782968e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62431389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g2d62431389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243138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2d6243138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243138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g2d6243138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d00c5bd2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g2d6d00c5bd2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4_0_image53.png"/><Relationship Id="rId4" Type="http://schemas.openxmlformats.org/officeDocument/2006/relationships/image" Target="../media/ppt_img_4_1_image54.png"/><Relationship Id="rId5" Type="http://schemas.openxmlformats.org/officeDocument/2006/relationships/image" Target="../media/ppt_img_4_2_image5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5_0_image56.png"/><Relationship Id="rId4" Type="http://schemas.openxmlformats.org/officeDocument/2006/relationships/image" Target="../media/ppt_img_5_1_image5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6_0_image5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7_0_image5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8_0_image64.png"/><Relationship Id="rId4" Type="http://schemas.openxmlformats.org/officeDocument/2006/relationships/image" Target="../media/ppt_img_8_1_image65.png"/><Relationship Id="rId5" Type="http://schemas.openxmlformats.org/officeDocument/2006/relationships/image" Target="../media/ppt_img_8_2_image66.png"/><Relationship Id="rId6" Type="http://schemas.openxmlformats.org/officeDocument/2006/relationships/image" Target="../media/ppt_img_8_3_image67.png"/><Relationship Id="rId7" Type="http://schemas.openxmlformats.org/officeDocument/2006/relationships/image" Target="../media/ppt_img_8_4_image6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9_0_image68.png"/><Relationship Id="rId4" Type="http://schemas.openxmlformats.org/officeDocument/2006/relationships/image" Target="../media/ppt_img_9_1_image6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0_0_image70.png"/><Relationship Id="rId4" Type="http://schemas.openxmlformats.org/officeDocument/2006/relationships/image" Target="../media/ppt_img_10_1_image7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1_0_image7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2_0_image116.png"/><Relationship Id="rId4" Type="http://schemas.openxmlformats.org/officeDocument/2006/relationships/image" Target="../media/ppt_img_12_1_image117.png"/><Relationship Id="rId5" Type="http://schemas.openxmlformats.org/officeDocument/2006/relationships/image" Target="../media/ppt_img_12_2_image118.png"/><Relationship Id="rId6" Type="http://schemas.openxmlformats.org/officeDocument/2006/relationships/image" Target="../media/ppt_img_12_3_image1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3_0_image7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4_0_image78.png"/><Relationship Id="rId4" Type="http://schemas.openxmlformats.org/officeDocument/2006/relationships/image" Target="../media/ppt_img_14_1_image79.png"/><Relationship Id="rId5" Type="http://schemas.openxmlformats.org/officeDocument/2006/relationships/image" Target="../media/ppt_img_14_2_image80.png"/><Relationship Id="rId6" Type="http://schemas.openxmlformats.org/officeDocument/2006/relationships/image" Target="../media/ppt_img_14_3_image8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5_0_image8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6_0_image1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7_0_image1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8_0_image100.png"/><Relationship Id="rId4" Type="http://schemas.openxmlformats.org/officeDocument/2006/relationships/image" Target="../media/ppt_img_18_1_image10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19_0_image102.png"/><Relationship Id="rId4" Type="http://schemas.openxmlformats.org/officeDocument/2006/relationships/image" Target="../media/ppt_img_19_1_image10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0_0_image10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1_0_image1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2_0_image1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3_0_image1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4_0_image112.png"/><Relationship Id="rId4" Type="http://schemas.openxmlformats.org/officeDocument/2006/relationships/image" Target="../media/ppt_img_24_1_image113.png"/><Relationship Id="rId5" Type="http://schemas.openxmlformats.org/officeDocument/2006/relationships/image" Target="../media/ppt_img_24_2_image1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5_0_image1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6_0_image114.png"/><Relationship Id="rId4" Type="http://schemas.openxmlformats.org/officeDocument/2006/relationships/image" Target="../media/ppt_img_26_1_image1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7_0_image130.png"/><Relationship Id="rId4" Type="http://schemas.openxmlformats.org/officeDocument/2006/relationships/image" Target="../media/ppt_img_27_1_image1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ppt_img_28_0_image131.png"/><Relationship Id="rId4" Type="http://schemas.openxmlformats.org/officeDocument/2006/relationships/image" Target="../media/ppt_img_28_1_image13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pt-BR">
                <a:solidFill>
                  <a:schemeClr val="lt1"/>
                </a:solidFill>
              </a:rPr>
              <a:t>MANUAL TÉCNICO</a:t>
            </a:r>
            <a:br>
              <a:rPr lang="pt-BR">
                <a:solidFill>
                  <a:schemeClr val="lt1"/>
                </a:solidFill>
              </a:rPr>
            </a:br>
            <a:r>
              <a:rPr lang="pt-BR">
                <a:solidFill>
                  <a:schemeClr val="lt1"/>
                </a:solidFill>
              </a:rPr>
              <a:t>SOAP .NET SINBDD GR09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INTEGRANTES: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JULIO ENRIQUE VICHE CASTILLO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b="1">
                <a:solidFill>
                  <a:schemeClr val="lt1"/>
                </a:solidFill>
              </a:rPr>
              <a:t>GABRIEL OMAR MURILLO MEDINA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es-ES" b="1">
                <a:solidFill>
                  <a:schemeClr val="lt1"/>
                </a:solidFill>
              </a:rPr>
              <a:t>GRUPO: GR09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7619999" y="5301801"/>
            <a:ext cx="4318000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27/10/2026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ASIGNATURA: ARQUITECTURA DE SOFTWARE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.NET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CONSOLA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ESCRITORIO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WEB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CREACIÓN DEL PROYECTO – CLIENTE MÓVIL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</a:p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1.1 OBJETIVO Sistema .NET 10/C# 14: servidor ASP.NET Core 10/Kestrel con SOAP 1.1/XML en TCP 8733; clientes .NET de consola, WPF, web y Android MAUI. El móvil usa XAML y HttpClient, sin campo de URL. Login MONSTER/MONSTER9; datos en memoria (SINBDD).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endParaRPr lang="es-ES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/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SOAP.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Las conversiones se organizan en longitud, masa y temperatura. Cada cliente inicia con autenticación usando MONSTER / MONSTER9. Los datos se mantienen en memoria; no se utiliza base de datos.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 CREACIÓN DEL SERVIDOR SOAP Servidor C# 14/.NET 10 con ASP.NET Core 10 y Kestrel. ManejadorSOAP procesa SOAP 1.1/XML y genera WSDL. Escucha en TCP 8733. Compila con dotnet build.</a:t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endParaRPr lang="es-ES" sz="1929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/>
            </a:r>
          </a:p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Compila desde 04. SERVIDOR con dotnet build.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image5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3709191"/>
            <a:ext cx="3131854" cy="2179386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25" name="image54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953500" y="3716772"/>
            <a:ext cx="3480507" cy="216422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26" name="image55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234986" y="3724354"/>
            <a:ext cx="3249332" cy="216422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1.2 CONTRATO DEL SERVICIO SOAP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endParaRPr lang="es-ES" sz="1350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WSDL describe las operaciones SOAP/XML de autenticación y conversión para longitud, masa y temperatura.</a:t>
            </a:r>
          </a:p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>
                <a:latin typeface="Cambria"/>
                <a:ea typeface="Cambria"/>
                <a:cs typeface="Cambria"/>
                <a:sym typeface="Cambria"/>
              </a:rPr>
              <a:t>Autentica al usuario antes de invocar una conversión.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image5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74120" y="3429000"/>
            <a:ext cx="5843760" cy="2964849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43" name="image57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916342" y="3401152"/>
            <a:ext cx="2105025" cy="88582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ARQUITECTURA DEL SERVIDOR ASP.NET Core inicia Kestrel y enruta las solicitudes a ManejadorSOAP, que procesa SOAP 1.1 y delega autenticación y conversiones. Escucha en el puerto 8733; los datos permanecen en memoria.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endParaRPr lang="es-ES" sz="1677" b="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La solución separa la publicación del servicio de la lógica de conversión. ASP.NET Core inicia Kestrel y enruta las solicitudes a ManejadorSOAP, que procesa SOAP 1.1 y delega autenticación y conversiones. Escucha en el puerto 8733.</a:t>
            </a: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>
                <a:latin typeface="Cambria"/>
                <a:ea typeface="Cambria"/>
                <a:cs typeface="Cambria"/>
                <a:sym typeface="Cambria"/>
              </a:rPr>
              <a:t>Los catálogos de unidades y las fórmulas permanecen en memoria.</a:t>
            </a: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image5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749937" y="2870106"/>
            <a:ext cx="3268557" cy="203358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581660" y="2108200"/>
            <a:ext cx="30480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PUBLICACIÓN DE ENDPOINTS Program.cs configura Kestrel y publica ManejadorSOAP en las rutas de autenticación y conversión del puerto 8733. Mantén el servidor activo mientras se ejecutan los clientes .NET.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Program.cs configura Kestrel y publica ManejadorSOAP en las rutas de autenticación y conversión del puerto 8733.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Mantén activo el servidor mientras se ejecutan los clientes .NET / C#.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image59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875414" y="2817286"/>
            <a:ext cx="4441055" cy="361543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530" y="1921510"/>
            <a:ext cx="60186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image6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8100" y="4415104"/>
            <a:ext cx="2808980" cy="207069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2" name="image65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961150" y="4415104"/>
            <a:ext cx="2761232" cy="21726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3" name="image66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30934" y="4415104"/>
            <a:ext cx="2630216" cy="200899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4" name="image67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4671319" y="1994161"/>
            <a:ext cx="2849245" cy="207581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195" name="image64.png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679863" y="2724790"/>
            <a:ext cx="3776665" cy="1345186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1.3 CREACIÓN DEL CLIENTE CONSOLA Cliente de consola C#/.NET 10. Consume SOAP 1.1/XML por HTTP y separa modelo, vista y controlador; inicia con autenticación.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cliente presenta primero el formulario de autenticación y, al validar las credenciales, muestra el menú de conversión.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image6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740234" y="3657435"/>
            <a:ext cx="4201160" cy="284543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24" name="image69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66506" y="3674580"/>
            <a:ext cx="4144010" cy="282829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9" name="Google Shape;239;g2d624313899_0_95"/>
          <p:cNvSpPr txBox="1">
            <a:spLocks noGrp="1"/>
          </p:cNvSpPr>
          <p:nvPr>
            <p:ph type="body" idx="1"/>
          </p:nvPr>
        </p:nvSpPr>
        <p:spPr>
          <a:xfrm>
            <a:off x="514824" y="91462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Modelo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ConversionRequest representa los datos de magnitud, valor y unidades que se envían al servicio.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g2d624313899_0_9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d624313899_0_95"/>
          <p:cNvSpPr txBox="1">
            <a:spLocks noGrp="1"/>
          </p:cNvSpPr>
          <p:nvPr>
            <p:ph type="body" idx="1"/>
          </p:nvPr>
        </p:nvSpPr>
        <p:spPr>
          <a:xfrm>
            <a:off x="4759292" y="770066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El controlador valida la sesión, prepara las llamadas SOAP y presenta al usuario el resultado de cada conversión.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42" name="image7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100618" y="4064763"/>
            <a:ext cx="5172027" cy="1777483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43" name="image7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11793" y="4064763"/>
            <a:ext cx="2955257" cy="185048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9" name="Google Shape;249;g2d624313899_0_111"/>
          <p:cNvSpPr txBox="1">
            <a:spLocks noGrp="1"/>
          </p:cNvSpPr>
          <p:nvPr>
            <p:ph type="body" idx="1"/>
          </p:nvPr>
        </p:nvSpPr>
        <p:spPr>
          <a:xfrm>
            <a:off x="478225" y="1986150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 del Proyecto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La vista de consola guía el inicio de sesión y ofrece opciones para convertir longitud, masa o temperatura. Muestra mensajes de validación y el resultado con dos decimales.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g2d624313899_0_1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image7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361215" y="2617179"/>
            <a:ext cx="4878474" cy="2609244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7" name="Google Shape;257;g2d624313899_0_138"/>
          <p:cNvSpPr txBox="1">
            <a:spLocks noGrp="1"/>
          </p:cNvSpPr>
          <p:nvPr>
            <p:ph type="body" idx="1"/>
          </p:nvPr>
        </p:nvSpPr>
        <p:spPr>
          <a:xfrm>
            <a:off x="581660" y="1930400"/>
            <a:ext cx="2413000" cy="6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Ejecución del Proyecto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g2d624313899_0_1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image11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143877" y="3004463"/>
            <a:ext cx="2928406" cy="26436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60" name="image117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227647" y="3004463"/>
            <a:ext cx="2808301" cy="26436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61" name="image118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11657" y="3004463"/>
            <a:ext cx="2808061" cy="26436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262" name="image119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3227647" y="1933668"/>
            <a:ext cx="2868295" cy="8032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1.4 CREACIÓN DEL CLIENTE DE ESCRITORIO Cliente C#/.NET 10 para Windows, implementado con WPF. Consume SOAP/XML por HTTP mediante MVC.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endParaRPr lang="es-ES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/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70" name="image77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544819" y="3270983"/>
            <a:ext cx="4144010" cy="282829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1" name="Google Shape;301;g31974b856cc_0_10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974b856cc_0_109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/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 txBox="1"/>
          <p:nvPr/>
        </p:nvSpPr>
        <p:spPr>
          <a:xfrm>
            <a:off x="762109" y="3269217"/>
            <a:ext cx="1712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Modelo: conserva los datos de sesión y de la conversión.</a:t>
            </a:r>
            <a:endParaRPr lang="es-EC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 txBox="1"/>
          <p:nvPr/>
        </p:nvSpPr>
        <p:spPr>
          <a:xfrm>
            <a:off x="6214191" y="4553152"/>
            <a:ext cx="26333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Controlador: valida entradas y coordina la llamada SOAP.</a:t>
            </a:r>
            <a:endParaRPr lang="es-EC" dirty="0"/>
          </a:p>
        </p:txBody>
      </p:sp>
      <p:pic>
        <p:nvPicPr>
          <p:cNvPr id="303" name="image78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474259" y="4377212"/>
            <a:ext cx="3666875" cy="235536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04" name="image79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925023" y="3893361"/>
            <a:ext cx="2743200" cy="4572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05" name="image80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2611811" y="3836431"/>
            <a:ext cx="2476500" cy="3429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06" name="image81.png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5088311" y="2609850"/>
            <a:ext cx="3019425" cy="10287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9" name="Google Shape;309;g31974b856cc_0_1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974b856cc_0_128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11" name="image87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99248" y="2831802"/>
            <a:ext cx="8424537" cy="332404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7" name="Google Shape;317;g31974b856cc_0_1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974b856cc_0_137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Inicio de sesión del cliente de escritorio. Ingresa MONSTER / MONSTER9 para acceder al conversor.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19" name="image121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192" y="2329030"/>
            <a:ext cx="5218973" cy="3336664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g2d6d00c5bd2_2_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d6d00c5bd2_2_19"/>
          <p:cNvSpPr txBox="1"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Formulario de conversión. Selecciona la magnitud, las unidades de origen y destino, e ingresa el valor que se enviará al servicio SOAP.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37" name="image12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31103" y="2513572"/>
            <a:ext cx="3898097" cy="3116263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1.5 CREACIÓN DEL CLIENTE WEB Cliente web C#/.NET 10 con ASP.NET Core. Consume los endpoints SOAP por HTTP para autenticación y conversión.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lang="es-ES" sz="1800" b="1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/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45" name="image10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863999" y="3524211"/>
            <a:ext cx="4959666" cy="3037954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46" name="image10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211356" y="3839056"/>
            <a:ext cx="2095500" cy="56197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7" name="Google Shape;377;g319782968e5_0_8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19782968e5_0_88"/>
          <p:cNvSpPr txBox="1"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80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Las vistas conversor.html y conversor.jsp ofrecen el formulario de conversión. ConversionServlet comunica el cliente web con el servicio SOAP.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 txBox="1"/>
          <p:nvPr/>
        </p:nvSpPr>
        <p:spPr>
          <a:xfrm>
            <a:off x="719417" y="4185628"/>
            <a:ext cx="26244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El formulario envía los datos al Servlet y presenta el resultado de la conversión.</a:t>
            </a:r>
            <a:endParaRPr lang="es-EC" dirty="0"/>
          </a:p>
        </p:txBody>
      </p:sp>
      <p:pic>
        <p:nvPicPr>
          <p:cNvPr id="379" name="image10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79277" y="3132944"/>
            <a:ext cx="3959600" cy="354539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380" name="image103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41168" y="3132944"/>
            <a:ext cx="1448002" cy="90500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5" name="Google Shape;385;g319782968e5_0_7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9782968e5_0_73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index.html y index.jsp ofrecen el inicio de sesión. LoginServlet valida las credenciales y habilita el acceso al conversor cuando son correctas.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87" name="image109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804070" y="2850777"/>
            <a:ext cx="4143559" cy="3708703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19782968e5_0_11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9782968e5_0_112"/>
          <p:cNvSpPr txBox="1"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Inicia el servidor SOAP y después el cliente web. Abre http://localhost:8081/ClienteWeb/ en el navegador para acceder al formulario de autenticación y las funciones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03" name="image125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35268" y="3257334"/>
            <a:ext cx="3200847" cy="3086531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1" name="Google Shape;411;g319782968e5_0_1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19782968e5_0_135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Acceso al cliente web. Ingresa MONSTER / MONSTER9; una sesión válida permite continuar a la pantalla de conversión.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13" name="image12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03359" y="2804085"/>
            <a:ext cx="5399405" cy="27559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9" name="Google Shape;419;g319782968e5_0_1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19782968e5_0_123"/>
          <p:cNvSpPr txBox="1"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Selecciona longitud, masa o temperatura. Ingresa un valor y las unidades de origen y destino; el cliente solicita la operación al servicio y muestra el resultado con dos decimales.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21" name="image127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86896" y="2718547"/>
            <a:ext cx="5399405" cy="28194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 CLIENTE MÓVIL Cliente Android .NET MAUI 10, C# 14, XAML, HttpClient, net10.0-android y API mínima 21. Envía SOAP 1.1/XML al servidor ASP.NET Core. Hotspot: 192.168.137.1:8733; emulador: 10.0.2.2:8733.</a:t>
            </a: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30" name="image112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904275" y="5528800"/>
            <a:ext cx="4335775" cy="5995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31" name="image113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410937" y="4209124"/>
            <a:ext cx="3622500" cy="191780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32" name="image114.png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418749" y="2402189"/>
            <a:ext cx="1606875" cy="16918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8" name="Google Shape;438;g2d624313899_0_1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d624313899_0_157"/>
          <p:cNvSpPr txBox="1"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Estructura del proyecto MAUI: páginas XAML, lógica C# y SoapClient.cs. El flujo móvil implementa autenticación y conversión.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  <a:endParaRPr lang="es-EC" sz="1564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40" name="image113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741537" y="2559253"/>
            <a:ext cx="3225165" cy="315976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6" name="Google Shape;446;g2d624313899_0_17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624313899_0_172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SoapClient.cs usa HttpClient y XML para enviar solicitudes SOAP 1.1 y procesar respuestas.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/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2d624313899_0_172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Controlador C# coordina unidades, valida datos y solicita la conversión SOAP.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Coordina la selección de unidades, valida los datos y solicita la conversión al endpoint SOAP.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49" name="image114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980331" y="3429000"/>
            <a:ext cx="3802710" cy="2848362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50" name="image114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91075" y="3711388"/>
            <a:ext cx="3478914" cy="2259718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6" name="Google Shape;456;g2d624313899_0_19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d624313899_0_193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LoginPage solicita MONSTER / MONSTER9 y continúa al conversor tras autenticarse.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Solicita las credenciales MONSTER / MONSTER9 y dirige a la conversión tras una respuesta válida.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8" name="Google Shape;458;g2d624313899_0_193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MainPage permite elegir magnitud/unidades, ingresar un valor y consultar el resultado SOAP.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Permite elegir magnitud y unidades, ingresar el valor y consultar el resultado del servicio.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59" name="image130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096586" y="3395466"/>
            <a:ext cx="3346888" cy="3121255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60" name="image131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95071" y="3523400"/>
            <a:ext cx="3704493" cy="2290259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4" name="Google Shape;494;g2d6d00c5bd2_3_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d6d00c5bd2_3_16"/>
          <p:cNvSpPr txBox="1"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/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96" name="image131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375360" y="3132224"/>
            <a:ext cx="1577205" cy="34697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  <p:pic>
        <p:nvPicPr>
          <p:cNvPr id="497" name="image132.png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107289" y="3132225"/>
            <a:ext cx="1720640" cy="3469750"/>
          </a:xfrm>
          <a:prstGeom prst="rect">
            <a:avLst/>
          </a:prstGeom>
          <a:ln w="12700">
            <a:solidFill>
              <a:srgbClr val="CCCCCC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El sistema mantiene una lógica de conversión común para las aplicaciones de consola, escritorio, web y móvil. SOAP publica operaciones interoperables que los clientes .NET / C# consumen mediante sus herramientas correspondientes.</a:t>
            </a: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La autenticación se realiza antes de convertir y las unidades se organizan en tres magnitudes. La solución es SINBDD: utiliza datos en memoria y no requiere persistencia en una base de datos.</a:t>
            </a:r>
            <a:endParaRPr sz="1900" dirty="0"/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Mantén el servidor activo antes de iniciar los clientes y prueba cada operación con valores conocidos.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Conserva sincronizados los endpoints SOAP, los modelos de solicitud y las respuestas de los cuatro clientes.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ES" sz="1900"/>
              <a:t>Al tomar capturas para el manual, incluye el inicio de sesión, una conversión por magnitud y la ejecución del servidor. Registra el valor enviado, las unidades y el resultado visible.</a:t>
            </a:r>
            <a:endParaRPr lang="es-MX" sz="1900" dirty="0"/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2320</Words>
  <Application>Microsoft Office PowerPoint</Application>
  <PresentationFormat>Panorámica</PresentationFormat>
  <Paragraphs>489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Gill Sans</vt:lpstr>
      <vt:lpstr>Arial</vt:lpstr>
      <vt:lpstr>Calibri</vt:lpstr>
      <vt:lpstr>Cambria</vt:lpstr>
      <vt:lpstr>Noto Sans Symbols</vt:lpstr>
      <vt:lpstr>Dividendo</vt:lpstr>
      <vt:lpstr>MANUAL TÉCNICO SOAP JAVA SINBDD GR09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Técnico SOAP Java SINBDD GR09</dc:title>
  <dc:creator>Murillo Medina, Gabriel Omar; Viche Castillo, Julio Enrique</dc:creator>
  <cp:lastModifiedBy>Murillo Medina, Gabriel Omar; Viche Castillo, Julio Enrique</cp:lastModifiedBy>
  <cp:revision>5</cp:revision>
  <dcterms:created xsi:type="dcterms:W3CDTF">2026-10-28T05:41:41Z</dcterms:created>
  <dcterms:modified xsi:type="dcterms:W3CDTF">2026-10-28T05:41:41Z</dcterms:modified>
</cp:coreProperties>
</file>