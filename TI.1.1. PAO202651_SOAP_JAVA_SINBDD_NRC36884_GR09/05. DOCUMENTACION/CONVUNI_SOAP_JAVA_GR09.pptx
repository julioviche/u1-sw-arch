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4" r:id="rId8"/>
    <p:sldId id="267" r:id="rId9"/>
    <p:sldId id="270" r:id="rId10"/>
    <p:sldId id="272" r:id="rId11"/>
    <p:sldId id="273" r:id="rId12"/>
    <p:sldId id="274" r:id="rId13"/>
    <p:sldId id="275" r:id="rId14"/>
    <p:sldId id="279" r:id="rId15"/>
    <p:sldId id="280" r:id="rId16"/>
    <p:sldId id="281" r:id="rId17"/>
    <p:sldId id="283" r:id="rId18"/>
    <p:sldId id="284" r:id="rId19"/>
    <p:sldId id="288" r:id="rId20"/>
    <p:sldId id="289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301" r:id="rId29"/>
    <p:sldId id="302" r:id="rId30"/>
    <p:sldId id="303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Cambria" panose="02040503050406030204" pitchFamily="18" charset="0"/>
      <p:regular r:id="rId37"/>
      <p:bold r:id="rId38"/>
      <p:italic r:id="rId39"/>
      <p:boldItalic r:id="rId40"/>
    </p:embeddedFont>
    <p:embeddedFont>
      <p:font typeface="Gill Sans" panose="020B0604020202020204" charset="0"/>
      <p:regular r:id="rId41"/>
      <p:bold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55" roundtripDataSignature="AMtx7mhoWsaXMVBtv1HF1G3ccxKxe1iU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55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2d6d00c5b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2d6d00c5b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d62431389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" name="Google Shape;146;g2d62431389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d624313899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2" name="Google Shape;162;g2d624313899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2d6243138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6" name="Google Shape;186;g2d6243138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d62431389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2d62431389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d6243138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6" name="Google Shape;236;g2d6243138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d624313899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6" name="Google Shape;246;g2d624313899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d624313899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54" name="Google Shape;254;g2d624313899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5" name="Google Shape;26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1974b856cc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8" name="Google Shape;298;g31974b856cc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1974b856cc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6" name="Google Shape;306;g31974b856cc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1974b856cc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4" name="Google Shape;314;g31974b856cc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d6d00c5bd2_2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2d6d00c5bd2_2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0" name="Google Shape;34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9782968e5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4" name="Google Shape;374;g319782968e5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19782968e5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2" name="Google Shape;382;g319782968e5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19782968e5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8" name="Google Shape;398;g319782968e5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19782968e5_0_1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8" name="Google Shape;408;g319782968e5_0_1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19782968e5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6" name="Google Shape;416;g319782968e5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24" name="Google Shape;424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2d624313899_0_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35" name="Google Shape;435;g2d624313899_0_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2d624313899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43" name="Google Shape;443;g2d624313899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d62431389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53" name="Google Shape;453;g2d62431389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d6d00c5bd2_3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91" name="Google Shape;491;g2d6d00c5bd2_3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0" name="Google Shape;500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07" name="Google Shape;507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6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4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7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7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8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8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48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9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9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9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49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9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4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5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50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50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5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5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52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52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52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5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5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5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54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3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5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5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55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55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55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55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55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4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3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3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4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4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4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44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4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44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ns0:Relationships xmlns:ns0="http://schemas.openxmlformats.org/package/2006/relationships"><ns0:Relationship Id="rId2" Type="http://schemas.openxmlformats.org/officeDocument/2006/relationships/notesSlide" Target="../notesSlides/notesSlide4.xml" /><ns0:Relationship Id="rId1" Type="http://schemas.openxmlformats.org/officeDocument/2006/relationships/slideLayout" Target="../slideLayouts/slideLayout2.xml" /><ns0:Relationship Id="rId101" Type="http://schemas.openxmlformats.org/officeDocument/2006/relationships/image" Target="../media/soap_server_pom.png" /><ns0:Relationship Id="rId102" Type="http://schemas.openxmlformats.org/officeDocument/2006/relationships/image" Target="../media/soap_server_endpoint.png" /><ns0:Relationship Id="rId103" Type="http://schemas.openxmlformats.org/officeDocument/2006/relationships/image" Target="../media/soap_server_paquetes.png" /></ns0: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ns0:Relationships xmlns:ns0="http://schemas.openxmlformats.org/package/2006/relationships"><ns0:Relationship Id="rId2" Type="http://schemas.openxmlformats.org/officeDocument/2006/relationships/notesSlide" Target="../notesSlides/notesSlide7.xml" /><ns0:Relationship Id="rId1" Type="http://schemas.openxmlformats.org/officeDocument/2006/relationships/slideLayout" Target="../slideLayouts/slideLayout2.xml" /><ns0:Relationship Id="rId104" Type="http://schemas.openxmlformats.org/officeDocument/2006/relationships/image" Target="../media/soap_server_publisher_exec.png" /></ns0:Relationships>
</file>

<file path=ppt/slides/_rels/slide8.xml.rels><ns0:Relationships xmlns:ns0="http://schemas.openxmlformats.org/package/2006/relationships"><ns0:Relationship Id="rId2" Type="http://schemas.openxmlformats.org/officeDocument/2006/relationships/notesSlide" Target="../notesSlides/notesSlide8.xml" /><ns0:Relationship Id="rId1" Type="http://schemas.openxmlformats.org/officeDocument/2006/relationships/slideLayout" Target="../slideLayouts/slideLayout2.xml" /><ns0:Relationship Id="rId105" Type="http://schemas.openxmlformats.org/officeDocument/2006/relationships/image" Target="../media/soap_server_wsdl_browser.png" /></ns0: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ns0:Relationships xmlns:ns0="http://schemas.openxmlformats.org/package/2006/relationships"><ns0:Relationship Id="rId2" Type="http://schemas.openxmlformats.org/officeDocument/2006/relationships/notesSlide" Target="../notesSlides/notesSlide12.xml" /><ns0:Relationship Id="rId1" Type="http://schemas.openxmlformats.org/officeDocument/2006/relationships/slideLayout" Target="../slideLayouts/slideLayout2.xml" /><ns0:Relationship Id="rId201" Type="http://schemas.openxmlformats.org/officeDocument/2006/relationships/image" Target="../media/soap_clicon_login.png" /><ns0:Relationship Id="rId202" Type="http://schemas.openxmlformats.org/officeDocument/2006/relationships/image" Target="../media/soap_clicon_longitud.png" /><ns0:Relationship Id="rId203" Type="http://schemas.openxmlformats.org/officeDocument/2006/relationships/image" Target="../media/soap_clicon_masa.png" /><ns0:Relationship Id="rId204" Type="http://schemas.openxmlformats.org/officeDocument/2006/relationships/image" Target="../media/soap_clicon_temperatura.png" /></ns0: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ns0:Relationships xmlns:ns0="http://schemas.openxmlformats.org/package/2006/relationships"><ns0:Relationship Id="rId2" Type="http://schemas.openxmlformats.org/officeDocument/2006/relationships/notesSlide" Target="../notesSlides/notesSlide16.xml" /><ns0:Relationship Id="rId1" Type="http://schemas.openxmlformats.org/officeDocument/2006/relationships/slideLayout" Target="../slideLayouts/slideLayout2.xml" /><ns0:Relationship Id="rId301" Type="http://schemas.openxmlformats.org/officeDocument/2006/relationships/image" Target="../media/soap_cliesc_login.png" /></ns0:Relationships>
</file>

<file path=ppt/slides/_rels/slide17.xml.rels><ns0:Relationships xmlns:ns0="http://schemas.openxmlformats.org/package/2006/relationships"><ns0:Relationship Id="rId2" Type="http://schemas.openxmlformats.org/officeDocument/2006/relationships/notesSlide" Target="../notesSlides/notesSlide17.xml" /><ns0:Relationship Id="rId1" Type="http://schemas.openxmlformats.org/officeDocument/2006/relationships/slideLayout" Target="../slideLayouts/slideLayout2.xml" /><ns0:Relationship Id="rId302" Type="http://schemas.openxmlformats.org/officeDocument/2006/relationships/image" Target="../media/soap_cliesc_conversion.png" /></ns0: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ns0:Relationships xmlns:ns0="http://schemas.openxmlformats.org/package/2006/relationships"><ns0:Relationship Id="rId2" Type="http://schemas.openxmlformats.org/officeDocument/2006/relationships/notesSlide" Target="../notesSlides/notesSlide19.xml" /><ns0:Relationship Id="rId1" Type="http://schemas.openxmlformats.org/officeDocument/2006/relationships/slideLayout" Target="../slideLayouts/slideLayout2.xml" /><ns0:Relationship Id="rId401" Type="http://schemas.openxmlformats.org/officeDocument/2006/relationships/image" Target="../media/soap_cliweb_conversion.png" /></ns0:Relationships>
</file>

<file path=ppt/slides/_rels/slide20.xml.rels><ns0:Relationships xmlns:ns0="http://schemas.openxmlformats.org/package/2006/relationships"><ns0:Relationship Id="rId2" Type="http://schemas.openxmlformats.org/officeDocument/2006/relationships/notesSlide" Target="../notesSlides/notesSlide20.xml" /><ns0:Relationship Id="rId1" Type="http://schemas.openxmlformats.org/officeDocument/2006/relationships/slideLayout" Target="../slideLayouts/slideLayout2.xml" /><ns0:Relationship Id="rId402" Type="http://schemas.openxmlformats.org/officeDocument/2006/relationships/image" Target="../media/soap_cliweb_login.png" /></ns0:Relationships>
</file>

<file path=ppt/slides/_rels/slide21.xml.rels><ns0:Relationships xmlns:ns0="http://schemas.openxmlformats.org/package/2006/relationships"><ns0:Relationship Id="rId2" Type="http://schemas.openxmlformats.org/officeDocument/2006/relationships/notesSlide" Target="../notesSlides/notesSlide21.xml" /><ns0:Relationship Id="rId1" Type="http://schemas.openxmlformats.org/officeDocument/2006/relationships/slideLayout" Target="../slideLayouts/slideLayout2.xml" /><ns0:Relationship Id="rId403" Type="http://schemas.openxmlformats.org/officeDocument/2006/relationships/image" Target="../media/soap_cliweb_conversion.png" /></ns0:Relationships>
</file>

<file path=ppt/slides/_rels/slide22.xml.rels><ns0:Relationships xmlns:ns0="http://schemas.openxmlformats.org/package/2006/relationships"><ns0:Relationship Id="rId2" Type="http://schemas.openxmlformats.org/officeDocument/2006/relationships/notesSlide" Target="../notesSlides/notesSlide22.xml" /><ns0:Relationship Id="rId1" Type="http://schemas.openxmlformats.org/officeDocument/2006/relationships/slideLayout" Target="../slideLayouts/slideLayout2.xml" /><ns0:Relationship Id="rId404" Type="http://schemas.openxmlformats.org/officeDocument/2006/relationships/image" Target="../media/soap_cliweb_login.png" /></ns0:Relationships>
</file>

<file path=ppt/slides/_rels/slide23.xml.rels><ns0:Relationships xmlns:ns0="http://schemas.openxmlformats.org/package/2006/relationships"><ns0:Relationship Id="rId2" Type="http://schemas.openxmlformats.org/officeDocument/2006/relationships/notesSlide" Target="../notesSlides/notesSlide23.xml" /><ns0:Relationship Id="rId1" Type="http://schemas.openxmlformats.org/officeDocument/2006/relationships/slideLayout" Target="../slideLayouts/slideLayout2.xml" /><ns0:Relationship Id="rId405" Type="http://schemas.openxmlformats.org/officeDocument/2006/relationships/image" Target="../media/soap_cliweb_conversion.png" /></ns0: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pt-BR">
                <a:solidFill>
                  <a:schemeClr val="lt1"/>
                </a:solidFill>
              </a:rPr>
              <a:t>MANUAL TÉCNICO</a:t>
            </a:r>
            <a:br>
              <a:rPr lang="pt-BR">
                <a:solidFill>
                  <a:schemeClr val="lt1"/>
                </a:solidFill>
              </a:rPr>
            </a:br>
            <a:r>
              <a:rPr lang="pt-BR">
                <a:solidFill>
                  <a:schemeClr val="lt1"/>
                </a:solidFill>
              </a:rPr>
              <a:t>SOAP JAVA SINBDD GR09</a:t>
            </a:r>
            <a:endParaRPr dirty="0"/>
          </a:p>
        </p:txBody>
      </p:sp>
      <p:sp>
        <p:nvSpPr>
          <p:cNvPr id="97" name="Google Shape;97;p1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JULIO ENRIQUE VICHE CASTILLO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GRUPO: GR09</a:t>
            </a:r>
            <a:endParaRPr dirty="0">
              <a:solidFill>
                <a:schemeClr val="lt1"/>
              </a:solidFill>
            </a:endParaRPr>
          </a:p>
        </p:txBody>
      </p:sp>
      <p:pic>
        <p:nvPicPr>
          <p:cNvPr id="98" name="Google Shape;98;p1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7619999" y="5301801"/>
            <a:ext cx="4318000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27/10/2026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ASIGNATURA: ARQUITECTURA DE SOFTWARE</a:t>
            </a:r>
            <a:endParaRPr sz="1600" b="1" i="0" u="none" strike="noStrike" cap="none" dirty="0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2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SOAP EN JAVA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CONSOLA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ESCRITORIO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WEB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CREACIÓN DEL PROYECTO – CLIENTE MÓVIL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</a:p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2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1.1 OBJETIVO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endParaRPr lang="es-ES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Documentar la configuración, arquitectura, ejecución y validación del conversor de unidades. El sistema ofrece clientes de consola, escritorio, web y móvil conectados a un servicio Java de tipo 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SOAP.</a:t>
            </a: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Las conversiones se organizan en longitud, masa y temperatura. Cada cliente inicia con autenticación usando MONSTER / MONSTER9. Los datos se mantienen en memoria; no se utiliza base de datos.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120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21" name="Google Shape;121;g2d6d00c5bd2_0_0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22" name="Google Shape;122;g2d6d00c5bd2_0_0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2180500"/>
            <ns1:ext cx="8589300" cy="1633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 fontScale="92500"/>
          </ns1:bodyPr>
          <ns1:lstStyle/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1.2 CREACIÓN DEL SERVIDOR SOAP</ns1:t>
            </ns1: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endParaRPr lang="es-ES" sz="1929" b="1">
              <ns1:latin typeface="Cambria"/>
              <ns1:ea typeface="Cambria"/>
              <ns1:cs typeface="Cambria"/>
              <ns1:sym typeface="Cambria"/>
            </ns1:endParaRP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Java 11, Jakarta XML Web Services y Metro. Publisher.java publica ambos endpoints en localhost:8080.</ns1:t>
            </ns1:r>
          </ns1:p>
          <ns1:p>
            <ns1:pPr marL="342900" marR="0" lvl="0" indent="-359017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785"/>
              <ns1:buChar char="∙"/>
            </ns1:pPr>
            <ns1:r>
              <ns1:rPr lang="es-ES" sz="1929" b="1">
                <ns1:latin typeface="Cambria"/>
                <ns1:ea typeface="Cambria"/>
                <ns1:cs typeface="Cambria"/>
                <ns1:sym typeface="Cambria"/>
              </ns1:rPr>
              <ns1:t>Compila desde 04. SERVIDOR con mvn clean package.</ns1:t>
            </ns1:r>
            <ns1:endParaRPr sz="180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23" name="Google Shape;123;g2d6d00c5bd2_0_0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101" name="soap_server_pom.png"/>
          <ns0:cNvPicPr/>
          <ns0:nvPr/>
        </ns0:nvPicPr>
        <ns0:blipFill>
          <ns1:blip ns2:embed="rId101"/>
          <ns1:srcRect/>
          <ns1:stretch>
            <ns1:fillRect/>
          </ns1:stretch>
        </ns0:blipFill>
        <ns0:spPr>
          <ns1:xfrm>
            <ns1:off x="234986" y="3724354"/>
            <ns1:ext cx="3249332" cy="216422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102" name="soap_server_endpoint.png"/>
          <ns0:cNvPicPr/>
          <ns0:nvPr/>
        </ns0:nvPicPr>
        <ns0:blipFill>
          <ns1:blip ns2:embed="rId102"/>
          <ns1:srcRect/>
          <ns1:stretch>
            <ns1:fillRect/>
          </ns1:stretch>
        </ns0:blipFill>
        <ns0:spPr>
          <ns1:xfrm>
            <ns1:off x="2953500" y="3716772"/>
            <ns1:ext cx="3480507" cy="216422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103" name="soap_server_paquetes.png"/>
          <ns0:cNvPicPr/>
          <ns0:nvPr/>
        </ns0:nvPicPr>
        <ns0:blipFill>
          <ns1:blip ns2:embed="rId103"/>
          <ns1:srcRect/>
          <ns1:stretch>
            <ns1:fillRect/>
          </ns1:stretch>
        </ns0:blipFill>
        <ns0:spPr>
          <ns1:xfrm>
            <ns1:off x="6096000" y="3709191"/>
            <ns1:ext cx="3131854" cy="2179386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0" name="Google Shape;140;p9"/>
          <p:cNvSpPr txBox="1">
            <a:spLocks noGrp="1"/>
          </p:cNvSpPr>
          <p:nvPr>
            <p:ph type="body" idx="1"/>
          </p:nvPr>
        </p:nvSpPr>
        <p:spPr>
          <a:xfrm>
            <a:off x="581192" y="2180497"/>
            <a:ext cx="8589441" cy="1248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1.2 CONTRATO DEL SERVICIO SOAP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endParaRPr lang="es-ES" sz="1350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WSDL describe las operaciones SOAP/XML de autenticación y conversión para longitud, masa y temperatura.</a:t>
            </a:r>
          </a:p>
          <a:p>
            <a:pPr marL="342900" marR="0" lvl="0" indent="-331355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0"/>
              <a:buChar char="∙"/>
            </a:pPr>
            <a:r>
              <a:rPr lang="es-ES" sz="1350" b="1">
                <a:latin typeface="Cambria"/>
                <a:ea typeface="Cambria"/>
                <a:cs typeface="Cambria"/>
                <a:sym typeface="Cambria"/>
              </a:rPr>
              <a:t>Autentica al usuario antes de invocar una conversión.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 recursos y formato de respuesta">
            <a:extLst>
              <a:ext uri="{FF2B5EF4-FFF2-40B4-BE49-F238E27FC236}">
                <a16:creationId xmlns:a16="http://schemas.microsoft.com/office/drawing/2014/main" id="{D46C417E-63B1-4351-91FB-17167D2A159B}"/>
              </a:ext>
            </a:extLst>
          </p:cNvPr>
          <p:cNvSpPr/>
          <p:nvPr/>
        </p:nvSpPr>
        <p:spPr>
          <a:xfrm>
            <a:off x="3174120" y="3429000"/>
            <a:ext cx="5843760" cy="296484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 recursos y formato de respuesta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Dependencias de servicios SOAP/REST">
            <a:extLst>
              <a:ext uri="{FF2B5EF4-FFF2-40B4-BE49-F238E27FC236}">
                <a16:creationId xmlns:a16="http://schemas.microsoft.com/office/drawing/2014/main" id="{08E533D8-CA82-48EB-A318-4D404FD2F869}"/>
              </a:ext>
            </a:extLst>
          </p:cNvPr>
          <p:cNvSpPr/>
          <p:nvPr/>
        </p:nvSpPr>
        <p:spPr>
          <a:xfrm>
            <a:off x="916342" y="3401152"/>
            <a:ext cx="2105025" cy="88582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Dependencias de servicios SOAP/REST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2d624313899_0_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9" name="Google Shape;149;g2d624313899_0_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ARQUITECTURA DEL SERVIDOR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endParaRPr lang="es-ES" sz="1677" b="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La solución separa la publicación del servicio de la lógica de conversión. Publisher inicializa Metro; los endpoints SOAP delegan autenticación y conversiones en las clases de servicio.</a:t>
            </a:r>
          </a:p>
          <a:p>
            <a:pPr marL="342900" marR="0" lvl="0" indent="-35090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Los catálogos de unidades y las fórmulas permanecen en memoria.</a:t>
            </a: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0" name="Google Shape;150;g2d624313899_0_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Paquetes y componentes del servidor">
            <a:extLst>
              <a:ext uri="{FF2B5EF4-FFF2-40B4-BE49-F238E27FC236}">
                <a16:creationId xmlns:a16="http://schemas.microsoft.com/office/drawing/2014/main" id="{D5A955C8-73DF-4A43-96ED-5C495A39CF5E}"/>
              </a:ext>
            </a:extLst>
          </p:cNvPr>
          <p:cNvSpPr/>
          <p:nvPr/>
        </p:nvSpPr>
        <p:spPr>
          <a:xfrm>
            <a:off x="5749937" y="2870106"/>
            <a:ext cx="3268557" cy="20335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componentes del servidor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16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64" name="Google Shape;164;g2d624313899_0_26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65" name="Google Shape;165;g2d624313899_0_26"/>
          <ns0:cNvSpPr txBox="1">
            <ns1:spLocks noGrp="1"/>
          </ns0:cNvSpPr>
          <ns0:nvPr>
            <ns0:ph type="body" idx="1"/>
          </ns0:nvPr>
        </ns0:nvSpPr>
        <ns0:spPr>
          <ns1:xfrm>
            <ns1:off x="581660" y="2108200"/>
            <ns1:ext cx="3048000" cy="38100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DESPLIEGUE EN PAYARA SERVER</ns1:t>
            </ns1: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endParaRPr lang="es-ES" b="1">
              <ns1:latin typeface="Cambria"/>
              <ns1:ea typeface="Cambria"/>
              <ns1:cs typeface="Cambria"/>
              <ns1:sym typeface="Cambria"/>
            </ns1:endParaRP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Payara Server despliega ServidorSOAP.war en localhost:8080 y publica ServicioAutenticacion y ServicioConversion.</ns1:t>
            </ns1:r>
          </ns1:p>
          <ns1:p>
            <ns1:pPr marL="0" lvl="0" indent="0" algn="l" rtl="0">
              <ns1:lnSpc>
                <ns1:spcPct val="115000"/>
              </ns1:lnSpc>
              <ns1:spcBef>
                <ns1:spcPts val="0"/>
              </ns1:spcBef>
              <ns1:spcAft>
                <ns1:spcPts val="0"/>
              </ns1:spcAft>
              <ns1:buNone/>
            </ns1:pPr>
            <ns1:r>
              <ns1:rPr lang="es-ES" b="1">
                <ns1:latin typeface="Cambria"/>
                <ns1:ea typeface="Cambria"/>
                <ns1:cs typeface="Cambria"/>
                <ns1:sym typeface="Cambria"/>
              </ns1:rPr>
              <ns1:t>Mantén activo Payara Server mientras se ejecutan los clientes Java.</ns1:t>
            </ns1:r>
            <ns1:endParaRPr lang="es-MX" sz="167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66" name="Google Shape;166;g2d624313899_0_26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104" name="soap_server_publisher_exec.png"/>
          <ns0:cNvPicPr/>
          <ns0:nvPr/>
        </ns0:nvPicPr>
        <ns0:blipFill>
          <ns1:blip ns2:embed="rId104"/>
          <ns1:srcRect/>
          <ns1:stretch>
            <ns1:fillRect/>
          </ns1:stretch>
        </ns0:blipFill>
        <ns0:spPr>
          <ns1:xfrm>
            <ns1:off x="3875414" y="2817286"/>
            <ns1:ext cx="5100000" cy="3615432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8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>
    <ns0:spTree>
      <ns0:nvGrpSpPr>
        <ns0:cNvPr id="1" name="Shape 187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88" name="Google Shape;188;g2d624313899_0_71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189" name="Google Shape;189;g2d624313899_0_71"/>
          <ns0:cNvSpPr txBox="1">
            <ns1:spLocks noGrp="1"/>
          </ns0:cNvSpPr>
          <ns0:nvPr>
            <ns0:ph type="body" idx="1"/>
          </ns0:nvPr>
        </ns0:nvSpPr>
        <ns0:spPr>
          <ns1:xfrm>
            <ns1:off x="684530" y="1921510"/>
            <ns1:ext cx="6018600" cy="698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1200"/>
              </ns1:spcBef>
              <ns1:spcAft>
                <ns1:spcPts val="1200"/>
              </ns1:spcAft>
              <ns1:buSzPts val="4140"/>
              <ns1:buNone/>
            </ns1:pPr>
            <ns1:r>
              <ns1:rPr lang="es-ES" sz="1564" b="1">
                <ns1:latin typeface="Cambria"/>
                <ns1:ea typeface="Cambria"/>
                <ns1:cs typeface="Cambria"/>
                <ns1:sym typeface="Cambria"/>
              </ns1:rPr>
              <ns1:t>PRUEBAS DEL SERVICIO</ns1:t>
            </ns1:r>
            <ns1:endParaRPr sz="167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90" name="Google Shape;190;g2d624313899_0_71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" name="CAPTURA PENDIENTE - Prueba de conversión de temperatura">
            <ns1:extLst>
              <ns1:ext uri="{FF2B5EF4-FFF2-40B4-BE49-F238E27FC236}">
                <ns2:creationId id="{DEA656A8-E519-47C1-AE44-5E7BD4AF055A}"/>
              </ns1:ext>
            </ns1:extLst>
          </ns0:cNvPr>
          <ns0:cNvSpPr/>
          <ns0:nvPr/>
        </ns0:nvSpPr>
        <ns0:spPr>
          <ns1:xfrm>
            <ns1:off x="2961150" y="4415104"/>
            <ns1:ext cx="2761232" cy="2172650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temperatura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4" name="CAPTURA PENDIENTE - Prueba de conversión de masa">
            <ns1:extLst>
              <ns1:ext uri="{FF2B5EF4-FFF2-40B4-BE49-F238E27FC236}">
                <ns2:creationId id="{C2E3AF7B-1C5B-485E-8F00-68AB1DFA319F}"/>
              </ns1:ext>
            </ns1:extLst>
          </ns0:cNvPr>
          <ns0:cNvSpPr/>
          <ns0:nvPr/>
        </ns0:nvSpPr>
        <ns0:spPr>
          <ns1:xfrm>
            <ns1:off x="330934" y="4415104"/>
            <ns1:ext cx="2630216" cy="2008990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masa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5" name="CAPTURA PENDIENTE - Prueba de conversión de longitud">
            <ns1:extLst>
              <ns1:ext uri="{FF2B5EF4-FFF2-40B4-BE49-F238E27FC236}">
                <ns2:creationId id="{C9C3B946-C4DF-42E1-81A6-50079FD40A92}"/>
              </ns1:ext>
            </ns1:extLst>
          </ns0:cNvPr>
          <ns0:cNvSpPr/>
          <ns0:nvPr/>
        </ns0:nvSpPr>
        <ns0:spPr>
          <ns1:xfrm>
            <ns1:off x="4671319" y="1994161"/>
            <ns1:ext cx="2849245" cy="2075815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conversión de longitud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6" name="CAPTURA PENDIENTE - Prueba de autenticación">
            <ns1:extLst>
              <ns1:ext uri="{FF2B5EF4-FFF2-40B4-BE49-F238E27FC236}">
                <ns2:creationId id="{D9C4CD0A-85E6-4476-8C1E-18E66A405171}"/>
              </ns1:ext>
            </ns1:extLst>
          </ns0:cNvPr>
          <ns0:cNvSpPr/>
          <ns0:nvPr/>
        </ns0:nvSpPr>
        <ns0:spPr>
          <ns1:xfrm>
            <ns1:off x="679863" y="2724790"/>
            <ns1:ext cx="3776665" cy="1345186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Prueba de autenticación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pic>
        <ns0:nvPicPr>
          <ns0:cNvPr id="105" name="soap_server_wsdl_browser.png"/>
          <ns0:cNvPicPr/>
          <ns0:nvPr/>
        </ns0:nvPicPr>
        <ns0:blipFill>
          <ns1:blip ns3:embed="rId105"/>
          <ns1:srcRect/>
          <ns1:stretch>
            <ns1:fillRect/>
          </ns1:stretch>
        </ns0:blipFill>
        <ns0:spPr>
          <ns1:xfrm>
            <ns1:off x="4800000" y="3900000"/>
            <ns1:ext cx="4200000" cy="26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624313899_0_5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g2d624313899_0_51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245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1.3 CREACIÓN DEL CLIENTE CONSOLA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sz="1564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Java con Maven en NetBeans. Configura el consumo de los endpoints SOAP y separa modelo, vista y controlador.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cliente presenta primero el formulario de autenticación y, al validar las credenciales, muestra el menú de conversión.</a:t>
            </a: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g2d624313899_0_5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Configuración del cliente de consola">
            <a:extLst>
              <a:ext uri="{FF2B5EF4-FFF2-40B4-BE49-F238E27FC236}">
                <a16:creationId xmlns:a16="http://schemas.microsoft.com/office/drawing/2014/main" id="{3A7959C0-C4A0-43B5-A418-6987B537CAD0}"/>
              </a:ext>
            </a:extLst>
          </p:cNvPr>
          <p:cNvSpPr/>
          <p:nvPr/>
        </p:nvSpPr>
        <p:spPr>
          <a:xfrm>
            <a:off x="4740234" y="3657435"/>
            <a:ext cx="4201160" cy="284543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l proyecto Java Maven">
            <a:extLst>
              <a:ext uri="{FF2B5EF4-FFF2-40B4-BE49-F238E27FC236}">
                <a16:creationId xmlns:a16="http://schemas.microsoft.com/office/drawing/2014/main" id="{6398EAC1-FA1A-438E-84B6-8806E14BAE12}"/>
              </a:ext>
            </a:extLst>
          </p:cNvPr>
          <p:cNvSpPr/>
          <p:nvPr/>
        </p:nvSpPr>
        <p:spPr>
          <a:xfrm>
            <a:off x="466506" y="3674580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Java Maven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d624313899_0_9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9" name="Google Shape;239;g2d624313899_0_95"/>
          <p:cNvSpPr txBox="1">
            <a:spLocks noGrp="1"/>
          </p:cNvSpPr>
          <p:nvPr>
            <p:ph type="body" idx="1"/>
          </p:nvPr>
        </p:nvSpPr>
        <p:spPr>
          <a:xfrm>
            <a:off x="514824" y="91462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ConversionRequest representa los datos de magnitud, valor y unidades que se envían al servicio.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0" name="Google Shape;240;g2d624313899_0_9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g2d624313899_0_95"/>
          <p:cNvSpPr txBox="1">
            <a:spLocks noGrp="1"/>
          </p:cNvSpPr>
          <p:nvPr>
            <p:ph type="body" idx="1"/>
          </p:nvPr>
        </p:nvSpPr>
        <p:spPr>
          <a:xfrm>
            <a:off x="4759292" y="770066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El controlador valida la sesión, prepara las llamadas SOAP y presenta al usuario el resultado de cada conversión.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y cliente de servicio">
            <a:extLst>
              <a:ext uri="{FF2B5EF4-FFF2-40B4-BE49-F238E27FC236}">
                <a16:creationId xmlns:a16="http://schemas.microsoft.com/office/drawing/2014/main" id="{7DD048F7-291C-4466-917F-C53A70400149}"/>
              </a:ext>
            </a:extLst>
          </p:cNvPr>
          <p:cNvSpPr/>
          <p:nvPr/>
        </p:nvSpPr>
        <p:spPr>
          <a:xfrm>
            <a:off x="4100618" y="4064763"/>
            <a:ext cx="5172027" cy="1777483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y cliente de servicio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Modelo de solicitud de conversión">
            <a:extLst>
              <a:ext uri="{FF2B5EF4-FFF2-40B4-BE49-F238E27FC236}">
                <a16:creationId xmlns:a16="http://schemas.microsoft.com/office/drawing/2014/main" id="{BE1FDCDF-BB08-4024-ACC0-08D4758E0B68}"/>
              </a:ext>
            </a:extLst>
          </p:cNvPr>
          <p:cNvSpPr/>
          <p:nvPr/>
        </p:nvSpPr>
        <p:spPr>
          <a:xfrm>
            <a:off x="811793" y="4064763"/>
            <a:ext cx="2955257" cy="18504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Modelo de solicitud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d624313899_0_1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9" name="Google Shape;249;g2d624313899_0_111"/>
          <p:cNvSpPr txBox="1">
            <a:spLocks noGrp="1"/>
          </p:cNvSpPr>
          <p:nvPr>
            <p:ph type="body" idx="1"/>
          </p:nvPr>
        </p:nvSpPr>
        <p:spPr>
          <a:xfrm>
            <a:off x="478225" y="1986150"/>
            <a:ext cx="4178100" cy="37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 del Proyecto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vista de consola guía el inicio de sesión y ofrece opciones para convertir longitud, masa o temperatura. Muestra mensajes de validación y el resultado con dos decimales.</a:t>
            </a:r>
            <a:endParaRPr lang="es-MX"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50" name="Google Shape;250;g2d624313899_0_11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CAPTURA PENDIENTE - Menú y vista del cliente de consola">
            <a:extLst>
              <a:ext uri="{FF2B5EF4-FFF2-40B4-BE49-F238E27FC236}">
                <a16:creationId xmlns:a16="http://schemas.microsoft.com/office/drawing/2014/main" id="{86A93331-0F14-4AEA-961B-40B7F4D43301}"/>
              </a:ext>
            </a:extLst>
          </p:cNvPr>
          <p:cNvSpPr/>
          <p:nvPr/>
        </p:nvSpPr>
        <p:spPr>
          <a:xfrm>
            <a:off x="4361215" y="2617179"/>
            <a:ext cx="4878474" cy="2609244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Menú y vista del cliente de consola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25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56" name="Google Shape;256;g2d624313899_0_138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257" name="Google Shape;257;g2d624313899_0_138"/>
          <ns0:cNvSpPr txBox="1">
            <ns1:spLocks noGrp="1"/>
          </ns0:cNvSpPr>
          <ns0:nvPr>
            <ns0:ph type="body" idx="1"/>
          </ns0:nvPr>
        </ns0:nvSpPr>
        <ns0:spPr>
          <ns1:xfrm>
            <ns1:off x="581660" y="1930400"/>
            <ns1:ext cx="2413000" cy="6985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0" lvl="0" indent="0" algn="l" rtl="0">
              <ns1:lnSpc>
                <ns1:spcPct val="115000"/>
              </ns1:lnSpc>
              <ns1:spcBef>
                <ns1:spcPts val="1200"/>
              </ns1:spcBef>
              <ns1:spcAft>
                <ns1:spcPts val="0"/>
              </ns1:spcAft>
              <ns1:buSzPts val="1656"/>
              <ns1:buNone/>
            </ns1:pPr>
            <ns1:r>
              <ns1:rPr lang="es-ES" sz="1564" b="1">
                <ns1:latin typeface="Cambria"/>
                <ns1:ea typeface="Cambria"/>
                <ns1:cs typeface="Cambria"/>
                <ns1:sym typeface="Cambria"/>
              </ns1:rPr>
              <ns1:t>Ejecución del Proyecto</ns1:t>
            </ns1:r>
            <ns1:endParaRPr sz="1564" b="1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258" name="Google Shape;258;g2d624313899_0_138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pic>
        <ns0:nvPicPr>
          <ns0:cNvPr id="201" name="soap_clicon_login.png"/>
          <ns0:cNvPicPr/>
          <ns0:nvPr/>
        </ns0:nvPicPr>
        <ns0:blipFill>
          <ns1:blip ns2:embed="rId201"/>
          <ns1:srcRect/>
          <ns1:stretch>
            <ns1:fillRect/>
          </ns1:stretch>
        </ns0:blipFill>
        <ns0:spPr>
          <ns1:xfrm>
            <ns1:off x="581200" y="2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2" name="soap_clicon_longitud.png"/>
          <ns0:cNvPicPr/>
          <ns0:nvPr/>
        </ns0:nvPicPr>
        <ns0:blipFill>
          <ns1:blip ns2:embed="rId202"/>
          <ns1:srcRect/>
          <ns1:stretch>
            <ns1:fillRect/>
          </ns1:stretch>
        </ns0:blipFill>
        <ns0:spPr>
          <ns1:xfrm>
            <ns1:off x="4900000" y="2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3" name="soap_clicon_masa.png"/>
          <ns0:cNvPicPr/>
          <ns0:nvPr/>
        </ns0:nvPicPr>
        <ns0:blipFill>
          <ns1:blip ns2:embed="rId203"/>
          <ns1:srcRect/>
          <ns1:stretch>
            <ns1:fillRect/>
          </ns1:stretch>
        </ns0:blipFill>
        <ns0:spPr>
          <ns1:xfrm>
            <ns1:off x="581200" y="4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  <ns0:pic>
        <ns0:nvPicPr>
          <ns0:cNvPr id="204" name="soap_clicon_temperatura.png"/>
          <ns0:cNvPicPr/>
          <ns0:nvPr/>
        </ns0:nvPicPr>
        <ns0:blipFill>
          <ns1:blip ns2:embed="rId204"/>
          <ns1:srcRect/>
          <ns1:stretch>
            <ns1:fillRect/>
          </ns1:stretch>
        </ns0:blipFill>
        <ns0:spPr>
          <ns1:xfrm>
            <ns1:off x="4900000" y="4700000"/>
            <ns1:ext cx="4150000" cy="18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68" name="Google Shape;268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1.4 CREACIÓN DEL PROYECTO – CLIENTE ESCRITORIO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endParaRPr lang="es-ES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118709"/>
              <a:buNone/>
            </a:pPr>
            <a:r>
              <a:rPr lang="es-ES" b="1">
                <a:latin typeface="Cambria"/>
                <a:ea typeface="Cambria"/>
                <a:cs typeface="Cambria"/>
                <a:sym typeface="Cambria"/>
              </a:rPr>
              <a:t>Crea la aplicación Java de escritorio con Maven. La interfaz Swing consume los mismos endpoints SOAP y sigue el patrón Modelo-Vista-Controlador.</a:t>
            </a:r>
            <a:endParaRPr lang="es-MX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reación del proyecto de escritorio Java">
            <a:extLst>
              <a:ext uri="{FF2B5EF4-FFF2-40B4-BE49-F238E27FC236}">
                <a16:creationId xmlns:a16="http://schemas.microsoft.com/office/drawing/2014/main" id="{D28BE577-97A7-4289-87EA-2CB12471E21C}"/>
              </a:ext>
            </a:extLst>
          </p:cNvPr>
          <p:cNvSpPr/>
          <p:nvPr/>
        </p:nvSpPr>
        <p:spPr>
          <a:xfrm>
            <a:off x="2544819" y="3270983"/>
            <a:ext cx="4144010" cy="282829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del proyecto de escritorio Java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1974b856cc_0_10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1" name="Google Shape;301;g31974b856cc_0_10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g31974b856cc_0_109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El cliente Swing organiza la interfaz, el estado de conversión y el consumo SOAP con el patrón MVC.</a:t>
            </a:r>
            <a:endParaRPr lang="es-MX"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4F47827-A8E1-4FFA-A232-83861B9D7BF5}"/>
              </a:ext>
            </a:extLst>
          </p:cNvPr>
          <p:cNvSpPr txBox="1"/>
          <p:nvPr/>
        </p:nvSpPr>
        <p:spPr>
          <a:xfrm>
            <a:off x="762109" y="3269217"/>
            <a:ext cx="171215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Modelo: conserva los datos de sesión y de la conversión.</a:t>
            </a:r>
            <a:endParaRPr lang="es-EC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AE216B3-B851-4BA3-899E-396EB3A18BA2}"/>
              </a:ext>
            </a:extLst>
          </p:cNvPr>
          <p:cNvSpPr txBox="1"/>
          <p:nvPr/>
        </p:nvSpPr>
        <p:spPr>
          <a:xfrm>
            <a:off x="6214191" y="4553152"/>
            <a:ext cx="263338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s-ES" sz="1800" b="0" i="0" u="none" strike="noStrike" kern="0" cap="none" spc="0" normalizeH="0" baseline="0" noProof="0">
                <a:ln>
                  <a:noFill/>
                </a:ln>
                <a:solidFill>
                  <a:srgbClr val="3D3D3D"/>
                </a:solidFill>
                <a:effectLst/>
                <a:uLnTx/>
                <a:uFillTx/>
                <a:latin typeface="Cambria"/>
                <a:ea typeface="Cambria"/>
                <a:cs typeface="Cambria"/>
                <a:sym typeface="Cambria"/>
              </a:rPr>
              <a:t>Controlador: valida entradas y coordina la llamada SOAP.</a:t>
            </a:r>
            <a:endParaRPr lang="es-EC" dirty="0"/>
          </a:p>
        </p:txBody>
      </p:sp>
      <p:sp>
        <p:nvSpPr>
          <p:cNvPr id="2" name="CAPTURA PENDIENTE - Clases del cliente de escritorio">
            <a:extLst>
              <a:ext uri="{FF2B5EF4-FFF2-40B4-BE49-F238E27FC236}">
                <a16:creationId xmlns:a16="http://schemas.microsoft.com/office/drawing/2014/main" id="{FC04A46C-F8FC-4B32-89E4-37F1F61238A7}"/>
              </a:ext>
            </a:extLst>
          </p:cNvPr>
          <p:cNvSpPr/>
          <p:nvPr/>
        </p:nvSpPr>
        <p:spPr>
          <a:xfrm>
            <a:off x="2474259" y="4377212"/>
            <a:ext cx="3666875" cy="235536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Clases del cliente de escritorio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ódigo de controlador">
            <a:extLst>
              <a:ext uri="{FF2B5EF4-FFF2-40B4-BE49-F238E27FC236}">
                <a16:creationId xmlns:a16="http://schemas.microsoft.com/office/drawing/2014/main" id="{8D27FDBE-3262-425D-901F-736C75C67653}"/>
              </a:ext>
            </a:extLst>
          </p:cNvPr>
          <p:cNvSpPr/>
          <p:nvPr/>
        </p:nvSpPr>
        <p:spPr>
          <a:xfrm>
            <a:off x="5925023" y="3893361"/>
            <a:ext cx="274320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controlador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ódigo de modelo">
            <a:extLst>
              <a:ext uri="{FF2B5EF4-FFF2-40B4-BE49-F238E27FC236}">
                <a16:creationId xmlns:a16="http://schemas.microsoft.com/office/drawing/2014/main" id="{D9BA546A-1E15-4A80-AA57-994B60F099F9}"/>
              </a:ext>
            </a:extLst>
          </p:cNvPr>
          <p:cNvSpPr/>
          <p:nvPr/>
        </p:nvSpPr>
        <p:spPr>
          <a:xfrm>
            <a:off x="2611811" y="3836431"/>
            <a:ext cx="2476500" cy="3429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pt-BR" sz="900" i="1">
                <a:solidFill>
                  <a:srgbClr val="666666"/>
                </a:solidFill>
                <a:latin typeface="Arial" panose="020B0604020202020204" pitchFamily="34" charset="0"/>
              </a:rPr>
              <a:t>Código de modelo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5" name="CAPTURA PENDIENTE - Estructura de paquetes MVC">
            <a:extLst>
              <a:ext uri="{FF2B5EF4-FFF2-40B4-BE49-F238E27FC236}">
                <a16:creationId xmlns:a16="http://schemas.microsoft.com/office/drawing/2014/main" id="{B197BBDF-1B0B-4C10-9B0A-1F8D65F9C273}"/>
              </a:ext>
            </a:extLst>
          </p:cNvPr>
          <p:cNvSpPr/>
          <p:nvPr/>
        </p:nvSpPr>
        <p:spPr>
          <a:xfrm>
            <a:off x="5088311" y="2609850"/>
            <a:ext cx="3019425" cy="10287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Estructura de paquetes MVC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1974b856cc_0_1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9" name="Google Shape;309;g31974b856cc_0_1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g31974b856cc_0_128"/>
          <p:cNvSpPr txBox="1">
            <a:spLocks noGrp="1"/>
          </p:cNvSpPr>
          <p:nvPr>
            <p:ph type="body" idx="1"/>
          </p:nvPr>
        </p:nvSpPr>
        <p:spPr>
          <a:xfrm>
            <a:off x="581200" y="1715856"/>
            <a:ext cx="8589300" cy="132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●"/>
            </a:pPr>
            <a:r>
              <a:rPr lang="es-ES" sz="180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 vista Swing contiene las ventanas de autenticación y conversión. Los controles permiten seleccionar magnitud y unidades, ingresar el valor y consultar el resultado.</a:t>
            </a: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Interfaz Swing de autenticación y conversión">
            <a:extLst>
              <a:ext uri="{FF2B5EF4-FFF2-40B4-BE49-F238E27FC236}">
                <a16:creationId xmlns:a16="http://schemas.microsoft.com/office/drawing/2014/main" id="{72D8D44A-0A8E-4206-9ECA-659FC89E010E}"/>
              </a:ext>
            </a:extLst>
          </p:cNvPr>
          <p:cNvSpPr/>
          <p:nvPr/>
        </p:nvSpPr>
        <p:spPr>
          <a:xfrm>
            <a:off x="699248" y="2831802"/>
            <a:ext cx="8424537" cy="3324041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Interfaz Swing de autenticación y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1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16" name="Google Shape;316;g31974b856cc_0_137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17" name="Google Shape;317;g31974b856cc_0_137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18" name="Google Shape;318;g31974b856cc_0_137"/>
          <ns0:cNvSpPr txBox="1">
            <ns1:spLocks noGrp="1"/>
          </ns0:cNvSpPr>
          <ns0:nvPr>
            <ns0:ph type="body" idx="1"/>
          </ns0:nvPr>
        </ns0:nvSpPr>
        <ns0:spPr>
          <ns1:xfrm>
            <ns1:off x="6326975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Inicio de sesión del cliente de escritorio. Ingresa MONSTER / MONSTER9 para acceder al conversor.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301" name="soap_cliesc_login.png"/>
          <ns0:cNvPicPr/>
          <ns0:nvPr/>
        </ns0:nvPicPr>
        <ns0:blipFill>
          <ns1:blip ns2:embed="rId301"/>
          <ns1:srcRect/>
          <ns1:stretch>
            <ns1:fillRect/>
          </ns1:stretch>
        </ns0:blipFill>
        <ns0:spPr>
          <ns1:xfrm>
            <ns1:off x="1466800" y="2100000"/>
            <ns1:ext cx="3730000" cy="42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7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3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34" name="Google Shape;334;g2d6d00c5bd2_2_19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35" name="Google Shape;335;g2d6d00c5bd2_2_19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36" name="Google Shape;336;g2d6d00c5bd2_2_19"/>
          <ns0:cNvSpPr txBox="1">
            <ns1:spLocks noGrp="1"/>
          </ns0:cNvSpPr>
          <ns0:nvPr>
            <ns0:ph type="body" idx="1"/>
          </ns0:nvPr>
        </ns0:nvSpPr>
        <ns0:spPr>
          <ns1:xfrm>
            <ns1:off x="5791950" y="2411875"/>
            <ns1:ext cx="32289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Formulario de conversión. Selecciona la magnitud, las unidades de origen y destino, e ingresa el valor que se enviará al servicio SOAP.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302" name="soap_cliesc_conversion.png"/>
          <ns0:cNvPicPr/>
          <ns0:nvPr/>
        </ns0:nvPicPr>
        <ns0:blipFill>
          <ns1:blip ns2:embed="rId302"/>
          <ns1:srcRect/>
          <ns1:stretch>
            <ns1:fillRect/>
          </ns1:stretch>
        </ns0:blipFill>
        <ns0:spPr>
          <ns1:xfrm>
            <ns1:off x="650000" y="2200000"/>
            <ns1:ext cx="4800000" cy="391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18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Shape 341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42" name="Google Shape;342;p32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43" name="Google Shape;343;p32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44" name="Google Shape;344;p32"/>
          <ns0:cNvSpPr txBox="1"/>
          <ns0:nvPr/>
        </ns0:nvSpPr>
        <ns0:spPr>
          <ns1:xfrm>
            <ns1:off x="636600" y="1868348"/>
            <ns1:ext cx="8576700" cy="1826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 fontScale="92500" lnSpcReduction="10000"/>
          </ns1:bodyPr>
          <ns1:lstStyle/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r>
              <ns1:rPr lang="es-ES" sz="1800" b="1" i="0" u="none" strike="noStrike" cap="none">
                <ns1:solidFill>
                  <ns1:srgbClr val="3D3D3D"/>
                </ns1:solidFill>
                <ns1:latin typeface="Cambria"/>
                <ns1:ea typeface="Cambria"/>
                <ns1:cs typeface="Cambria"/>
                <ns1:sym typeface="Cambria"/>
              </ns1:rPr>
              <ns1:t>1.5 CREACIÓN DEL PROYECTO – CLIENTE WEB</ns1:t>
            </ns1:r>
          </ns1:p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endParaRPr lang="es-ES" sz="1800" b="1" i="0" u="none" strike="noStrike" cap="none">
              <ns1:solidFill>
                <ns1:srgbClr val="3D3D3D"/>
              </ns1:solidFill>
              <ns1:latin typeface="Cambria"/>
              <ns1:ea typeface="Cambria"/>
              <ns1:cs typeface="Cambria"/>
              <ns1:sym typeface="Cambria"/>
            </ns1:endParaRPr>
          </ns1:p>
          <ns1:p>
            <ns1:pPr marL="0" marR="0" lvl="0" indent="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ct val="100000"/>
              <ns1:buFont typeface="Arial"/>
              <ns1:buNone/>
            </ns1:pPr>
            <ns1:r>
              <ns1:rPr lang="es-ES" sz="1800" b="1" i="0" u="none" strike="noStrike" cap="none">
                <ns1:solidFill>
                  <ns1:srgbClr val="3D3D3D"/>
                </ns1:solidFill>
                <ns1:latin typeface="Cambria"/>
                <ns1:ea typeface="Cambria"/>
                <ns1:cs typeface="Cambria"/>
                <ns1:sym typeface="Cambria"/>
              </ns1:rPr>
              <ns1:t>El cliente web se despliega como ClienteWeb.war en Payara Server. Las vistas HTML/JSP presentan las pantallas; LoginServlet y ConversionServlet gestionan la sesión y las solicitudes SOAP.</ns1:t>
            </ns1:r>
            <ns1:endParaRPr sz="2000" dirty="0">
              <ns1:solidFill>
                <ns1:srgbClr val="3D3D3D"/>
              </ns1:solidFill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2" name="CAPTURA PENDIENTE - Configuración de Jetty y Servlets">
            <ns1:extLst>
              <ns1:ext uri="{FF2B5EF4-FFF2-40B4-BE49-F238E27FC236}">
                <ns2:creationId id="{16593287-0CEF-49B8-974F-2F1AE8A0C15E}"/>
              </ns1:ext>
            </ns1:extLst>
          </ns0:cNvPr>
          <ns0:cNvSpPr/>
          <ns0:nvPr/>
        </ns0:nvSpPr>
        <ns0:spPr>
          <ns1:xfrm>
            <ns1:off x="3863999" y="3524211"/>
            <ns1:ext cx="4959666" cy="3037954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El cliente web se despliega como ClienteWeb.war en Payara Server. Las vistas HTML/JSP presentan las pantallas; LoginServlet y ConversionServlet gestionan la sesión y las solicitudes SOAP.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  <ns0:sp>
        <ns0:nvSpPr>
          <ns0:cNvPr id="3" name="CAPTURA PENDIENTE - Estructura del cliente web">
            <ns1:extLst>
              <ns1:ext uri="{FF2B5EF4-FFF2-40B4-BE49-F238E27FC236}">
                <ns2:creationId id="{9547CBA9-C1D8-4B24-853B-4A2AF89BF58F}"/>
              </ns1:ext>
            </ns1:extLst>
          </ns0:cNvPr>
          <ns0:cNvSpPr/>
          <ns0:nvPr/>
        </ns0:nvSpPr>
        <ns0:spPr>
          <ns1:xfrm>
            <ns1:off x="1211356" y="3839056"/>
            <ns1:ext cx="2095500" cy="561975"/>
          </ns1:xfrm>
          <ns1:prstGeom prst="rect">
            <ns1:avLst/>
          </ns1:prstGeom>
          <ns1:solidFill>
            <ns1:srgbClr val="FFFFFF"/>
          </ns1:solidFill>
          <ns1:ln w="15875">
            <ns1:solidFill>
              <ns1:srgbClr val="D9D9D9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wrap="square" lIns="76200" tIns="38100" rIns="76200" bIns="38100" rtlCol="0" anchor="ctr">
            <ns1:noAutofit/>
          </ns1:bodyPr>
          <ns1:lstStyle/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CAPTURA PENDIENTE</ns1:t>
            </ns1:r>
          </ns1:p>
          <ns1:p>
            <ns1:pPr algn="ctr"/>
            <ns1:r>
              <ns1:rPr lang="es-ES" sz="900" i="1">
                <ns1:solidFill>
                  <ns1:srgbClr val="666666"/>
                </ns1:solidFill>
                <ns1:latin typeface="Arial" panose="020B0604020202020204" pitchFamily="34" charset="0"/>
              </ns1:rPr>
              <ns1:t>Estructura del cliente web</ns1:t>
            </ns1:r>
            <ns1:endParaRPr lang="en-US" sz="900" i="1">
              <ns1:solidFill>
                <ns1:srgbClr val="666666"/>
              </ns1:solidFill>
              <ns1:latin typeface="Arial" panose="020B0604020202020204" pitchFamily="34" charset="0"/>
            </ns1:endParaRPr>
          </ns1:p>
        </ns0:txBody>
      </ns0:sp>
    </ns0:spTree>
  </ns0:cSld>
  <ns0:clrMapOvr>
    <ns1:masterClrMapping/>
  </ns0:clrMapOvr>
</ns0:sld>
</file>

<file path=ppt/slides/slide19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>
  <ns0:cSld>
    <ns0:spTree>
      <ns0:nvGrpSpPr>
        <ns0:cNvPr id="1" name="Shape 375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76" name="Google Shape;376;g319782968e5_0_88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77" name="Google Shape;377;g319782968e5_0_88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78" name="Google Shape;378;g319782968e5_0_88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1944456"/>
            <ns1:ext cx="8589300" cy="1328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 sz="1800">
                <ns1:effectLst/>
                <ns1:latin typeface="Calibri" panose="020F0502020204030204" pitchFamily="34" charset="0"/>
                <ns1:ea typeface="Calibri" panose="020F0502020204030204" pitchFamily="34" charset="0"/>
              </ns1:rPr>
              <ns1:t>Las vistas conversor.html y conversor.jsp ofrecen el formulario de conversión. ConversionServlet comunica el cliente web con el servicio SOAP.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sp>
        <ns0:nvSpPr>
          <ns0:cNvPr id="13" name="CuadroTexto 12">
            <ns1:extLst>
              <ns1:ext uri="{FF2B5EF4-FFF2-40B4-BE49-F238E27FC236}">
                <ns2:creationId id="{7EBFFD51-1503-4BCA-8CB9-C70596A06975}"/>
              </ns1:ext>
            </ns1:extLst>
          </ns0:cNvPr>
          <ns0:cNvSpPr txBox="1"/>
          <ns0:nvPr/>
        </ns0:nvSpPr>
        <ns0:spPr>
          <ns1:xfrm>
            <ns1:off x="719417" y="4185628"/>
            <ns1:ext cx="2624418" cy="1200329"/>
          </ns1:xfrm>
          <ns1:prstGeom prst="rect">
            <ns1:avLst/>
          </ns1:prstGeom>
          <ns1:noFill/>
        </ns0:spPr>
        <ns0:txBody>
          <ns1:bodyPr wrap="square">
            <ns1:spAutoFit/>
          </ns1:bodyPr>
          <ns1:lstStyle/>
          <ns1:p>
            <ns1:r>
              <ns1:rPr kumimoji="0" lang="es-ES" sz="1800" b="0" i="0" u="none" strike="noStrike" kern="0" cap="none" spc="0" normalizeH="0" baseline="0" noProof="0">
                <ns1:ln>
                  <ns1:noFill/>
                </ns1:ln>
                <ns1:solidFill>
                  <ns1:srgbClr val="3D3D3D"/>
                </ns1:solidFill>
                <ns1:effectLst/>
                <ns1:uLnTx/>
                <ns1:uFillTx/>
                <ns1:latin typeface="Calibri" panose="020F0502020204030204" pitchFamily="34" charset="0"/>
                <ns1:ea typeface="Calibri" panose="020F0502020204030204" pitchFamily="34" charset="0"/>
                <ns1:sym typeface="Gill Sans"/>
              </ns1:rPr>
              <ns1:t>El formulario envía los datos al Servlet y presenta el resultado de la conversión.</ns1:t>
            </ns1:r>
            <ns1:endParaRPr lang="es-EC" dirty="0"/>
          </ns1:p>
        </ns0:txBody>
      </ns0:sp>
      <ns0:pic>
        <ns0:nvPicPr>
          <ns0:cNvPr id="401" name="soap_cliweb_conversion.png"/>
          <ns0:cNvPicPr/>
          <ns0:nvPr/>
        </ns0:nvPicPr>
        <ns0:blipFill>
          <ns1:blip ns3:embed="rId401"/>
          <ns1:srcRect/>
          <ns1:stretch>
            <ns1:fillRect/>
          </ns1:stretch>
        </ns0:blipFill>
        <ns0:spPr>
          <ns1:xfrm>
            <ns1:off x="3500000" y="2900000"/>
            <ns1:ext cx="5500000" cy="3416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0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83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384" name="Google Shape;384;g319782968e5_0_73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385" name="Google Shape;385;g319782968e5_0_73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386" name="Google Shape;386;g319782968e5_0_73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1715856"/>
            <ns1:ext cx="8589300" cy="13281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342900" marR="0" lvl="0" indent="-342900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Noto Sans Symbols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index.html y index.jsp ofrecen el inicio de sesión. LoginServlet valida las credenciales y habilita el acceso al conversor cuando son correctas.</ns1:t>
            </ns1:r>
            <ns1:endParaRPr sz="1800"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2" name="soap_cliweb_login.png"/>
          <ns0:cNvPicPr/>
          <ns0:nvPr/>
        </ns0:nvPicPr>
        <ns0:blipFill>
          <ns1:blip ns2:embed="rId402"/>
          <ns1:srcRect/>
          <ns1:stretch>
            <ns1:fillRect/>
          </ns1:stretch>
        </ns0:blipFill>
        <ns0:spPr>
          <ns1:xfrm>
            <ns1:off x="1713000" y="2800000"/>
            <ns1:ext cx="5957000" cy="37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1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399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00" name="Google Shape;400;g319782968e5_0_112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01" name="Google Shape;401;g319782968e5_0_112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02" name="Google Shape;402;g319782968e5_0_112"/>
          <ns0:cNvSpPr txBox="1">
            <ns1:spLocks noGrp="1"/>
          </ns0:cNvSpPr>
          <ns0:nvPr>
            <ns0:ph type="body" idx="1"/>
          </ns0:nvPr>
        </ns0:nvSpPr>
        <ns0:spPr>
          <ns1:xfrm>
            <ns1:off x="1039100" y="1913200"/>
            <ns1:ext cx="8038500" cy="18033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Cambria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Inicia el servidor SOAP y después el cliente web. Abre http://localhost:8081/ClienteWeb/ en el navegador para acceder al formulario de autenticación y las funciones de conversión.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3" name="soap_cliweb_conversion.png"/>
          <ns0:cNvPicPr/>
          <ns0:nvPr/>
        </ns0:nvPicPr>
        <ns0:blipFill>
          <ns1:blip ns2:embed="rId403"/>
          <ns1:srcRect/>
          <ns1:stretch>
            <ns1:fillRect/>
          </ns1:stretch>
        </ns0:blipFill>
        <ns0:spPr>
          <ns1:xfrm>
            <ns1:off x="1715000" y="2800000"/>
            <ns1:ext cx="5950000" cy="370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2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409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10" name="Google Shape;410;g319782968e5_0_135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11" name="Google Shape;411;g319782968e5_0_135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12" name="Google Shape;412;g319782968e5_0_135"/>
          <ns0:cNvSpPr txBox="1">
            <ns1:spLocks noGrp="1"/>
          </ns0:cNvSpPr>
          <ns0:nvPr>
            <ns0:ph type="body" idx="1"/>
          </ns0:nvPr>
        </ns0:nvSpPr>
        <ns0:spPr>
          <ns1:xfrm>
            <ns1:off x="6326975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Font typeface="Cambria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Acceso al cliente web. Ingresa MONSTER / MONSTER9; una sesión válida permite continuar a la pantalla de conversión.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4" name="soap_cliweb_login.png"/>
          <ns0:cNvPicPr/>
          <ns0:nvPr/>
        </ns0:nvPicPr>
        <ns0:blipFill>
          <ns1:blip ns2:embed="rId404"/>
          <ns1:srcRect/>
          <ns1:stretch>
            <ns1:fillRect/>
          </ns1:stretch>
        </ns0:blipFill>
        <ns0:spPr>
          <ns1:xfrm>
            <ns1:off x="600000" y="2700000"/>
            <ns1:ext cx="5500000" cy="3416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3.xml><?xml version="1.0" encoding="utf-8"?>
<ns0:sld xmlns:ns0="http://schemas.openxmlformats.org/presentationml/2006/main" xmlns:ns1="http://schemas.openxmlformats.org/drawingml/2006/main" xmlns:ns2="http://schemas.openxmlformats.org/officeDocument/2006/relationships">
  <ns0:cSld>
    <ns0:spTree>
      <ns0:nvGrpSpPr>
        <ns0:cNvPr id="1" name="Shape 417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418" name="Google Shape;418;g319782968e5_0_123"/>
          <ns0:cNvSpPr txBox="1">
            <ns1:spLocks noGrp="1"/>
          </ns0:cNvSpPr>
          <ns0:nvPr>
            <ns0:ph type="title"/>
          </ns0:nvPr>
        </ns0:nvSpPr>
        <ns0:spPr>
          <ns1:xfrm>
            <ns1:off x="581192" y="702156"/>
            <ns1:ext cx="11029500" cy="10137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b" anchorCtr="0">
            <ns1:normAutofit/>
          </ns1:bodyPr>
          <ns1:lstStyle/>
          <ns1:p>
            <ns1:pPr marL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chemeClr val="lt1"/>
              </ns1:buClr>
              <ns1:buSzPts val="2800"/>
              <ns1:buFont typeface="Gill Sans"/>
              <ns1:buNone/>
            </ns1:pPr>
            <ns1:r>
              <ns1:rPr lang="es-ES"/>
              <ns1:t>DESARROLLO</ns1:t>
            </ns1:r>
            <ns1:endParaRPr/>
          </ns1:p>
        </ns0:txBody>
      </ns0:sp>
      <ns0:sp>
        <ns0:nvSpPr>
          <ns0:cNvPr id="419" name="Google Shape;419;g319782968e5_0_123"/>
          <ns0:cNvSpPr/>
          <ns0:nvPr/>
        </ns0:nvSpPr>
        <ns0:spPr>
          <ns1:xfrm>
            <ns1:off x="9383697" y="0"/>
            <ns1:ext cx="2808300" cy="6858000"/>
          </ns1:xfrm>
          <ns1:prstGeom prst="rect">
            <ns1:avLst/>
          </ns1:prstGeom>
          <ns1:solidFill>
            <ns1:schemeClr val="accent1"/>
          </ns1:solidFill>
          <ns1:ln w="22225" cap="rnd" cmpd="sng">
            <ns1:solidFill>
              <ns1:srgbClr val="122446"/>
            </ns1:solidFill>
            <ns1:prstDash val="solid"/>
            <ns1:round/>
            <ns1:headEnd type="none" w="sm" len="sm"/>
            <ns1:tailEnd type="none" w="sm" len="sm"/>
          </ns1:ln>
        </ns0:spPr>
        <ns0:txBody>
          <ns1:bodyPr spcFirstLastPara="1" wrap="square" lIns="91425" tIns="45700" rIns="91425" bIns="45700" anchor="ctr" anchorCtr="0">
            <ns1:noAutofit/>
          </ns1:bodyPr>
          <ns1:lstStyle/>
          <ns1:p>
            <ns1:pPr marL="0" marR="0" lvl="0" indent="0" algn="l" rtl="0">
              <ns1:lnSpc>
                <ns1:spcPct val="100000"/>
              </ns1:lnSpc>
              <ns1:spcBef>
                <ns1:spcPts val="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DESARROLLO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OBJETIVO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chemeClr val="lt1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SERVIDOR </ns1:t>
            </ns1:r>
            <ns1:r>
              <ns1:rPr lang="es-ES" sz="1200" b="1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SOAP</ns1:t>
            </ns1:r>
            <ns1:endParaRPr sz="1400" b="0" i="0" u="none" strike="noStrike" cap="none">
              <ns1:solidFill>
                <ns1:schemeClr val="lt1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CONSOLA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ESCRITORIO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FFFF00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rgbClr val="FFFF00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WEB</ns1:t>
            </ns1:r>
            <ns1:endParaRPr sz="1400" b="0" i="0" u="none" strike="noStrike" cap="none">
              <ns1:solidFill>
                <ns1:srgbClr val="FFFF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763200" marR="0" lvl="1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CREACIÓN DEL PROYECTO – CLIENTE MÓVIL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CONCLUSIONES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306000" marR="0" lvl="0" indent="-30600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4590B8"/>
              </ns1:buClr>
              <ns1:buSzPts val="1104"/>
              <ns1:buFont typeface="Noto Sans Symbols"/>
              <ns1:buChar char="◼"/>
            </ns1:pPr>
            <ns1:r>
              <ns1:rPr lang="es-ES" sz="1200" b="1" i="0" u="none" strike="noStrike" cap="none">
                <ns1:solidFill>
                  <ns1:schemeClr val="lt1"/>
                </ns1:solidFill>
                <ns1:latin typeface="Gill Sans"/>
                <ns1:ea typeface="Gill Sans"/>
                <ns1:cs typeface="Gill Sans"/>
                <ns1:sym typeface="Gill Sans"/>
              </ns1:rPr>
              <ns1:t>RECOMENDACIONES</ns1:t>
            </ns1: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  <ns1:p>
            <ns1:pPr marL="457200" marR="0" lvl="0" indent="0" algn="l" rtl="0">
              <ns1:lnSpc>
                <ns1:spcPct val="100000"/>
              </ns1:lnSpc>
              <ns1:spcBef>
                <ns1:spcPts val="840"/>
              </ns1:spcBef>
              <ns1:spcAft>
                <ns1:spcPts val="0"/>
              </ns1:spcAft>
              <ns1:buClr>
                <ns1:srgbClr val="000000"/>
              </ns1:buClr>
              <ns1:buSzPts val="1400"/>
              <ns1:buFont typeface="Arial"/>
              <ns1:buNone/>
            </ns1:pPr>
            <ns1:endParaRPr sz="1400" b="0" i="0" u="none" strike="noStrike" cap="none">
              <ns1:solidFill>
                <ns1:srgbClr val="000000"/>
              </ns1:solidFill>
              <ns1:latin typeface="Arial"/>
              <ns1:ea typeface="Arial"/>
              <ns1:cs typeface="Arial"/>
              <ns1:sym typeface="Arial"/>
            </ns1:endParaRPr>
          </ns1:p>
        </ns0:txBody>
      </ns0:sp>
      <ns0:sp>
        <ns0:nvSpPr>
          <ns0:cNvPr id="420" name="Google Shape;420;g319782968e5_0_123"/>
          <ns0:cNvSpPr txBox="1">
            <ns1:spLocks noGrp="1"/>
          </ns0:cNvSpPr>
          <ns0:nvPr>
            <ns0:ph type="body" idx="1"/>
          </ns0:nvPr>
        </ns0:nvSpPr>
        <ns0:spPr>
          <ns1:xfrm>
            <ns1:off x="581200" y="2523925"/>
            <ns1:ext cx="2808300" cy="3695400"/>
          </ns1:xfrm>
          <ns1:prstGeom prst="rect">
            <ns1:avLst/>
          </ns1:prstGeom>
          <ns1:noFill/>
          <ns1:ln>
            <ns1:noFill/>
          </ns1:ln>
        </ns0:spPr>
        <ns0:txBody>
          <ns1:bodyPr spcFirstLastPara="1" wrap="square" lIns="91425" tIns="45700" rIns="91425" bIns="45700" anchor="ctr" anchorCtr="0">
            <ns1:normAutofit/>
          </ns1:bodyPr>
          <ns1:lstStyle/>
          <ns1:p>
            <ns1:pPr marL="457200" lvl="0" indent="-333756" algn="just" rtl="0">
              <ns1:lnSpc>
                <ns1:spcPct val="107000"/>
              </ns1:lnSpc>
              <ns1:spcBef>
                <ns1:spcPts val="0"/>
              </ns1:spcBef>
              <ns1:spcAft>
                <ns1:spcPts val="0"/>
              </ns1:spcAft>
              <ns1:buSzPts val="1656"/>
              <ns1:buChar char="●"/>
            </ns1:pPr>
            <ns1:r>
              <ns1:rPr lang="es-ES">
                <ns1:latin typeface="Cambria"/>
                <ns1:ea typeface="Cambria"/>
                <ns1:cs typeface="Cambria"/>
                <ns1:sym typeface="Cambria"/>
              </ns1:rPr>
              <ns1:t>Selecciona longitud, masa o temperatura. Ingresa un valor y las unidades de origen y destino; el cliente solicita la operación al servicio y muestra el resultado con dos decimales.</ns1:t>
            </ns1:r>
            <ns1:endParaRPr dirty="0">
              <ns1:latin typeface="Cambria"/>
              <ns1:ea typeface="Cambria"/>
              <ns1:cs typeface="Cambria"/>
              <ns1:sym typeface="Cambria"/>
            </ns1:endParaRPr>
          </ns1:p>
        </ns0:txBody>
      </ns0:sp>
      <ns0:pic>
        <ns0:nvPicPr>
          <ns0:cNvPr id="405" name="soap_cliweb_conversion.png"/>
          <ns0:cNvPicPr/>
          <ns0:nvPr/>
        </ns0:nvPicPr>
        <ns0:blipFill>
          <ns1:blip ns2:embed="rId405"/>
          <ns1:srcRect/>
          <ns1:stretch>
            <ns1:fillRect/>
          </ns1:stretch>
        </ns0:blipFill>
        <ns0:spPr>
          <ns1:xfrm>
            <ns1:off x="3686896" y="2600000"/>
            <ns1:ext cx="5400000" cy="3350000"/>
          </ns1:xfrm>
          <ns1:prstGeom prst="rect">
            <ns1:avLst/>
          </ns1:prstGeom>
          <ns1:ln w="12700">
            <ns1:solidFill>
              <ns1:srgbClr val="CCCCCC"/>
            </ns1:solidFill>
          </ns1:ln>
        </ns0:spPr>
      </ns0:pic>
    </ns0:spTree>
  </ns0:cSld>
  <ns0:clrMapOvr>
    <ns1:masterClrMapping/>
  </ns0:clrMapOvr>
</ns0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7" name="Google Shape;427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37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 CLIENTE MÓVIL</a:t>
            </a: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1"/>
          </p:nvPr>
        </p:nvSpPr>
        <p:spPr>
          <a:xfrm>
            <a:off x="581200" y="2253923"/>
            <a:ext cx="41781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Crea una aplicación Android con Java y una actividad vacía. Agrega ksoap2-android y configura el acceso al servicio SOAP en localhost:8080.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En emulador o dispositivo físico, usa una dirección de host accesible desde Android.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figuración del proyecto y dependencia cliente">
            <a:extLst>
              <a:ext uri="{FF2B5EF4-FFF2-40B4-BE49-F238E27FC236}">
                <a16:creationId xmlns:a16="http://schemas.microsoft.com/office/drawing/2014/main" id="{7FA02659-968B-436E-8575-1E22FA0ED2B1}"/>
              </a:ext>
            </a:extLst>
          </p:cNvPr>
          <p:cNvSpPr/>
          <p:nvPr/>
        </p:nvSpPr>
        <p:spPr>
          <a:xfrm>
            <a:off x="904275" y="5528800"/>
            <a:ext cx="4335775" cy="5995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Configuración del proyecto y dependencia cliente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Creación de actividad Android">
            <a:extLst>
              <a:ext uri="{FF2B5EF4-FFF2-40B4-BE49-F238E27FC236}">
                <a16:creationId xmlns:a16="http://schemas.microsoft.com/office/drawing/2014/main" id="{41284340-73FC-4346-8B2A-67FE8EF1697E}"/>
              </a:ext>
            </a:extLst>
          </p:cNvPr>
          <p:cNvSpPr/>
          <p:nvPr/>
        </p:nvSpPr>
        <p:spPr>
          <a:xfrm>
            <a:off x="5410937" y="4209124"/>
            <a:ext cx="3622500" cy="1917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Creación de actividad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aptura del módulo descrito en esta diapositiva">
            <a:extLst>
              <a:ext uri="{FF2B5EF4-FFF2-40B4-BE49-F238E27FC236}">
                <a16:creationId xmlns:a16="http://schemas.microsoft.com/office/drawing/2014/main" id="{4C801D5B-CB78-4EE0-B2EB-3BF11E28CAE4}"/>
              </a:ext>
            </a:extLst>
          </p:cNvPr>
          <p:cNvSpPr/>
          <p:nvPr/>
        </p:nvSpPr>
        <p:spPr>
          <a:xfrm>
            <a:off x="6418749" y="2402189"/>
            <a:ext cx="1606875" cy="16918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del módulo descrito en esta diapositiva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2d624313899_0_15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38" name="Google Shape;438;g2d624313899_0_15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2d624313899_0_157"/>
          <p:cNvSpPr txBox="1">
            <a:spLocks noGrp="1"/>
          </p:cNvSpPr>
          <p:nvPr>
            <p:ph type="body" idx="1"/>
          </p:nvPr>
        </p:nvSpPr>
        <p:spPr>
          <a:xfrm>
            <a:off x="581200" y="2253925"/>
            <a:ext cx="3644100" cy="348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Estructura del Proyecto (MVC)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14467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La aplicación separa actividades de interfaz, controladores, modelos y cliente SOAP. El patrón MVC organiza el inicio de sesión y el flujo de conversión.</a:t>
            </a:r>
            <a:endParaRPr lang="es-EC"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quetes y estructura MVC de Android">
            <a:extLst>
              <a:ext uri="{FF2B5EF4-FFF2-40B4-BE49-F238E27FC236}">
                <a16:creationId xmlns:a16="http://schemas.microsoft.com/office/drawing/2014/main" id="{36702E61-9B71-4603-BAD8-1C10AD2775F5}"/>
              </a:ext>
            </a:extLst>
          </p:cNvPr>
          <p:cNvSpPr/>
          <p:nvPr/>
        </p:nvSpPr>
        <p:spPr>
          <a:xfrm>
            <a:off x="4741537" y="2559253"/>
            <a:ext cx="3225165" cy="315976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Paquetes y estructura MVC de Android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d624313899_0_1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46" name="Google Shape;446;g2d624313899_0_17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2d624313899_0_172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Modelo: SoapClient.java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Usa ksoap2-android para construir solicitudes SOAP y procesar respuestas del servicio.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48" name="Google Shape;448;g2d624313899_0_172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Controlador: ConversionController.java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Coordina la selección de unidades, valida los datos y solicita la conversión al endpoint SOAP.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Controlador de conversión móvil">
            <a:extLst>
              <a:ext uri="{FF2B5EF4-FFF2-40B4-BE49-F238E27FC236}">
                <a16:creationId xmlns:a16="http://schemas.microsoft.com/office/drawing/2014/main" id="{760DE4C0-82E6-4314-AB2E-742463D86AE8}"/>
              </a:ext>
            </a:extLst>
          </p:cNvPr>
          <p:cNvSpPr/>
          <p:nvPr/>
        </p:nvSpPr>
        <p:spPr>
          <a:xfrm>
            <a:off x="4980331" y="3429000"/>
            <a:ext cx="3802710" cy="2848362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Controlador de conversión móvil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Cliente SOAP/REST del móvil">
            <a:extLst>
              <a:ext uri="{FF2B5EF4-FFF2-40B4-BE49-F238E27FC236}">
                <a16:creationId xmlns:a16="http://schemas.microsoft.com/office/drawing/2014/main" id="{BD4B1769-EB83-4114-B094-A3F8F5C58221}"/>
              </a:ext>
            </a:extLst>
          </p:cNvPr>
          <p:cNvSpPr/>
          <p:nvPr/>
        </p:nvSpPr>
        <p:spPr>
          <a:xfrm>
            <a:off x="491075" y="3711388"/>
            <a:ext cx="3478914" cy="2259718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n-US" sz="900" i="1">
                <a:solidFill>
                  <a:srgbClr val="666666"/>
                </a:solidFill>
                <a:latin typeface="Arial" panose="020B0604020202020204" pitchFamily="34" charset="0"/>
              </a:rPr>
              <a:t>Cliente SOAP/REST del móvil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2d624313899_0_19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56" name="Google Shape;456;g2d624313899_0_19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g2d624313899_0_193"/>
          <p:cNvSpPr txBox="1">
            <a:spLocks noGrp="1"/>
          </p:cNvSpPr>
          <p:nvPr>
            <p:ph type="body" idx="1"/>
          </p:nvPr>
        </p:nvSpPr>
        <p:spPr>
          <a:xfrm>
            <a:off x="491075" y="129425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LoginActivity.java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Solicita las credenciales MONSTER / MONSTER9 y dirige a la conversión tras una respuesta válida.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58" name="Google Shape;458;g2d624313899_0_193"/>
          <p:cNvSpPr txBox="1">
            <a:spLocks noGrp="1"/>
          </p:cNvSpPr>
          <p:nvPr>
            <p:ph type="body" idx="1"/>
          </p:nvPr>
        </p:nvSpPr>
        <p:spPr>
          <a:xfrm>
            <a:off x="4698075" y="1376600"/>
            <a:ext cx="3888600" cy="32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Vista: ConversionActivity.java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656"/>
              <a:buNone/>
            </a:pPr>
            <a:r>
              <a:rPr lang="es-ES" sz="1564" b="1">
                <a:latin typeface="Cambria"/>
                <a:ea typeface="Cambria"/>
                <a:cs typeface="Cambria"/>
                <a:sym typeface="Cambria"/>
              </a:rPr>
              <a:t>Permite elegir magnitud y unidades, ingresar el valor y consultar el resultado del servicio.</a:t>
            </a:r>
            <a:endParaRPr sz="1564" b="1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Pantalla móvil de conversión">
            <a:extLst>
              <a:ext uri="{FF2B5EF4-FFF2-40B4-BE49-F238E27FC236}">
                <a16:creationId xmlns:a16="http://schemas.microsoft.com/office/drawing/2014/main" id="{285724F7-4293-4679-9704-747298B3B882}"/>
              </a:ext>
            </a:extLst>
          </p:cNvPr>
          <p:cNvSpPr/>
          <p:nvPr/>
        </p:nvSpPr>
        <p:spPr>
          <a:xfrm>
            <a:off x="5096586" y="3395466"/>
            <a:ext cx="3346888" cy="3121255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conversión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4" name="CAPTURA PENDIENTE - Pantalla móvil de inicio de sesión">
            <a:extLst>
              <a:ext uri="{FF2B5EF4-FFF2-40B4-BE49-F238E27FC236}">
                <a16:creationId xmlns:a16="http://schemas.microsoft.com/office/drawing/2014/main" id="{04AF29B5-117D-4812-83CA-A17B8CAD3DD2}"/>
              </a:ext>
            </a:extLst>
          </p:cNvPr>
          <p:cNvSpPr/>
          <p:nvPr/>
        </p:nvSpPr>
        <p:spPr>
          <a:xfrm>
            <a:off x="595071" y="3523400"/>
            <a:ext cx="3704493" cy="2290259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Pantalla móvil de inicio de sesión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d6d00c5bd2_3_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94" name="Google Shape;494;g2d6d00c5bd2_3_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2d6d00c5bd2_3_16"/>
          <p:cNvSpPr txBox="1">
            <a:spLocks noGrp="1"/>
          </p:cNvSpPr>
          <p:nvPr>
            <p:ph type="body" idx="1"/>
          </p:nvPr>
        </p:nvSpPr>
        <p:spPr>
          <a:xfrm>
            <a:off x="581200" y="1984125"/>
            <a:ext cx="8589300" cy="11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lvl="0" indent="-317981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ct val="91998"/>
              <a:buFont typeface="Cambria"/>
              <a:buChar char="●"/>
            </a:pPr>
            <a:r>
              <a:rPr lang="es-ES">
                <a:latin typeface="Cambria"/>
                <a:ea typeface="Cambria"/>
                <a:cs typeface="Cambria"/>
                <a:sym typeface="Cambria"/>
              </a:rPr>
              <a:t>Ejecuta primero el servidor SOAP. Luego inicia la aplicación en un emulador o dispositivo Android y verifica el acceso a la dirección del host y al puerto 8080.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CAPTURA PENDIENTE - Ejecución en dispositivo físico">
            <a:extLst>
              <a:ext uri="{FF2B5EF4-FFF2-40B4-BE49-F238E27FC236}">
                <a16:creationId xmlns:a16="http://schemas.microsoft.com/office/drawing/2014/main" id="{EFF9EA56-8E4A-4C81-B84A-E7CEC6A7482C}"/>
              </a:ext>
            </a:extLst>
          </p:cNvPr>
          <p:cNvSpPr/>
          <p:nvPr/>
        </p:nvSpPr>
        <p:spPr>
          <a:xfrm>
            <a:off x="4375360" y="3132224"/>
            <a:ext cx="1577205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dispositivo físico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sp>
        <p:nvSpPr>
          <p:cNvPr id="3" name="CAPTURA PENDIENTE - Ejecución en emulador">
            <a:extLst>
              <a:ext uri="{FF2B5EF4-FFF2-40B4-BE49-F238E27FC236}">
                <a16:creationId xmlns:a16="http://schemas.microsoft.com/office/drawing/2014/main" id="{6C8C1FDA-779D-4992-A82B-C2E2CFB93887}"/>
              </a:ext>
            </a:extLst>
          </p:cNvPr>
          <p:cNvSpPr/>
          <p:nvPr/>
        </p:nvSpPr>
        <p:spPr>
          <a:xfrm>
            <a:off x="2107289" y="3132225"/>
            <a:ext cx="1720640" cy="3469750"/>
          </a:xfrm>
          <a:prstGeom prst="rect">
            <a:avLst/>
          </a:prstGeom>
          <a:solidFill>
            <a:srgbClr val="FFFFFF"/>
          </a:solidFill>
          <a:ln w="15875">
            <a:solidFill>
              <a:srgbClr val="D9D9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6200" tIns="38100" rIns="76200" bIns="38100" rtlCol="0" anchor="ctr">
            <a:noAutofit/>
          </a:bodyPr>
          <a:lstStyle/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CAPTURA PENDIENTE</a:t>
            </a:r>
          </a:p>
          <a:p>
            <a:pPr algn="ctr"/>
            <a:r>
              <a:rPr lang="es-ES" sz="900" i="1">
                <a:solidFill>
                  <a:srgbClr val="666666"/>
                </a:solidFill>
                <a:latin typeface="Arial" panose="020B0604020202020204" pitchFamily="34" charset="0"/>
              </a:rPr>
              <a:t>Ejecución en emulador</a:t>
            </a:r>
            <a:endParaRPr lang="en-US" sz="900" i="1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503" name="Google Shape;503;p41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El sistema mantiene una lógica de conversión común para las aplicaciones de consola, escritorio, web y móvil. SOAP publica operaciones interoperables que los clientes Java consumen mediante sus herramientas correspondientes.</a:t>
            </a: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La autenticación se realiza antes de convertir y las unidades se organizan en tres magnitudes. La solución es SINBDD: utiliza datos en memoria y no requiere persistencia en una base de datos.</a:t>
            </a:r>
            <a:endParaRPr sz="1900" dirty="0"/>
          </a:p>
        </p:txBody>
      </p:sp>
      <p:sp>
        <p:nvSpPr>
          <p:cNvPr id="504" name="Google Shape;504;p4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510" name="Google Shape;510;p42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Mantén el servidor activo antes de iniciar los clientes y prueba cada operación con valores conocidos.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Conserva sincronizados los endpoints SOAP, los modelos de solicitud y las respuestas de los cuatro clientes.</a:t>
            </a:r>
          </a:p>
          <a:p>
            <a:pPr marL="457200" lvl="0" indent="-3401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lang="es-ES" sz="1900"/>
              <a:t>Al tomar capturas para el manual, incluye el inicio de sesión, una conversión por magnitud y la ejecución del servidor. Registra el valor enviado, las unidades y el resultado visible.</a:t>
            </a:r>
            <a:endParaRPr lang="es-MX" sz="1900" dirty="0"/>
          </a:p>
        </p:txBody>
      </p:sp>
      <p:sp>
        <p:nvSpPr>
          <p:cNvPr id="511" name="Google Shape;511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</a:t>
            </a: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2320</Words>
  <Application>Microsoft Office PowerPoint</Application>
  <PresentationFormat>Panorámica</PresentationFormat>
  <Paragraphs>489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6" baseType="lpstr">
      <vt:lpstr>Gill Sans</vt:lpstr>
      <vt:lpstr>Arial</vt:lpstr>
      <vt:lpstr>Calibri</vt:lpstr>
      <vt:lpstr>Cambria</vt:lpstr>
      <vt:lpstr>Noto Sans Symbols</vt:lpstr>
      <vt:lpstr>Dividendo</vt:lpstr>
      <vt:lpstr>MANUAL TÉCNICO SOAP JAVA SINBDD GR09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Técnico SOAP Java SINBDD GR09</dc:title>
  <dc:creator>Julio Enrique Viche Castillo</dc:creator>
  <cp:lastModifiedBy>Julio Enrique Viche Castillo</cp:lastModifiedBy>
  <cp:revision>5</cp:revision>
  <dcterms:created xsi:type="dcterms:W3CDTF">2026-10-28T05:41:41Z</dcterms:created>
  <dcterms:modified xsi:type="dcterms:W3CDTF">2026-10-28T05:41:41Z</dcterms:modified>
</cp:coreProperties>
</file>