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Gill Sans" panose="020B0604020202020204" charset="0"/>
      <p:regular r:id="rId33"/>
      <p:bold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Cambria" panose="02040503050406030204" pitchFamily="18" charset="0"/>
      <p:regular r:id="rId39"/>
      <p:bold r:id="rId40"/>
      <p:italic r:id="rId41"/>
      <p:boldItalic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76981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594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9019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658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4220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710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3517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7045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7244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6857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703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0856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60180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1136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5348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440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2062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5481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2770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0138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2724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4093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20345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53354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89652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56196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18468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30581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82968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17698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8926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pt-BR">
                <a:solidFill>
                  <a:schemeClr val="lt1"/>
                </a:solidFill>
              </a:rPr>
              <a:t>MANUAL TÉCNICO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SOAP JAVA SINBDD GR09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6200000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sz="1600" b="1">
                <a:solidFill>
                  <a:schemeClr val="lt1"/>
                </a:solidFill>
              </a:rPr>
              <a:t>MURILLO MEDINA, GABRIEL OMAR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sz="1600" b="1">
                <a:solidFill>
                  <a:schemeClr val="lt1"/>
                </a:solidFill>
              </a:rPr>
              <a:t>VICHE CASTILLO, JULIO ENRIQUE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GRUPO: GR09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19999" y="5301801"/>
            <a:ext cx="4318000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27/10/2026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ASIGNATURA: ARQUITECTURA DE SOFTWARE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JAVA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CONSOLA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ESCRITORIO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WEB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MÓVIL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OBJETIVO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lang="es-ES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Documentar la configuración, arquitectura, ejecución y validación del conversor de unidades. El sistema ofrece clientes de consola, escritorio, web y móvil conectados a un servicio Java de tipo 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SOAP.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Las conversiones se organizan en longitud, masa y temperatura. Cada cliente inicia con autenticación usando MONSTER / MONSTER9. Los datos se mantienen en memoria; no se utiliza base de datos.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 CREACIÓN DEL SERVIDOR SOAP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endParaRPr lang="es-ES" sz="1929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Java 11, Jakarta XML Web Services y Metro. Publisher.java publica ambos endpoints en localhost:8080.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Compila desde 04. SERVIDOR con mvn clean package.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soap_server_pom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34986" y="3724354"/>
            <a:ext cx="3249332" cy="216422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02" name="soap_server_endpoint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53500" y="3716772"/>
            <a:ext cx="3480507" cy="216422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03" name="soap_server_paquetes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3709191"/>
            <a:ext cx="3131854" cy="2179386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1.2 CONTRATO DEL SERVICIO SOAP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endParaRPr lang="es-ES" sz="135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WSDL describe las operaciones SOAP/XML de autenticación y conversión para longitud, masa y temperatura.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Autentica al usuario antes de invocar una conversión.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Captura 5 evidencia_ti-1-1-soap-java_s5-2.png" descr="WSDL del servicio SOAP ejecut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478" y="3429000"/>
            <a:ext cx="4169043" cy="2964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ARQUITECTURA DEL SERVIDOR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endParaRPr lang="es-ES" sz="1677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La solución separa la publicación del servicio de la lógica de conversión. Publisher inicializa Metro; los endpoints SOAP delegan autenticación y conversiones en las clases de servicio.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Los catálogos de unidades y las fórmulas permanecen en memoria.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Captura 6 evidencia_ti-1-1-soap-java_s6-2.png" descr="Paquetes y componentes del servidor SOAP 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937" y="2942128"/>
            <a:ext cx="3268557" cy="18895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660" y="21082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DESPLIEGUE EN PAYARA SERVER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Payara Server despliega ServidorSOAP.war en localhost:8080 y publica ServicioAutenticacion y ServicioConversion.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Mantén activo Payara Server mientras se ejecutan los clientes Java.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soap_server_publisher_exec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75414" y="2817286"/>
            <a:ext cx="5100000" cy="361543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530" y="1921510"/>
            <a:ext cx="60186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Captura 8 evidencia_ti-1-1-soap-java_s8-3.png" descr="Prueba de conversión de temperatu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23160"/>
            <a:ext cx="2770632" cy="1783080"/>
          </a:xfrm>
          <a:prstGeom prst="rect">
            <a:avLst/>
          </a:prstGeom>
        </p:spPr>
      </p:pic>
      <p:pic>
        <p:nvPicPr>
          <p:cNvPr id="4" name="Captura 8 evidencia_ti-1-1-soap-java_s8-4.png" descr="Prueba de conversión de mas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423160"/>
            <a:ext cx="2770632" cy="1783080"/>
          </a:xfrm>
          <a:prstGeom prst="rect">
            <a:avLst/>
          </a:prstGeom>
        </p:spPr>
      </p:pic>
      <p:pic>
        <p:nvPicPr>
          <p:cNvPr id="5" name="Captura 8 evidencia_ti-1-1-soap-java_s8-5.png" descr="Prueba de conversión de longitu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423160"/>
            <a:ext cx="2770632" cy="1783080"/>
          </a:xfrm>
          <a:prstGeom prst="rect">
            <a:avLst/>
          </a:prstGeom>
        </p:spPr>
      </p:pic>
      <p:pic>
        <p:nvPicPr>
          <p:cNvPr id="6" name="Captura 8 evidencia_ti-1-1-soap-java_s8-6.png" descr="Prueba de autenticación del cliente SOAP Jav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4434840"/>
            <a:ext cx="2770632" cy="1783080"/>
          </a:xfrm>
          <a:prstGeom prst="rect">
            <a:avLst/>
          </a:prstGeom>
        </p:spPr>
      </p:pic>
      <p:pic>
        <p:nvPicPr>
          <p:cNvPr id="105" name="soap_server_wsdl_browser.png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4709160" y="4434840"/>
            <a:ext cx="2770632" cy="178308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CREACIÓN DEL CLIENTE CONSOLA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 una aplicación Java con Maven en NetBeans. Configura el consumo de los endpoints SOAP y separa modelo, vista y controlador.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cliente presenta primero el formulario de autenticación y, al validar las credenciales, muestra el menú de conversión.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onfiguración Maven - consola">
            <a:extLst>
              <a:ext uri="{FF2B5EF4-FFF2-40B4-BE49-F238E27FC236}">
                <a16:creationId xmlns:a16="http://schemas.microsoft.com/office/drawing/2014/main" xmlns="" id="{3A7959C0-C4A0-43B5-A418-6987B537CAD0}"/>
              </a:ext>
            </a:extLst>
          </p:cNvPr>
          <p:cNvSpPr/>
          <p:nvPr/>
        </p:nvSpPr>
        <p:spPr>
          <a:xfrm>
            <a:off x="4740234" y="4191000"/>
            <a:ext cx="420116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>
            <a:noAutofit/>
          </a:bodyPr>
          <a:lstStyle/>
          <a:p>
            <a:r>
              <a:rPr lang="es-ES" sz="850" smtClean="0">
                <a:solidFill>
                  <a:srgbClr val="000000"/>
                </a:solidFill>
                <a:latin typeface="Consolas" panose="020B0609020204030204" pitchFamily="49" charset="0"/>
              </a:rPr>
              <a:t>&lt;artifactId&gt;ClienteConsolaSOAP&lt;/artifactId&gt;
&lt;version&gt;1.0.0&lt;/version&gt;
&lt;packaging&gt;jar&lt;/packaging&gt;
&lt;dependency&gt;
  &lt;groupId&gt;jakarta.xml.ws&lt;/groupId&gt;
  &lt;artifactId&gt;jakarta.xml.ws-api&lt;/artifactId&gt;
  &lt;version&gt;4.0.1&lt;/version&gt;
&lt;/dependency&gt;
&lt;dependency&gt;
  &lt;groupId&gt;com.sun.xml.ws&lt;/groupId&gt;
  &lt;artifactId&gt;jaxws-rt&lt;/artifactId&gt;
  &lt;version&gt;4.0.2&lt;/version&gt;
&lt;/dependency&gt;</a:t>
            </a:r>
            <a:endParaRPr lang="en-US" sz="85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Captura propia - console-project-tree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4191000"/>
            <a:ext cx="35306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ConversionRequest representa los datos de magnitud, valor y unidades que se envían al servicio.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controlador valida la sesión, prepara las llamadas SOAP y presenta al usuario el resultado de cada conversión.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ódigo editable - ConversionController">
            <a:extLst>
              <a:ext uri="{FF2B5EF4-FFF2-40B4-BE49-F238E27FC236}">
                <a16:creationId xmlns:a16="http://schemas.microsoft.com/office/drawing/2014/main" xmlns="" id="{7DD048F7-291C-4466-917F-C53A70400149}"/>
              </a:ext>
            </a:extLst>
          </p:cNvPr>
          <p:cNvSpPr/>
          <p:nvPr/>
        </p:nvSpPr>
        <p:spPr>
          <a:xfrm>
            <a:off x="4100618" y="4064763"/>
            <a:ext cx="5172027" cy="177748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>
            <a:noAutofit/>
          </a:bodyPr>
          <a:lstStyle/>
          <a:p>
            <a:r>
              <a:rPr lang="es-ES" sz="1000" smtClean="0">
                <a:solidFill>
                  <a:srgbClr val="000000"/>
                </a:solidFill>
                <a:latin typeface="Consolas" panose="020B0609020204030204" pitchFamily="49" charset="0"/>
              </a:rPr>
              <a:t>IServicioConversion convService = clientManager.getConversionService();
String token = sessionModel.getToken();
String magnitud = request.getMagnitud().toLowerCase();</a:t>
            </a:r>
            <a:endParaRPr lang="en-US" sz="10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ódigo editable - ConversionRequest">
            <a:extLst>
              <a:ext uri="{FF2B5EF4-FFF2-40B4-BE49-F238E27FC236}">
                <a16:creationId xmlns:a16="http://schemas.microsoft.com/office/drawing/2014/main" xmlns="" id="{BE1FDCDF-BB08-4024-ACC0-08D4758E0B68}"/>
              </a:ext>
            </a:extLst>
          </p:cNvPr>
          <p:cNvSpPr/>
          <p:nvPr/>
        </p:nvSpPr>
        <p:spPr>
          <a:xfrm>
            <a:off x="811793" y="4064763"/>
            <a:ext cx="2955257" cy="185048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>
            <a:noAutofit/>
          </a:bodyPr>
          <a:lstStyle/>
          <a:p>
            <a:r>
              <a:rPr lang="nb-NO" sz="1200" smtClean="0">
                <a:solidFill>
                  <a:srgbClr val="000000"/>
                </a:solidFill>
                <a:latin typeface="Consolas" panose="020B0609020204030204" pitchFamily="49" charset="0"/>
              </a:rPr>
              <a:t>private String magnitud;
private String unidadOrigen;
private String unidadDestino;
private double valor;</a:t>
            </a:r>
            <a:endParaRPr 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vista de consola guía el inicio de sesión y ofrece opciones para convertir longitud, masa o temperatura. Muestra mensajes de validación y el resultado con dos decimales.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Captura 11 evidencia_ti-1-1-soap-java_s11-2.png" descr="Cliente de consola SOAP Java: selección y result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54" y="2617179"/>
            <a:ext cx="3977795" cy="26092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660" y="1930400"/>
            <a:ext cx="2413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soap_clicon_login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200" y="2700000"/>
            <a:ext cx="4150000" cy="18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02" name="soap_clicon_longitud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900000" y="2700000"/>
            <a:ext cx="4150000" cy="18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03" name="soap_clicon_masa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81200" y="4700000"/>
            <a:ext cx="4150000" cy="18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04" name="soap_clicon_temperatura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900000" y="4700000"/>
            <a:ext cx="4150000" cy="18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1.4 CREACIÓN DEL PROYECTO – CLIENTE ESCRITORIO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Crea la aplicación Java de escritorio con Maven. La interfaz Swing consume los mismos endpoints SOAP y sigue el patrón Modelo-Vista-Controlador.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propia - desktop-project-tree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819" y="3270983"/>
            <a:ext cx="4140200" cy="2832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cliente Swing organiza la interfaz, el estado de conversión y el consumo SOAP con el patrón MVC.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Modelo: conserva los datos de sesión y de la conversión.</a:t>
            </a:r>
            <a:endParaRPr lang="es-EC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xmlns="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Controlador: valida entradas y coordina la llamada SOAP.</a:t>
            </a:r>
            <a:endParaRPr lang="es-EC" dirty="0"/>
          </a:p>
        </p:txBody>
      </p:sp>
      <p:sp>
        <p:nvSpPr>
          <p:cNvPr id="3" name="Código de controlador (texto)">
            <a:extLst>
              <a:ext uri="{FF2B5EF4-FFF2-40B4-BE49-F238E27FC236}">
                <a16:creationId xmlns:a16="http://schemas.microsoft.com/office/drawing/2014/main" xmlns="" id="{8D27FDBE-3262-425D-901F-736C75C67653}"/>
              </a:ext>
            </a:extLst>
          </p:cNvPr>
          <p:cNvSpPr/>
          <p:nvPr/>
        </p:nvSpPr>
        <p:spPr>
          <a:xfrm>
            <a:off x="5925023" y="3893361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25400" bIns="12700" rtlCol="0" anchor="ctr">
            <a:noAutofit/>
          </a:bodyPr>
          <a:lstStyle/>
          <a:p>
            <a:r>
              <a:rPr lang="pt-BR" sz="700" smtClean="0">
                <a:solidFill>
                  <a:srgbClr val="000000"/>
                </a:solidFill>
                <a:latin typeface="Consolas" panose="020B0609020204030204" pitchFamily="49" charset="0"/>
              </a:rPr>
              <a:t>String token = sessionModel.getToken();</a:t>
            </a:r>
            <a:endParaRPr lang="en-US" sz="7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ódigo de modelo (texto)">
            <a:extLst>
              <a:ext uri="{FF2B5EF4-FFF2-40B4-BE49-F238E27FC236}">
                <a16:creationId xmlns:a16="http://schemas.microsoft.com/office/drawing/2014/main" xmlns="" id="{D9BA546A-1E15-4A80-AA57-994B60F099F9}"/>
              </a:ext>
            </a:extLst>
          </p:cNvPr>
          <p:cNvSpPr/>
          <p:nvPr/>
        </p:nvSpPr>
        <p:spPr>
          <a:xfrm>
            <a:off x="2611811" y="3836431"/>
            <a:ext cx="2476500" cy="3429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25400" bIns="12700" rtlCol="0" anchor="ctr">
            <a:noAutofit/>
          </a:bodyPr>
          <a:lstStyle/>
          <a:p>
            <a:r>
              <a:rPr lang="nb-NO" sz="700" smtClean="0">
                <a:solidFill>
                  <a:srgbClr val="000000"/>
                </a:solidFill>
                <a:latin typeface="Consolas" panose="020B0609020204030204" pitchFamily="49" charset="0"/>
              </a:rPr>
              <a:t>private String usuario;</a:t>
            </a:r>
          </a:p>
          <a:p>
            <a:r>
              <a:rPr lang="nb-NO" sz="700" smtClean="0">
                <a:solidFill>
                  <a:srgbClr val="000000"/>
                </a:solidFill>
                <a:latin typeface="Consolas" panose="020B0609020204030204" pitchFamily="49" charset="0"/>
              </a:rPr>
              <a:t>private String token;</a:t>
            </a:r>
            <a:endParaRPr lang="en-US" sz="7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Captura propia - desktop-mvc-tree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11" y="2609850"/>
            <a:ext cx="3022600" cy="1104900"/>
          </a:xfrm>
          <a:prstGeom prst="rect">
            <a:avLst/>
          </a:prstGeom>
        </p:spPr>
      </p:pic>
      <p:pic>
        <p:nvPicPr>
          <p:cNvPr id="7" name="Captura propia - desktop-client-classes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259" y="4377212"/>
            <a:ext cx="3670300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vista Swing contiene las ventanas de autenticación y conversión. Los controles permiten seleccionar magnitud y unidades, ingresar el valor y consultar el resultado.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" name="Captura 15 evidencia_ti-1-1-soap-java_s15-2.png" descr="Cliente de escritorio SOAP Java: convers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858" y="2831802"/>
            <a:ext cx="4081317" cy="33240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Inicio de sesión del cliente de escritorio. Ingresa MONSTER / MONSTER9 para acceder al conversor.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01" name="soap_cliesc_login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466800" y="2100000"/>
            <a:ext cx="3730000" cy="420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Formulario de conversión. Selecciona la magnitud, las unidades de origen y destino, e ingresa el valor que se enviará al servicio SOAP.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02" name="soap_cliesc_conversion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50000" y="2200000"/>
            <a:ext cx="4800000" cy="391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CREACIÓN DEL PROYECTO – CLIENTE WEB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s-ES" sz="1800" b="1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cliente web se despliega como ClienteWeb.war en Payara Server. Las vistas HTML/JSP presentan las pantallas; LoginServlet y ConversionServlet gestionan la sesión y las solicitudes SOAP.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propia - web-client-tree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3835400"/>
            <a:ext cx="2095500" cy="711200"/>
          </a:xfrm>
          <a:prstGeom prst="rect">
            <a:avLst/>
          </a:prstGeom>
        </p:spPr>
      </p:pic>
      <p:pic>
        <p:nvPicPr>
          <p:cNvPr id="5" name="Captura propia - evidencia_cliente_soap_java_panel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050" y="3517900"/>
            <a:ext cx="4267200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Las vistas conversor.html y conversor.jsp ofrecen el formulario de conversión. ConversionServlet comunica el cliente web con el servicio SOAP.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" name="CuadroTexto 12">
            <a:extLst>
              <a:ext uri="{FF2B5EF4-FFF2-40B4-BE49-F238E27FC236}">
                <ns2:creationId xmlns:ns3="http://schemas.openxmlformats.org/officeDocument/2006/relationships" xmlns:ns2="http://schemas.microsoft.com/office/drawing/2014/main" xmlns:ns1="http://schemas.openxmlformats.org/drawingml/2006/main" xmlns:ns0="http://schemas.openxmlformats.org/presentationml/2006/main" xmlns="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formulario envía los datos al Servlet y presenta el resultado de la conversión.</a:t>
            </a:r>
            <a:endParaRPr lang="es-EC" dirty="0"/>
          </a:p>
        </p:txBody>
      </p:sp>
      <p:pic>
        <p:nvPicPr>
          <p:cNvPr id="401" name="soap_cliweb_conversion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500000" y="2900000"/>
            <a:ext cx="5500000" cy="3416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index.html y index.jsp ofrecen el inicio de sesión. LoginServlet valida las credenciales y habilita el acceso al conversor cuando son correctas.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2" name="soap_cliweb_login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713000" y="2800000"/>
            <a:ext cx="5957000" cy="370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 el servidor SOAP y después el cliente web. Abre http://localhost:8081/ClienteWeb/ en el navegador para acceder al formulario de autenticación y las funciones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3" name="soap_cliweb_conversion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715000" y="2800000"/>
            <a:ext cx="5950000" cy="370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Acceso al cliente web. Ingresa MONSTER / MONSTER9; una sesión válida permite continuar a la pantalla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4" name="soap_cliweb_login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0000" y="2700000"/>
            <a:ext cx="5500000" cy="3416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Selecciona longitud, masa o temperatura. Ingresa un valor y las unidades de origen y destino; el cliente solicita la operación al servicio y muestra el resultado con dos decimales.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5" name="soap_cliweb_conversion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86896" y="2600000"/>
            <a:ext cx="5400000" cy="335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CLIENTE MÓVIL</a:t>
            </a: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 una aplicación Android con Java y una actividad vacía. Agrega ksoap2-android y configura el acceso al servicio SOAP en localhost:8080.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En emulador o dispositivo físico, usa una dirección de host accesible desde Android.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Gradle - dependencia SOAP">
            <a:extLst>
              <a:ext uri="{FF2B5EF4-FFF2-40B4-BE49-F238E27FC236}">
                <a16:creationId xmlns:a16="http://schemas.microsoft.com/office/drawing/2014/main" xmlns="" id="{7FA02659-968B-436E-8575-1E22FA0ED2B1}"/>
              </a:ext>
            </a:extLst>
          </p:cNvPr>
          <p:cNvSpPr/>
          <p:nvPr/>
        </p:nvSpPr>
        <p:spPr>
          <a:xfrm>
            <a:off x="904275" y="5528800"/>
            <a:ext cx="4335775" cy="5995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>
            <a:noAutofit/>
          </a:bodyPr>
          <a:lstStyle/>
          <a:p>
            <a:r>
              <a:rPr lang="es-ES" sz="850" smtClean="0">
                <a:solidFill>
                  <a:srgbClr val="000000"/>
                </a:solidFill>
                <a:latin typeface="Consolas" panose="020B0609020204030204" pitchFamily="49" charset="0"/>
              </a:rPr>
              <a:t>dependencies {
    implementation("com.google.code.ksoap2-android:ksoap2-android:3.6.4")
}</a:t>
            </a:r>
            <a:endParaRPr lang="en-US" sz="85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Captura propia - evidencia_cliente_movil_soap_java_masa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220" y="2400300"/>
            <a:ext cx="759460" cy="1689100"/>
          </a:xfrm>
          <a:prstGeom prst="rect">
            <a:avLst/>
          </a:prstGeom>
        </p:spPr>
      </p:pic>
      <p:pic>
        <p:nvPicPr>
          <p:cNvPr id="3" name="Captura propia - estructura actividad Android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300" y="4203700"/>
            <a:ext cx="3289300" cy="1917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Estructura del Proyecto (MVC)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aplicación separa actividades de interfaz, controladores, modelos y cliente SOAP. El patrón MVC organiza el inicio de sesión y el flujo de conversión.</a:t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propia - mobile-mvc-tree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537" y="2559253"/>
            <a:ext cx="322580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Modelo: SoapClient.java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Usa ksoap2-android para construir solicitudes SOAP y procesar respuestas del servicio.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Controlador: ConversionController.java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Coordina la selección de unidades, valida los datos y solicita la conversión al endpoint SOAP.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ódigo editable - ConversionController Android">
            <a:extLst>
              <a:ext uri="{FF2B5EF4-FFF2-40B4-BE49-F238E27FC236}">
                <a16:creationId xmlns:a16="http://schemas.microsoft.com/office/drawing/2014/main" xmlns="" id="{760DE4C0-82E6-4314-AB2E-742463D86AE8}"/>
              </a:ext>
            </a:extLst>
          </p:cNvPr>
          <p:cNvSpPr/>
          <p:nvPr/>
        </p:nvSpPr>
        <p:spPr>
          <a:xfrm>
            <a:off x="4980331" y="3429000"/>
            <a:ext cx="3802710" cy="284836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>
            <a:noAutofit/>
          </a:bodyPr>
          <a:lstStyle/>
          <a:p>
            <a:r>
              <a:rPr lang="es-ES" sz="900" smtClean="0">
                <a:solidFill>
                  <a:srgbClr val="000000"/>
                </a:solidFill>
                <a:latin typeface="Consolas" panose="020B0609020204030204" pitchFamily="49" charset="0"/>
              </a:rPr>
              <a:t>Future&lt;ConversionResponse&gt; future;
String magnitud = req.getMagnitud().toLowerCase();
switch (magnitud) {
    case "longitud":
        future = soapClient.convertirLongitud(
            baseUrl, token, req.getValor(),
            req.getUnidadOrigen(), req.getUnidadDestino());
        break;
}</a:t>
            </a:r>
            <a:endParaRPr lang="en-US" sz="9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ódigo editable - SoapClient Android">
            <a:extLst>
              <a:ext uri="{FF2B5EF4-FFF2-40B4-BE49-F238E27FC236}">
                <a16:creationId xmlns:a16="http://schemas.microsoft.com/office/drawing/2014/main" xmlns="" id="{BD4B1769-EB83-4114-B094-A3F8F5C58221}"/>
              </a:ext>
            </a:extLst>
          </p:cNvPr>
          <p:cNvSpPr/>
          <p:nvPr/>
        </p:nvSpPr>
        <p:spPr>
          <a:xfrm>
            <a:off x="491075" y="3711388"/>
            <a:ext cx="3478914" cy="225971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t">
            <a:noAutofit/>
          </a:bodyPr>
          <a:lstStyle/>
          <a:p>
            <a:r>
              <a:rPr lang="en-US" sz="900" smtClean="0">
                <a:solidFill>
                  <a:srgbClr val="000000"/>
                </a:solidFill>
                <a:latin typeface="Consolas" panose="020B0609020204030204" pitchFamily="49" charset="0"/>
              </a:rPr>
              <a:t>String endpoint = normalizarUrl(baseUrl) + "/ServicioAutenticacion";
String soapAction = NAMESPACE + "iniciarSesion";
SoapObject request = new SoapObject(NAMESPACE, "iniciarSesion");
request.addProperty("usuario", usuario);
request.addProperty("clave", clave);</a:t>
            </a:r>
            <a:endParaRPr lang="en-US" sz="9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LoginActivity.java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Solicita las credenciales MONSTER / MONSTER9 y dirige a la conversión tras una respuesta válida.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ConversionActivity.java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Permite elegir magnitud y unidades, ingresar el valor y consultar el resultado del servicio.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59" name="Captura conversión móvil SOAP Java" descr="Conversión Android SOAP Java: 100.00 Metro a 10000.00 Centimetro"/>
          <p:cNvPicPr>
            <a:picLocks noChangeAspect="1"/>
          </p:cNvPicPr>
          <p:nvPr/>
        </p:nvPicPr>
        <p:blipFill>
          <a:blip r:embed="rId3"/>
          <a:srcRect t="1000" b="30000"/>
          <a:stretch>
            <a:fillRect/>
          </a:stretch>
        </p:blipFill>
        <p:spPr>
          <a:xfrm>
            <a:off x="5669280" y="3593592"/>
            <a:ext cx="1818861" cy="2788920"/>
          </a:xfrm>
          <a:prstGeom prst="rect">
            <a:avLst/>
          </a:prstGeom>
        </p:spPr>
      </p:pic>
      <p:pic>
        <p:nvPicPr>
          <p:cNvPr id="2" name="Captura login móvil SOAP Java" descr="Cliente móvil SOAP Java: inicio de sesión capturado en Android"/>
          <p:cNvPicPr>
            <a:picLocks noChangeAspect="1"/>
          </p:cNvPicPr>
          <p:nvPr/>
        </p:nvPicPr>
        <p:blipFill>
          <a:blip r:embed="rId4"/>
          <a:srcRect t="16000" b="28000"/>
          <a:stretch>
            <a:fillRect/>
          </a:stretch>
        </p:blipFill>
        <p:spPr>
          <a:xfrm>
            <a:off x="1508760" y="3593592"/>
            <a:ext cx="2241096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Ejecuta primero el servidor SOAP. Luego inicia la aplicación en un emulador o dispositivo Android y verifica el acceso a la dirección del host y al puerto 8080.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96" name="Captura móvil SOAP Java emulador" descr="Ejecución móvil SOAP Java en emulador: 100.00 Celsius a 212.00 Fahrenheit"/>
          <p:cNvPicPr>
            <a:picLocks noChangeAspect="1"/>
          </p:cNvPicPr>
          <p:nvPr/>
        </p:nvPicPr>
        <p:blipFill>
          <a:blip r:embed="rId3"/>
          <a:srcRect t="1000" b="30000"/>
          <a:stretch>
            <a:fillRect/>
          </a:stretch>
        </p:blipFill>
        <p:spPr>
          <a:xfrm>
            <a:off x="1097280" y="2907792"/>
            <a:ext cx="2295939" cy="3520440"/>
          </a:xfrm>
          <a:prstGeom prst="rect">
            <a:avLst/>
          </a:prstGeom>
        </p:spPr>
      </p:pic>
      <p:pic>
        <p:nvPicPr>
          <p:cNvPr id="3" name="Captura cliente móvil - Inicio de sesión" descr="Captura del cliente móvil Android: pantalla de inicio de sesión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00" b="28000"/>
          <a:stretch>
            <a:fillRect/>
          </a:stretch>
        </p:blipFill>
        <p:spPr>
          <a:xfrm>
            <a:off x="4937760" y="2907792"/>
            <a:ext cx="2828925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El sistema mantiene una lógica de conversión común para las aplicaciones de consola, escritorio, web y móvil. SOAP publica operaciones interoperables que los clientes Java consumen mediante sus herramientas correspondientes.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autenticación se realiza antes de convertir y las unidades se organizan en tres magnitudes. La solución es SINBDD: utiliza datos en memoria y no requiere persistencia en una base de datos.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Mantén el servidor activo antes de iniciar los clientes y prueba cada operación con valores conocidos.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Conserva sincronizados los endpoints SOAP, los modelos de solicitud y las respuestas de los cuatro clientes.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Al tomar capturas para el manual, incluye el inicio de sesión, una conversión por magnitud y la ejecución del servidor. Registra el valor enviado, las unidades y el resultado visible.</a:t>
            </a:r>
            <a:endParaRPr lang="es-MX" sz="1900" dirty="0"/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2002</Words>
  <Application>Microsoft Office PowerPoint</Application>
  <PresentationFormat>Panorámica</PresentationFormat>
  <Paragraphs>405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Noto Sans Symbols</vt:lpstr>
      <vt:lpstr>Arial</vt:lpstr>
      <vt:lpstr>Gill Sans</vt:lpstr>
      <vt:lpstr>Consolas</vt:lpstr>
      <vt:lpstr>Cambria</vt:lpstr>
      <vt:lpstr>Calibri</vt:lpstr>
      <vt:lpstr>Dividendo</vt:lpstr>
      <vt:lpstr>MANUAL TÉCNICO SOAP JAVA SINBDD GR09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Técnico SOAP Java SINBDD GR09</dc:title>
  <dc:creator>Murillo Medina, Gabriel Omar; Viche Castillo, Julio Enrique</dc:creator>
  <cp:lastModifiedBy>Murillo Medina, Gabriel Omar; Viche Castillo, Julio Enrique</cp:lastModifiedBy>
  <cp:revision>10</cp:revision>
  <dcterms:created xsi:type="dcterms:W3CDTF">2026-10-28T05:41:41Z</dcterms:created>
  <dcterms:modified xsi:type="dcterms:W3CDTF">2026-10-29T22:34:26Z</dcterms:modified>
</cp:coreProperties>
</file>