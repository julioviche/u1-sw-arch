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ns0:Relationships xmlns:ns0="http://schemas.openxmlformats.org/package/2006/relationships"><ns0:Relationship Id="rId2" Type="http://schemas.openxmlformats.org/officeDocument/2006/relationships/notesSlide" Target="../notesSlides/notesSlide4.xml" /><ns0:Relationship Id="rId1" Type="http://schemas.openxmlformats.org/officeDocument/2006/relationships/slideLayout" Target="../slideLayouts/slideLayout2.xml" /><ns0:Relationship Id="rId101" Type="http://schemas.openxmlformats.org/officeDocument/2006/relationships/image" Target="../media/soap_server_pom.png" /><ns0:Relationship Id="rId102" Type="http://schemas.openxmlformats.org/officeDocument/2006/relationships/image" Target="../media/soap_server_endpoint.png" /><ns0:Relationship Id="rId103" Type="http://schemas.openxmlformats.org/officeDocument/2006/relationships/image" Target="../media/soap_server_paquetes.png" /></ns0: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ns0:Relationships xmlns:ns0="http://schemas.openxmlformats.org/package/2006/relationships"><ns0:Relationship Id="rId2" Type="http://schemas.openxmlformats.org/officeDocument/2006/relationships/notesSlide" Target="../notesSlides/notesSlide7.xml" /><ns0:Relationship Id="rId1" Type="http://schemas.openxmlformats.org/officeDocument/2006/relationships/slideLayout" Target="../slideLayouts/slideLayout2.xml" /><ns0:Relationship Id="rId104" Type="http://schemas.openxmlformats.org/officeDocument/2006/relationships/image" Target="../media/soap_server_publisher_exec.png" /></ns0:Relationships>
</file>

<file path=ppt/slides/_rels/slide8.xml.rels><ns0:Relationships xmlns:ns0="http://schemas.openxmlformats.org/package/2006/relationships"><ns0:Relationship Id="rId2" Type="http://schemas.openxmlformats.org/officeDocument/2006/relationships/notesSlide" Target="../notesSlides/notesSlide8.xml" /><ns0:Relationship Id="rId1" Type="http://schemas.openxmlformats.org/officeDocument/2006/relationships/slideLayout" Target="../slideLayouts/slideLayout2.xml" /><ns0:Relationship Id="rId105" Type="http://schemas.openxmlformats.org/officeDocument/2006/relationships/image" Target="../media/soap_server_wsdl_browser.png" /></ns0: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ns0:Relationships xmlns:ns0="http://schemas.openxmlformats.org/package/2006/relationships"><ns0:Relationship Id="rId2" Type="http://schemas.openxmlformats.org/officeDocument/2006/relationships/notesSlide" Target="../notesSlides/notesSlide12.xml" /><ns0:Relationship Id="rId1" Type="http://schemas.openxmlformats.org/officeDocument/2006/relationships/slideLayout" Target="../slideLayouts/slideLayout2.xml" /><ns0:Relationship Id="rId201" Type="http://schemas.openxmlformats.org/officeDocument/2006/relationships/image" Target="../media/soap_clicon_login.png" /><ns0:Relationship Id="rId202" Type="http://schemas.openxmlformats.org/officeDocument/2006/relationships/image" Target="../media/soap_clicon_longitud.png" /><ns0:Relationship Id="rId203" Type="http://schemas.openxmlformats.org/officeDocument/2006/relationships/image" Target="../media/soap_clicon_masa.png" /><ns0:Relationship Id="rId204" Type="http://schemas.openxmlformats.org/officeDocument/2006/relationships/image" Target="../media/soap_clicon_temperatura.png" /></ns0: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ns0:Relationships xmlns:ns0="http://schemas.openxmlformats.org/package/2006/relationships"><ns0:Relationship Id="rId2" Type="http://schemas.openxmlformats.org/officeDocument/2006/relationships/notesSlide" Target="../notesSlides/notesSlide16.xml" /><ns0:Relationship Id="rId1" Type="http://schemas.openxmlformats.org/officeDocument/2006/relationships/slideLayout" Target="../slideLayouts/slideLayout2.xml" /><ns0:Relationship Id="rId301" Type="http://schemas.openxmlformats.org/officeDocument/2006/relationships/image" Target="../media/soap_cliesc_login.png" /></ns0:Relationships>
</file>

<file path=ppt/slides/_rels/slide17.xml.rels><ns0:Relationships xmlns:ns0="http://schemas.openxmlformats.org/package/2006/relationships"><ns0:Relationship Id="rId2" Type="http://schemas.openxmlformats.org/officeDocument/2006/relationships/notesSlide" Target="../notesSlides/notesSlide17.xml" /><ns0:Relationship Id="rId1" Type="http://schemas.openxmlformats.org/officeDocument/2006/relationships/slideLayout" Target="../slideLayouts/slideLayout2.xml" /><ns0:Relationship Id="rId302" Type="http://schemas.openxmlformats.org/officeDocument/2006/relationships/image" Target="../media/soap_cliesc_conversion.png" /></ns0: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ns0:Relationships xmlns:ns0="http://schemas.openxmlformats.org/package/2006/relationships"><ns0:Relationship Id="rId2" Type="http://schemas.openxmlformats.org/officeDocument/2006/relationships/notesSlide" Target="../notesSlides/notesSlide19.xml" /><ns0:Relationship Id="rId1" Type="http://schemas.openxmlformats.org/officeDocument/2006/relationships/slideLayout" Target="../slideLayouts/slideLayout2.xml" /><ns0:Relationship Id="rId401" Type="http://schemas.openxmlformats.org/officeDocument/2006/relationships/image" Target="../media/soap_cliweb_conversion.png" /></ns0:Relationships>
</file>

<file path=ppt/slides/_rels/slide20.xml.rels><ns0:Relationships xmlns:ns0="http://schemas.openxmlformats.org/package/2006/relationships"><ns0:Relationship Id="rId2" Type="http://schemas.openxmlformats.org/officeDocument/2006/relationships/notesSlide" Target="../notesSlides/notesSlide20.xml" /><ns0:Relationship Id="rId1" Type="http://schemas.openxmlformats.org/officeDocument/2006/relationships/slideLayout" Target="../slideLayouts/slideLayout2.xml" /><ns0:Relationship Id="rId402" Type="http://schemas.openxmlformats.org/officeDocument/2006/relationships/image" Target="../media/soap_cliweb_login.png" /></ns0:Relationships>
</file>

<file path=ppt/slides/_rels/slide21.xml.rels><ns0:Relationships xmlns:ns0="http://schemas.openxmlformats.org/package/2006/relationships"><ns0:Relationship Id="rId2" Type="http://schemas.openxmlformats.org/officeDocument/2006/relationships/notesSlide" Target="../notesSlides/notesSlide21.xml" /><ns0:Relationship Id="rId1" Type="http://schemas.openxmlformats.org/officeDocument/2006/relationships/slideLayout" Target="../slideLayouts/slideLayout2.xml" /><ns0:Relationship Id="rId403" Type="http://schemas.openxmlformats.org/officeDocument/2006/relationships/image" Target="../media/soap_cliweb_conversion.png" /></ns0:Relationships>
</file>

<file path=ppt/slides/_rels/slide22.xml.rels><ns0:Relationships xmlns:ns0="http://schemas.openxmlformats.org/package/2006/relationships"><ns0:Relationship Id="rId2" Type="http://schemas.openxmlformats.org/officeDocument/2006/relationships/notesSlide" Target="../notesSlides/notesSlide22.xml" /><ns0:Relationship Id="rId1" Type="http://schemas.openxmlformats.org/officeDocument/2006/relationships/slideLayout" Target="../slideLayouts/slideLayout2.xml" /><ns0:Relationship Id="rId404" Type="http://schemas.openxmlformats.org/officeDocument/2006/relationships/image" Target="../media/soap_cliweb_login.png" /></ns0:Relationships>
</file>

<file path=ppt/slides/_rels/slide23.xml.rels><ns0:Relationships xmlns:ns0="http://schemas.openxmlformats.org/package/2006/relationships"><ns0:Relationship Id="rId2" Type="http://schemas.openxmlformats.org/officeDocument/2006/relationships/notesSlide" Target="../notesSlides/notesSlide23.xml" /><ns0:Relationship Id="rId1" Type="http://schemas.openxmlformats.org/officeDocument/2006/relationships/slideLayout" Target="../slideLayouts/slideLayout2.xml" /><ns0:Relationship Id="rId405" Type="http://schemas.openxmlformats.org/officeDocument/2006/relationships/image" Target="../media/soap_cliweb_conversion.png" /></ns0: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120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21" name="Google Shape;121;g2d6d00c5bd2_0_0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122" name="Google Shape;122;g2d6d00c5bd2_0_0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2180500"/>
            <ns1:ext cx="8589300" cy="16335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 fontScale="92500"/>
          </ns1:bodyPr>
          <ns1:lstStyle/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r>
              <ns1:rPr lang="es-ES" sz="1929" b="1">
                <ns1:latin typeface="Cambria"/>
                <ns1:ea typeface="Cambria"/>
                <ns1:cs typeface="Cambria"/>
                <ns1:sym typeface="Cambria"/>
              </ns1:rPr>
              <ns1:t>1.2 CREACIÓN DEL SERVIDOR SOAP</ns1:t>
            </ns1:r>
          </ns1:p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endParaRPr lang="es-ES" sz="1929" b="1">
              <ns1:latin typeface="Cambria"/>
              <ns1:ea typeface="Cambria"/>
              <ns1:cs typeface="Cambria"/>
              <ns1:sym typeface="Cambria"/>
            </ns1:endParaRPr>
          </ns1:p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r>
              <ns1:rPr lang="es-ES" sz="1929" b="1">
                <ns1:latin typeface="Cambria"/>
                <ns1:ea typeface="Cambria"/>
                <ns1:cs typeface="Cambria"/>
                <ns1:sym typeface="Cambria"/>
              </ns1:rPr>
              <ns1:t>Java 11, Jakarta XML Web Services y Metro. Publisher.java publica ambos endpoints en localhost:8080.</ns1:t>
            </ns1:r>
          </ns1:p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r>
              <ns1:rPr lang="es-ES" sz="1929" b="1">
                <ns1:latin typeface="Cambria"/>
                <ns1:ea typeface="Cambria"/>
                <ns1:cs typeface="Cambria"/>
                <ns1:sym typeface="Cambria"/>
              </ns1:rPr>
              <ns1:t>Compila desde 04. SERVIDOR con mvn clean package.</ns1:t>
            </ns1:r>
            <ns1:endParaRPr sz="1800"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23" name="Google Shape;123;g2d6d00c5bd2_0_0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pic>
        <ns0:nvPicPr>
          <ns0:cNvPr id="101" name="soap_server_pom.png"/>
          <ns0:cNvPicPr/>
          <ns0:nvPr/>
        </ns0:nvPicPr>
        <ns0:blipFill>
          <ns1:blip ns2:embed="rId101"/>
          <ns1:srcRect/>
          <ns1:stretch>
            <ns1:fillRect/>
          </ns1:stretch>
        </ns0:blipFill>
        <ns0:spPr>
          <ns1:xfrm>
            <ns1:off x="234986" y="3724354"/>
            <ns1:ext cx="3249332" cy="2164222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102" name="soap_server_endpoint.png"/>
          <ns0:cNvPicPr/>
          <ns0:nvPr/>
        </ns0:nvPicPr>
        <ns0:blipFill>
          <ns1:blip ns2:embed="rId102"/>
          <ns1:srcRect/>
          <ns1:stretch>
            <ns1:fillRect/>
          </ns1:stretch>
        </ns0:blipFill>
        <ns0:spPr>
          <ns1:xfrm>
            <ns1:off x="2953500" y="3716772"/>
            <ns1:ext cx="3480507" cy="2164222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103" name="soap_server_paquetes.png"/>
          <ns0:cNvPicPr/>
          <ns0:nvPr/>
        </ns0:nvPicPr>
        <ns0:blipFill>
          <ns1:blip ns2:embed="rId103"/>
          <ns1:srcRect/>
          <ns1:stretch>
            <ns1:fillRect/>
          </ns1:stretch>
        </ns0:blipFill>
        <ns0:spPr>
          <ns1:xfrm>
            <ns1:off x="6096000" y="3709191"/>
            <ns1:ext cx="3131854" cy="2179386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de servicios SOAP/REST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16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64" name="Google Shape;164;g2d624313899_0_26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165" name="Google Shape;165;g2d624313899_0_26"/>
          <ns0:cNvSpPr txBox="1">
            <ns1:spLocks noGrp="1"/>
          </ns0:cNvSpPr>
          <ns0:nvPr>
            <ns0:ph type="body" idx="1"/>
          </ns0:nvPr>
        </ns0:nvSpPr>
        <ns0:spPr>
          <ns1:xfrm>
            <ns1:off x="581660" y="2108200"/>
            <ns1:ext cx="3048000" cy="38100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s-ES" b="1">
                <ns1:latin typeface="Cambria"/>
                <ns1:ea typeface="Cambria"/>
                <ns1:cs typeface="Cambria"/>
                <ns1:sym typeface="Cambria"/>
              </ns1:rPr>
              <ns1:t>DESPLIEGUE EN PAYARA SERVER</ns1:t>
            </ns1:r>
          </ns1:p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endParaRPr lang="es-ES" b="1">
              <ns1:latin typeface="Cambria"/>
              <ns1:ea typeface="Cambria"/>
              <ns1:cs typeface="Cambria"/>
              <ns1:sym typeface="Cambria"/>
            </ns1:endParaRPr>
          </ns1:p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s-ES" b="1">
                <ns1:latin typeface="Cambria"/>
                <ns1:ea typeface="Cambria"/>
                <ns1:cs typeface="Cambria"/>
                <ns1:sym typeface="Cambria"/>
              </ns1:rPr>
              <ns1:t>Payara Server despliega ServidorSOAP.war en localhost:8080 y publica ServicioAutenticacion y ServicioConversion.</ns1:t>
            </ns1:r>
          </ns1:p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s-ES" b="1">
                <ns1:latin typeface="Cambria"/>
                <ns1:ea typeface="Cambria"/>
                <ns1:cs typeface="Cambria"/>
                <ns1:sym typeface="Cambria"/>
              </ns1:rPr>
              <ns1:t>Mantén activo Payara Server mientras se ejecutan los clientes Java.</ns1:t>
            </ns1:r>
            <ns1:endParaRPr lang="es-MX" sz="1670"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66" name="Google Shape;166;g2d624313899_0_26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pic>
        <ns0:nvPicPr>
          <ns0:cNvPr id="104" name="soap_server_publisher_exec.png"/>
          <ns0:cNvPicPr/>
          <ns0:nvPr/>
        </ns0:nvPicPr>
        <ns0:blipFill>
          <ns1:blip ns2:embed="rId104"/>
          <ns1:srcRect/>
          <ns1:stretch>
            <ns1:fillRect/>
          </ns1:stretch>
        </ns0:blipFill>
        <ns0:spPr>
          <ns1:xfrm>
            <ns1:off x="3875414" y="2817286"/>
            <ns1:ext cx="5100000" cy="3615432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>
    <ns0:spTree>
      <ns0:nvGrpSpPr>
        <ns0:cNvPr id="1" name="Shape 187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88" name="Google Shape;188;g2d624313899_0_71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189" name="Google Shape;189;g2d624313899_0_71"/>
          <ns0:cNvSpPr txBox="1">
            <ns1:spLocks noGrp="1"/>
          </ns0:cNvSpPr>
          <ns0:nvPr>
            <ns0:ph type="body" idx="1"/>
          </ns0:nvPr>
        </ns0:nvSpPr>
        <ns0:spPr>
          <ns1:xfrm>
            <ns1:off x="684530" y="1921510"/>
            <ns1:ext cx="6018600" cy="6985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0" lvl="0" indent="0" algn="l" rtl="0">
              <ns1:lnSpc>
                <ns1:spcPct val="115000"/>
              </ns1:lnSpc>
              <ns1:spcBef>
                <ns1:spcPts val="1200"/>
              </ns1:spcBef>
              <ns1:spcAft>
                <ns1:spcPts val="1200"/>
              </ns1:spcAft>
              <ns1:buSzPts val="4140"/>
              <ns1:buNone/>
            </ns1:pPr>
            <ns1:r>
              <ns1:rPr lang="es-ES" sz="1564" b="1">
                <ns1:latin typeface="Cambria"/>
                <ns1:ea typeface="Cambria"/>
                <ns1:cs typeface="Cambria"/>
                <ns1:sym typeface="Cambria"/>
              </ns1:rPr>
              <ns1:t>PRUEBAS DEL SERVICIO</ns1:t>
            </ns1:r>
            <ns1:endParaRPr sz="167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90" name="Google Shape;190;g2d624313899_0_71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" name="CAPTURA PENDIENTE - Prueba de conversión de temperatura">
            <ns1:extLst>
              <ns1:ext uri="{FF2B5EF4-FFF2-40B4-BE49-F238E27FC236}">
                <ns2:creationId id="{DEA656A8-E519-47C1-AE44-5E7BD4AF055A}"/>
              </ns1:ext>
            </ns1:extLst>
          </ns0:cNvPr>
          <ns0:cNvSpPr/>
          <ns0:nvPr/>
        </ns0:nvSpPr>
        <ns0:spPr>
          <ns1:xfrm>
            <ns1:off x="2961150" y="4415104"/>
            <ns1:ext cx="2761232" cy="2172650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conversión de temperatura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4" name="CAPTURA PENDIENTE - Prueba de conversión de masa">
            <ns1:extLst>
              <ns1:ext uri="{FF2B5EF4-FFF2-40B4-BE49-F238E27FC236}">
                <ns2:creationId id="{C2E3AF7B-1C5B-485E-8F00-68AB1DFA319F}"/>
              </ns1:ext>
            </ns1:extLst>
          </ns0:cNvPr>
          <ns0:cNvSpPr/>
          <ns0:nvPr/>
        </ns0:nvSpPr>
        <ns0:spPr>
          <ns1:xfrm>
            <ns1:off x="330934" y="4415104"/>
            <ns1:ext cx="2630216" cy="2008990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conversión de masa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5" name="CAPTURA PENDIENTE - Prueba de conversión de longitud">
            <ns1:extLst>
              <ns1:ext uri="{FF2B5EF4-FFF2-40B4-BE49-F238E27FC236}">
                <ns2:creationId id="{C9C3B946-C4DF-42E1-81A6-50079FD40A92}"/>
              </ns1:ext>
            </ns1:extLst>
          </ns0:cNvPr>
          <ns0:cNvSpPr/>
          <ns0:nvPr/>
        </ns0:nvSpPr>
        <ns0:spPr>
          <ns1:xfrm>
            <ns1:off x="4671319" y="1994161"/>
            <ns1:ext cx="2849245" cy="2075815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conversión de longitud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6" name="CAPTURA PENDIENTE - Prueba de autenticación">
            <ns1:extLst>
              <ns1:ext uri="{FF2B5EF4-FFF2-40B4-BE49-F238E27FC236}">
                <ns2:creationId id="{D9C4CD0A-85E6-4476-8C1E-18E66A405171}"/>
              </ns1:ext>
            </ns1:extLst>
          </ns0:cNvPr>
          <ns0:cNvSpPr/>
          <ns0:nvPr/>
        </ns0:nvSpPr>
        <ns0:spPr>
          <ns1:xfrm>
            <ns1:off x="679863" y="2724790"/>
            <ns1:ext cx="3776665" cy="1345186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autenticación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pic>
        <ns0:nvPicPr>
          <ns0:cNvPr id="105" name="soap_server_wsdl_browser.png"/>
          <ns0:cNvPicPr/>
          <ns0:nvPr/>
        </ns0:nvPicPr>
        <ns0:blipFill>
          <ns1:blip ns3:embed="rId105"/>
          <ns1:srcRect/>
          <ns1:stretch>
            <ns1:fillRect/>
          </ns1:stretch>
        </ns0:blipFill>
        <ns0:spPr>
          <ns1:xfrm>
            <ns1:off x="4800000" y="3900000"/>
            <ns1:ext cx="4200000" cy="26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Java Maven">
            <a:extLst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Java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255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56" name="Google Shape;256;g2d624313899_0_138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257" name="Google Shape;257;g2d624313899_0_138"/>
          <ns0:cNvSpPr txBox="1">
            <ns1:spLocks noGrp="1"/>
          </ns0:cNvSpPr>
          <ns0:nvPr>
            <ns0:ph type="body" idx="1"/>
          </ns0:nvPr>
        </ns0:nvSpPr>
        <ns0:spPr>
          <ns1:xfrm>
            <ns1:off x="581660" y="1930400"/>
            <ns1:ext cx="2413000" cy="6985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0" lvl="0" indent="0" algn="l" rtl="0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SzPts val="1656"/>
              <ns1:buNone/>
            </ns1:pPr>
            <ns1:r>
              <ns1:rPr lang="es-ES" sz="1564" b="1">
                <ns1:latin typeface="Cambria"/>
                <ns1:ea typeface="Cambria"/>
                <ns1:cs typeface="Cambria"/>
                <ns1:sym typeface="Cambria"/>
              </ns1:rPr>
              <ns1:t>Ejecución del Proyecto</ns1:t>
            </ns1:r>
            <ns1:endParaRPr sz="1564" b="1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258" name="Google Shape;258;g2d624313899_0_138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pic>
        <ns0:nvPicPr>
          <ns0:cNvPr id="201" name="soap_clicon_login.png"/>
          <ns0:cNvPicPr/>
          <ns0:nvPr/>
        </ns0:nvPicPr>
        <ns0:blipFill>
          <ns1:blip ns2:embed="rId201"/>
          <ns1:srcRect/>
          <ns1:stretch>
            <ns1:fillRect/>
          </ns1:stretch>
        </ns0:blipFill>
        <ns0:spPr>
          <ns1:xfrm>
            <ns1:off x="581200" y="2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202" name="soap_clicon_longitud.png"/>
          <ns0:cNvPicPr/>
          <ns0:nvPr/>
        </ns0:nvPicPr>
        <ns0:blipFill>
          <ns1:blip ns2:embed="rId202"/>
          <ns1:srcRect/>
          <ns1:stretch>
            <ns1:fillRect/>
          </ns1:stretch>
        </ns0:blipFill>
        <ns0:spPr>
          <ns1:xfrm>
            <ns1:off x="4900000" y="2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203" name="soap_clicon_masa.png"/>
          <ns0:cNvPicPr/>
          <ns0:nvPr/>
        </ns0:nvPicPr>
        <ns0:blipFill>
          <ns1:blip ns2:embed="rId203"/>
          <ns1:srcRect/>
          <ns1:stretch>
            <ns1:fillRect/>
          </ns1:stretch>
        </ns0:blipFill>
        <ns0:spPr>
          <ns1:xfrm>
            <ns1:off x="581200" y="4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204" name="soap_clicon_temperatura.png"/>
          <ns0:cNvPicPr/>
          <ns0:nvPr/>
        </ns0:nvPicPr>
        <ns0:blipFill>
          <ns1:blip ns2:embed="rId204"/>
          <ns1:srcRect/>
          <ns1:stretch>
            <ns1:fillRect/>
          </ns1:stretch>
        </ns0:blipFill>
        <ns0:spPr>
          <ns1:xfrm>
            <ns1:off x="4900000" y="4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Java">
            <a:extLst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Java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15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16" name="Google Shape;316;g31974b856cc_0_137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17" name="Google Shape;317;g31974b856cc_0_137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18" name="Google Shape;318;g31974b856cc_0_137"/>
          <ns0:cNvSpPr txBox="1">
            <ns1:spLocks noGrp="1"/>
          </ns0:cNvSpPr>
          <ns0:nvPr>
            <ns0:ph type="body" idx="1"/>
          </ns0:nvPr>
        </ns0:nvSpPr>
        <ns0:spPr>
          <ns1:xfrm>
            <ns1:off x="6326975" y="2523925"/>
            <ns1:ext cx="28083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Inicio de sesión del cliente de escritorio. Ingresa MONSTER / MONSTER9 para acceder al conversor.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301" name="soap_cliesc_login.png"/>
          <ns0:cNvPicPr/>
          <ns0:nvPr/>
        </ns0:nvPicPr>
        <ns0:blipFill>
          <ns1:blip ns2:embed="rId301"/>
          <ns1:srcRect/>
          <ns1:stretch>
            <ns1:fillRect/>
          </ns1:stretch>
        </ns0:blipFill>
        <ns0:spPr>
          <ns1:xfrm>
            <ns1:off x="1466800" y="2100000"/>
            <ns1:ext cx="3730000" cy="42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3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34" name="Google Shape;334;g2d6d00c5bd2_2_19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35" name="Google Shape;335;g2d6d00c5bd2_2_19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36" name="Google Shape;336;g2d6d00c5bd2_2_19"/>
          <ns0:cNvSpPr txBox="1">
            <ns1:spLocks noGrp="1"/>
          </ns0:cNvSpPr>
          <ns0:nvPr>
            <ns0:ph type="body" idx="1"/>
          </ns0:nvPr>
        </ns0:nvSpPr>
        <ns0:spPr>
          <ns1:xfrm>
            <ns1:off x="5791950" y="2411875"/>
            <ns1:ext cx="32289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Formulario de conversión. Selecciona la magnitud, las unidades de origen y destino, e ingresa el valor que se enviará al servicio SOAP.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302" name="soap_cliesc_conversion.png"/>
          <ns0:cNvPicPr/>
          <ns0:nvPr/>
        </ns0:nvPicPr>
        <ns0:blipFill>
          <ns1:blip ns2:embed="rId302"/>
          <ns1:srcRect/>
          <ns1:stretch>
            <ns1:fillRect/>
          </ns1:stretch>
        </ns0:blipFill>
        <ns0:spPr>
          <ns1:xfrm>
            <ns1:off x="650000" y="2200000"/>
            <ns1:ext cx="4800000" cy="391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Shape 341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42" name="Google Shape;342;p32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43" name="Google Shape;343;p32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44" name="Google Shape;344;p32"/>
          <ns0:cNvSpPr txBox="1"/>
          <ns0:nvPr/>
        </ns0:nvSpPr>
        <ns0:spPr>
          <ns1:xfrm>
            <ns1:off x="636600" y="1868348"/>
            <ns1:ext cx="8576700" cy="18261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 fontScale="92500" lnSpcReduction="10000"/>
          </ns1:bodyPr>
          <ns1:lstStyle/>
          <ns1:p>
            <ns1:pPr marL="0" marR="0" lvl="0" indent="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ct val="100000"/>
              <ns1:buFont typeface="Arial"/>
              <ns1:buNone/>
            </ns1:pPr>
            <ns1:r>
              <ns1:rPr lang="es-ES" sz="1800" b="1" i="0" u="none" strike="noStrike" cap="none">
                <ns1:solidFill>
                  <ns1:srgbClr val="3D3D3D"/>
                </ns1:solidFill>
                <ns1:latin typeface="Cambria"/>
                <ns1:ea typeface="Cambria"/>
                <ns1:cs typeface="Cambria"/>
                <ns1:sym typeface="Cambria"/>
              </ns1:rPr>
              <ns1:t>1.5 CREACIÓN DEL PROYECTO – CLIENTE WEB</ns1:t>
            </ns1:r>
          </ns1:p>
          <ns1:p>
            <ns1:pPr marL="0" marR="0" lvl="0" indent="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ct val="100000"/>
              <ns1:buFont typeface="Arial"/>
              <ns1:buNone/>
            </ns1:pPr>
            <ns1:endParaRPr lang="es-ES" sz="1800" b="1" i="0" u="none" strike="noStrike" cap="none">
              <ns1:solidFill>
                <ns1:srgbClr val="3D3D3D"/>
              </ns1:solidFill>
              <ns1:latin typeface="Cambria"/>
              <ns1:ea typeface="Cambria"/>
              <ns1:cs typeface="Cambria"/>
              <ns1:sym typeface="Cambria"/>
            </ns1:endParaRPr>
          </ns1:p>
          <ns1:p>
            <ns1:pPr marL="0" marR="0" lvl="0" indent="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ct val="100000"/>
              <ns1:buFont typeface="Arial"/>
              <ns1:buNone/>
            </ns1:pPr>
            <ns1:r>
              <ns1:rPr lang="es-ES" sz="1800" b="1" i="0" u="none" strike="noStrike" cap="none">
                <ns1:solidFill>
                  <ns1:srgbClr val="3D3D3D"/>
                </ns1:solidFill>
                <ns1:latin typeface="Cambria"/>
                <ns1:ea typeface="Cambria"/>
                <ns1:cs typeface="Cambria"/>
                <ns1:sym typeface="Cambria"/>
              </ns1:rPr>
              <ns1:t>El cliente web se despliega como ClienteWeb.war en Payara Server. Las vistas HTML/JSP presentan las pantallas; LoginServlet y ConversionServlet gestionan la sesión y las solicitudes SOAP.</ns1:t>
            </ns1:r>
            <ns1:endParaRPr sz="2000" dirty="0">
              <ns1:solidFill>
                <ns1:srgbClr val="3D3D3D"/>
              </ns1:solidFill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2" name="CAPTURA PENDIENTE - Configuración de Jetty y Servlets">
            <ns1:extLst>
              <ns1:ext uri="{FF2B5EF4-FFF2-40B4-BE49-F238E27FC236}">
                <ns2:creationId id="{16593287-0CEF-49B8-974F-2F1AE8A0C15E}"/>
              </ns1:ext>
            </ns1:extLst>
          </ns0:cNvPr>
          <ns0:cNvSpPr/>
          <ns0:nvPr/>
        </ns0:nvSpPr>
        <ns0:spPr>
          <ns1:xfrm>
            <ns1:off x="3863999" y="3524211"/>
            <ns1:ext cx="4959666" cy="3037954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El cliente web se despliega como ClienteWeb.war en Payara Server. Las vistas HTML/JSP presentan las pantallas; LoginServlet y ConversionServlet gestionan la sesión y las solicitudes SOAP.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3" name="CAPTURA PENDIENTE - Estructura del cliente web">
            <ns1:extLst>
              <ns1:ext uri="{FF2B5EF4-FFF2-40B4-BE49-F238E27FC236}">
                <ns2:creationId id="{9547CBA9-C1D8-4B24-853B-4A2AF89BF58F}"/>
              </ns1:ext>
            </ns1:extLst>
          </ns0:cNvPr>
          <ns0:cNvSpPr/>
          <ns0:nvPr/>
        </ns0:nvSpPr>
        <ns0:spPr>
          <ns1:xfrm>
            <ns1:off x="1211356" y="3839056"/>
            <ns1:ext cx="2095500" cy="561975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Estructura del cliente web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>
    <ns0:spTree>
      <ns0:nvGrpSpPr>
        <ns0:cNvPr id="1" name="Shape 375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76" name="Google Shape;376;g319782968e5_0_88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77" name="Google Shape;377;g319782968e5_0_88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78" name="Google Shape;378;g319782968e5_0_88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1944456"/>
            <ns1:ext cx="8589300" cy="13281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 sz="1800">
                <ns1:effectLst/>
                <ns1:latin typeface="Calibri" panose="020F0502020204030204" pitchFamily="34" charset="0"/>
                <ns1:ea typeface="Calibri" panose="020F0502020204030204" pitchFamily="34" charset="0"/>
              </ns1:rPr>
              <ns1:t>Las vistas conversor.html y conversor.jsp ofrecen el formulario de conversión. ConversionServlet comunica el cliente web con el servicio SOAP.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3" name="CuadroTexto 12">
            <ns1:extLst>
              <ns1:ext uri="{FF2B5EF4-FFF2-40B4-BE49-F238E27FC236}">
                <ns2:creationId id="{7EBFFD51-1503-4BCA-8CB9-C70596A06975}"/>
              </ns1:ext>
            </ns1:extLst>
          </ns0:cNvPr>
          <ns0:cNvSpPr txBox="1"/>
          <ns0:nvPr/>
        </ns0:nvSpPr>
        <ns0:spPr>
          <ns1:xfrm>
            <ns1:off x="719417" y="4185628"/>
            <ns1:ext cx="2624418" cy="1200329"/>
          </ns1:xfrm>
          <ns1:prstGeom prst="rect">
            <ns1:avLst/>
          </ns1:prstGeom>
          <ns1:noFill/>
        </ns0:spPr>
        <ns0:txBody>
          <ns1:bodyPr wrap="square">
            <ns1:spAutoFit/>
          </ns1:bodyPr>
          <ns1:lstStyle/>
          <ns1:p>
            <ns1:r>
              <ns1:rPr kumimoji="0" lang="es-ES" sz="1800" b="0" i="0" u="none" strike="noStrike" kern="0" cap="none" spc="0" normalizeH="0" baseline="0" noProof="0">
                <ns1:ln>
                  <ns1:noFill/>
                </ns1:ln>
                <ns1:solidFill>
                  <ns1:srgbClr val="3D3D3D"/>
                </ns1:solidFill>
                <ns1:effectLst/>
                <ns1:uLnTx/>
                <ns1:uFillTx/>
                <ns1:latin typeface="Calibri" panose="020F0502020204030204" pitchFamily="34" charset="0"/>
                <ns1:ea typeface="Calibri" panose="020F0502020204030204" pitchFamily="34" charset="0"/>
                <ns1:sym typeface="Gill Sans"/>
              </ns1:rPr>
              <ns1:t>El formulario envía los datos al Servlet y presenta el resultado de la conversión.</ns1:t>
            </ns1:r>
            <ns1:endParaRPr lang="es-EC" dirty="0"/>
          </ns1:p>
        </ns0:txBody>
      </ns0:sp>
      <ns0:pic>
        <ns0:nvPicPr>
          <ns0:cNvPr id="401" name="soap_cliweb_conversion.png"/>
          <ns0:cNvPicPr/>
          <ns0:nvPr/>
        </ns0:nvPicPr>
        <ns0:blipFill>
          <ns1:blip ns3:embed="rId401"/>
          <ns1:srcRect/>
          <ns1:stretch>
            <ns1:fillRect/>
          </ns1:stretch>
        </ns0:blipFill>
        <ns0:spPr>
          <ns1:xfrm>
            <ns1:off x="3500000" y="2900000"/>
            <ns1:ext cx="5500000" cy="3416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8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84" name="Google Shape;384;g319782968e5_0_73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85" name="Google Shape;385;g319782968e5_0_73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86" name="Google Shape;386;g319782968e5_0_73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1715856"/>
            <ns1:ext cx="8589300" cy="13281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342900" marR="0" lvl="0" indent="-34290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Font typeface="Noto Sans Symbols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index.html y index.jsp ofrecen el inicio de sesión. LoginServlet valida las credenciales y habilita el acceso al conversor cuando son correctas.</ns1:t>
            </ns1:r>
            <ns1:endParaRPr sz="1800"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2" name="soap_cliweb_login.png"/>
          <ns0:cNvPicPr/>
          <ns0:nvPr/>
        </ns0:nvPicPr>
        <ns0:blipFill>
          <ns1:blip ns2:embed="rId402"/>
          <ns1:srcRect/>
          <ns1:stretch>
            <ns1:fillRect/>
          </ns1:stretch>
        </ns0:blipFill>
        <ns0:spPr>
          <ns1:xfrm>
            <ns1:off x="1713000" y="2800000"/>
            <ns1:ext cx="5957000" cy="37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99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400" name="Google Shape;400;g319782968e5_0_112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401" name="Google Shape;401;g319782968e5_0_112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402" name="Google Shape;402;g319782968e5_0_112"/>
          <ns0:cNvSpPr txBox="1">
            <ns1:spLocks noGrp="1"/>
          </ns0:cNvSpPr>
          <ns0:nvPr>
            <ns0:ph type="body" idx="1"/>
          </ns0:nvPr>
        </ns0:nvSpPr>
        <ns0:spPr>
          <ns1:xfrm>
            <ns1:off x="1039100" y="1913200"/>
            <ns1:ext cx="8038500" cy="18033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Font typeface="Cambria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Inicia el servidor SOAP y después el cliente web. Abre http://localhost:8081/ClienteWeb/ en el navegador para acceder al formulario de autenticación y las funciones de conversión.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3" name="soap_cliweb_conversion.png"/>
          <ns0:cNvPicPr/>
          <ns0:nvPr/>
        </ns0:nvPicPr>
        <ns0:blipFill>
          <ns1:blip ns2:embed="rId403"/>
          <ns1:srcRect/>
          <ns1:stretch>
            <ns1:fillRect/>
          </ns1:stretch>
        </ns0:blipFill>
        <ns0:spPr>
          <ns1:xfrm>
            <ns1:off x="1715000" y="2800000"/>
            <ns1:ext cx="5950000" cy="37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409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410" name="Google Shape;410;g319782968e5_0_135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411" name="Google Shape;411;g319782968e5_0_135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412" name="Google Shape;412;g319782968e5_0_135"/>
          <ns0:cNvSpPr txBox="1">
            <ns1:spLocks noGrp="1"/>
          </ns0:cNvSpPr>
          <ns0:nvPr>
            <ns0:ph type="body" idx="1"/>
          </ns0:nvPr>
        </ns0:nvSpPr>
        <ns0:spPr>
          <ns1:xfrm>
            <ns1:off x="6326975" y="2523925"/>
            <ns1:ext cx="28083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Font typeface="Cambria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Acceso al cliente web. Ingresa MONSTER / MONSTER9; una sesión válida permite continuar a la pantalla de conversión.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4" name="soap_cliweb_login.png"/>
          <ns0:cNvPicPr/>
          <ns0:nvPr/>
        </ns0:nvPicPr>
        <ns0:blipFill>
          <ns1:blip ns2:embed="rId404"/>
          <ns1:srcRect/>
          <ns1:stretch>
            <ns1:fillRect/>
          </ns1:stretch>
        </ns0:blipFill>
        <ns0:spPr>
          <ns1:xfrm>
            <ns1:off x="600000" y="2700000"/>
            <ns1:ext cx="5500000" cy="3416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3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417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418" name="Google Shape;418;g319782968e5_0_123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419" name="Google Shape;419;g319782968e5_0_123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420" name="Google Shape;420;g319782968e5_0_123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2523925"/>
            <ns1:ext cx="28083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Selecciona longitud, masa o temperatura. Ingresa un valor y las unidades de origen y destino; el cliente solicita la operación al servicio y muestra el resultado con dos decimales.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5" name="soap_cliweb_conversion.png"/>
          <ns0:cNvPicPr/>
          <ns0:nvPr/>
        </ns0:nvPicPr>
        <ns0:blipFill>
          <ns1:blip ns2:embed="rId405"/>
          <ns1:srcRect/>
          <ns1:stretch>
            <ns1:fillRect/>
          </ns1:stretch>
        </ns0:blipFill>
        <ns0:spPr>
          <ns1:xfrm>
            <ns1:off x="3686896" y="2600000"/>
            <ns1:ext cx="5400000" cy="33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Agrega ksoap2-android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ksoap2-android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SOAP/REST del móvil">
            <a:extLst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SOAP/REST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Julio Enrique Viche Castillo / Gabriel Omar Murillo Medina</dc:creator>
  <cp:lastModifiedBy>Julio Enrique Viche Castillo / Gabriel Omar Murillo Medina</cp:lastModifiedBy>
  <cp:revision>5</cp:revision>
  <dcterms:created xsi:type="dcterms:W3CDTF">2026-10-28T05:41:41Z</dcterms:created>
  <dcterms:modified xsi:type="dcterms:W3CDTF">2026-10-28T05:41:41Z</dcterms:modified>
</cp:coreProperties>
</file>