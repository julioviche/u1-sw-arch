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Gill Sans" panose="020B0604020202020204" charset="0"/>
      <p:regular r:id="rId33"/>
      <p:bold r:id="rId34"/>
    </p:embeddedFont>
    <p:embeddedFont>
      <p:font typeface="Consolas" panose="020B0609020204030204" pitchFamily="49" charset="0"/>
      <p:regular r:id="rId35"/>
      <p:bold r:id="rId36"/>
      <p:italic r:id="rId37"/>
      <p:boldItalic r:id="rId38"/>
    </p:embeddedFont>
    <p:embeddedFont>
      <p:font typeface="Cambria" panose="02040503050406030204" pitchFamily="18" charset="0"/>
      <p:regular r:id="rId39"/>
      <p:bold r:id="rId40"/>
      <p:italic r:id="rId41"/>
      <p:boldItalic r:id="rId42"/>
    </p:embeddedFont>
    <p:embeddedFont>
      <p:font typeface="Calibri" panose="020F0502020204030204" pitchFamily="34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4769815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259449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79019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96581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34220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6710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5179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570458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572443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468570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67030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808562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6018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411365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53481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84408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62062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54817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27707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501386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27243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440936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520345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53354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889652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056196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518468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730581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382968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317698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8926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JAVA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6200000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sz="1600" b="1">
                <a:solidFill>
                  <a:schemeClr val="lt1"/>
                </a:solidFill>
              </a:rPr>
              <a:t>MURILLO MEDINA, GABRIEL OMAR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sz="1600" b="1">
                <a:solidFill>
                  <a:schemeClr val="lt1"/>
                </a:solidFill>
              </a:rPr>
              <a:t>VICHE CASTILLO, JULIO ENRIQUE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SOAP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Java 11, Jakarta XML Web Services y Metro. Publisher.java publica ambos endpoints en localhost:8080.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Compila desde 04. SERVIDOR con mvn clean package.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soap_server_pom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34986" y="3724354"/>
            <a:ext cx="3249332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02" name="soap_server_endpoint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53500" y="3716772"/>
            <a:ext cx="3480507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03" name="soap_server_paquetes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6096000" y="3709191"/>
            <a:ext cx="3131854" cy="21793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Captura 5 evidencia_ti-1-1-soap-java_s5-2.png" descr="WSDL del servicio SOAP ejecut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478" y="3429000"/>
            <a:ext cx="4169043" cy="29648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Captura 6 evidencia_ti-1-1-soap-java_s6-2.png" descr="Paquetes y componentes del servidor SOAP 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9937" y="2942128"/>
            <a:ext cx="3268557" cy="18895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DESPLIEGUE EN PAYARA SERVER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Payara Server despliega ServidorSOAP.war en localhost:8080 y publica ServicioAutenticacion y ServicioConversion.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Mantén activo Payara Server mientras se ejecutan los clientes Java.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soap_server_publisher_exec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75414" y="2817286"/>
            <a:ext cx="5100000" cy="361543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Captura 8 evidencia_ti-1-1-soap-java_s8-3.png" descr="Prueba de conversión de temperatu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150" y="4519592"/>
            <a:ext cx="2761232" cy="1963673"/>
          </a:xfrm>
          <a:prstGeom prst="rect">
            <a:avLst/>
          </a:prstGeom>
        </p:spPr>
      </p:pic>
      <p:pic>
        <p:nvPicPr>
          <p:cNvPr id="4" name="Captura 8 evidencia_ti-1-1-soap-java_s8-4.png" descr="Prueba de conversión de mas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34" y="4484349"/>
            <a:ext cx="2630216" cy="1870500"/>
          </a:xfrm>
          <a:prstGeom prst="rect">
            <a:avLst/>
          </a:prstGeom>
        </p:spPr>
      </p:pic>
      <p:pic>
        <p:nvPicPr>
          <p:cNvPr id="5" name="Captura 8 evidencia_ti-1-1-soap-java_s8-5.png" descr="Prueba de conversión de longit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1319" y="2018936"/>
            <a:ext cx="2849245" cy="2026264"/>
          </a:xfrm>
          <a:prstGeom prst="rect">
            <a:avLst/>
          </a:prstGeom>
        </p:spPr>
      </p:pic>
      <p:pic>
        <p:nvPicPr>
          <p:cNvPr id="6" name="Captura 8 evidencia_ti-1-1-soap-java_s8-6.png" descr="Prueba de autenticación del cliente SOAP Jav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424" y="2724790"/>
            <a:ext cx="1891543" cy="1345186"/>
          </a:xfrm>
          <a:prstGeom prst="rect">
            <a:avLst/>
          </a:prstGeom>
        </p:spPr>
      </p:pic>
      <p:pic>
        <p:nvPicPr>
          <p:cNvPr id="105" name="soap_server_wsdl_browser.png"/>
          <p:cNvPicPr/>
          <p:nvPr/>
        </p:nvPicPr>
        <p:blipFill>
          <a:blip r:embed="rId7"/>
          <a:srcRect/>
          <a:stretch>
            <a:fillRect/>
          </a:stretch>
        </p:blipFill>
        <p:spPr>
          <a:xfrm>
            <a:off x="4800000" y="3900000"/>
            <a:ext cx="4200000" cy="260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Java con Maven en NetBeans. Configura el consumo de los endpoints SOAP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onfiguración Maven - consola">
            <a:extLst>
              <a:ext uri="{FF2B5EF4-FFF2-40B4-BE49-F238E27FC236}">
                <a16:creationId xmlns:a16="http://schemas.microsoft.com/office/drawing/2014/main" xmlns="" id="{3A7959C0-C4A0-43B5-A418-6987B537CAD0}"/>
              </a:ext>
            </a:extLst>
          </p:cNvPr>
          <p:cNvSpPr/>
          <p:nvPr/>
        </p:nvSpPr>
        <p:spPr>
          <a:xfrm>
            <a:off x="4740234" y="4191000"/>
            <a:ext cx="4201160" cy="2413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s-ES" sz="850" smtClean="0">
                <a:solidFill>
                  <a:srgbClr val="000000"/>
                </a:solidFill>
                <a:latin typeface="Consolas" panose="020B0609020204030204" pitchFamily="49" charset="0"/>
              </a:rPr>
              <a:t>&lt;artifactId&gt;ClienteConsolaSOAP&lt;/artifactId&gt;
&lt;version&gt;1.0.0&lt;/version&gt;
&lt;packaging&gt;jar&lt;/packaging&gt;
&lt;dependency&gt;
  &lt;groupId&gt;jakarta.xml.ws&lt;/groupId&gt;
  &lt;artifactId&gt;jakarta.xml.ws-api&lt;/artifactId&gt;
  &lt;version&gt;4.0.1&lt;/version&gt;
&lt;/dependency&gt;
&lt;dependency&gt;
  &lt;groupId&gt;com.sun.xml.ws&lt;/groupId&gt;
  &lt;artifactId&gt;jaxws-rt&lt;/artifactId&gt;
  &lt;version&gt;4.0.2&lt;/version&gt;
&lt;/dependency&gt;</a:t>
            </a:r>
            <a:endParaRPr lang="en-US" sz="85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Captura propia - console-project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700" y="4191000"/>
            <a:ext cx="3530600" cy="2413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ódigo editable - ConversionController">
            <a:extLst>
              <a:ext uri="{FF2B5EF4-FFF2-40B4-BE49-F238E27FC236}">
                <a16:creationId xmlns:a16="http://schemas.microsoft.com/office/drawing/2014/main" xmlns="" id="{7DD048F7-291C-4466-917F-C53A70400149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s-ES" sz="1000" smtClean="0">
                <a:solidFill>
                  <a:srgbClr val="000000"/>
                </a:solidFill>
                <a:latin typeface="Consolas" panose="020B0609020204030204" pitchFamily="49" charset="0"/>
              </a:rPr>
              <a:t>IServicioConversion convService = clientManager.getConversionService();
String token = sessionModel.getToken();
String magnitud = request.getMagnitud().toLowerCase();</a:t>
            </a:r>
            <a:endParaRPr lang="en-US" sz="10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ódigo editable - ConversionRequest">
            <a:extLst>
              <a:ext uri="{FF2B5EF4-FFF2-40B4-BE49-F238E27FC236}">
                <a16:creationId xmlns:a16="http://schemas.microsoft.com/office/drawing/2014/main" xmlns="" id="{BE1FDCDF-BB08-4024-ACC0-08D4758E0B68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nb-NO" sz="1200" smtClean="0">
                <a:solidFill>
                  <a:srgbClr val="000000"/>
                </a:solidFill>
                <a:latin typeface="Consolas" panose="020B0609020204030204" pitchFamily="49" charset="0"/>
              </a:rPr>
              <a:t>private String magnitud;
private String unidadOrigen;
private String unidadDestino;
private double valor;</a:t>
            </a:r>
            <a:endParaRPr lang="en-US" sz="12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Captura 11 evidencia_ti-1-1-soap-java_s11-2.png" descr="Cliente de consola SOAP Java: selección y result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554" y="2617179"/>
            <a:ext cx="3977795" cy="26092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soap_clicon_logi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200" y="2700000"/>
            <a:ext cx="4150000" cy="18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02" name="soap_clicon_longitud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900000" y="2700000"/>
            <a:ext cx="4150000" cy="18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03" name="soap_clicon_masa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581200" y="4700000"/>
            <a:ext cx="4150000" cy="18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04" name="soap_clicon_temperatura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4900000" y="4700000"/>
            <a:ext cx="4150000" cy="18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Java de escritorio con Maven. La interfaz Swing consume los mismos endpoints SOAP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Captura propia - desktop-project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19" y="3270983"/>
            <a:ext cx="4140200" cy="28321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SOAP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xmlns="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xmlns="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sp>
        <p:nvSpPr>
          <p:cNvPr id="3" name="Código de controlador (texto)">
            <a:extLst>
              <a:ext uri="{FF2B5EF4-FFF2-40B4-BE49-F238E27FC236}">
                <a16:creationId xmlns:a16="http://schemas.microsoft.com/office/drawing/2014/main" xmlns="" id="{8D27FDBE-3262-425D-901F-736C75C67653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tIns="12700" rIns="25400" bIns="12700" rtlCol="0" anchor="ctr">
            <a:noAutofit/>
          </a:bodyPr>
          <a:lstStyle/>
          <a:p>
            <a:r>
              <a:rPr lang="pt-BR" sz="700" smtClean="0">
                <a:solidFill>
                  <a:srgbClr val="000000"/>
                </a:solidFill>
                <a:latin typeface="Consolas" panose="020B0609020204030204" pitchFamily="49" charset="0"/>
              </a:rPr>
              <a:t>String token = sessionModel.getToken();</a:t>
            </a:r>
            <a:endParaRPr lang="en-US" sz="7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ódigo de modelo (texto)">
            <a:extLst>
              <a:ext uri="{FF2B5EF4-FFF2-40B4-BE49-F238E27FC236}">
                <a16:creationId xmlns:a16="http://schemas.microsoft.com/office/drawing/2014/main" xmlns="" id="{D9BA546A-1E15-4A80-AA57-994B60F099F9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tIns="12700" rIns="25400" bIns="12700" rtlCol="0" anchor="ctr">
            <a:noAutofit/>
          </a:bodyPr>
          <a:lstStyle/>
          <a:p>
            <a:r>
              <a:rPr lang="nb-NO" sz="700" smtClean="0">
                <a:solidFill>
                  <a:srgbClr val="000000"/>
                </a:solidFill>
                <a:latin typeface="Consolas" panose="020B0609020204030204" pitchFamily="49" charset="0"/>
              </a:rPr>
              <a:t>private String usuario;</a:t>
            </a:r>
          </a:p>
          <a:p>
            <a:r>
              <a:rPr lang="nb-NO" sz="700" smtClean="0">
                <a:solidFill>
                  <a:srgbClr val="000000"/>
                </a:solidFill>
                <a:latin typeface="Consolas" panose="020B0609020204030204" pitchFamily="49" charset="0"/>
              </a:rPr>
              <a:t>private String token;</a:t>
            </a:r>
            <a:endParaRPr lang="en-US" sz="7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Captura propia - desktop-mvc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8311" y="2609850"/>
            <a:ext cx="3022600" cy="1104900"/>
          </a:xfrm>
          <a:prstGeom prst="rect">
            <a:avLst/>
          </a:prstGeom>
        </p:spPr>
      </p:pic>
      <p:pic>
        <p:nvPicPr>
          <p:cNvPr id="7" name="Captura propia - desktop-client-classes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4259" y="4377212"/>
            <a:ext cx="3670300" cy="2349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" name="Captura 15 evidencia_ti-1-1-soap-java_s15-2.png" descr="Cliente de escritorio SOAP Java: convers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858" y="2831802"/>
            <a:ext cx="4081317" cy="33240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01" name="soap_cliesc_logi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466800" y="2100000"/>
            <a:ext cx="3730000" cy="420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02" name="soap_cliesc_conversio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50000" y="2200000"/>
            <a:ext cx="4800000" cy="391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se despliega como ClienteWeb.war en Payara Server. Las vistas HTML/JSP presentan las pantallas; LoginServlet y ConversionServlet gestionan la sesión y las solicitudes SOAP.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Captura propia - web-client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0" y="3835400"/>
            <a:ext cx="2095500" cy="711200"/>
          </a:xfrm>
          <a:prstGeom prst="rect">
            <a:avLst/>
          </a:prstGeom>
        </p:spPr>
      </p:pic>
      <p:pic>
        <p:nvPicPr>
          <p:cNvPr id="5" name="Captura propia - evidencia_cliente_soap_java_panel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0050" y="3517900"/>
            <a:ext cx="4267200" cy="30353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 vistas conversor.html y conversor.jsp ofrecen el formulario de conversión. ConversionServlet comunica el cliente web con el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ns2:creationId xmlns:ns3="http://schemas.openxmlformats.org/officeDocument/2006/relationships" xmlns:ns2="http://schemas.microsoft.com/office/drawing/2014/main" xmlns:ns1="http://schemas.openxmlformats.org/drawingml/2006/main" xmlns:ns0="http://schemas.openxmlformats.org/presentationml/2006/main" xmlns="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pic>
        <p:nvPicPr>
          <p:cNvPr id="401" name="soap_cliweb_conversio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500000" y="2900000"/>
            <a:ext cx="5500000" cy="3416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y index.jsp ofrecen el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2" name="soap_cliweb_logi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713000" y="2800000"/>
            <a:ext cx="5957000" cy="370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3" name="soap_cliweb_conversio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715000" y="2800000"/>
            <a:ext cx="5950000" cy="370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4" name="soap_cliweb_logi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00000" y="2700000"/>
            <a:ext cx="5500000" cy="3416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5" name="soap_cliweb_conversio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86896" y="2600000"/>
            <a:ext cx="5400000" cy="33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Java y una actividad vacía. Agrega ksoap2-android y configura el acceso al servicio SOAP en localhost:8080.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Gradle - dependencia SOAP">
            <a:extLst>
              <a:ext uri="{FF2B5EF4-FFF2-40B4-BE49-F238E27FC236}">
                <a16:creationId xmlns:a16="http://schemas.microsoft.com/office/drawing/2014/main" xmlns="" id="{7FA02659-968B-436E-8575-1E22FA0ED2B1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s-ES" sz="850" smtClean="0">
                <a:solidFill>
                  <a:srgbClr val="000000"/>
                </a:solidFill>
                <a:latin typeface="Consolas" panose="020B0609020204030204" pitchFamily="49" charset="0"/>
              </a:rPr>
              <a:t>dependencies {
    implementation("com.google.code.ksoap2-android:ksoap2-android:3.6.4")
}</a:t>
            </a:r>
            <a:endParaRPr lang="en-US" sz="85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Captura propia - evidencia_cliente_movil_soap_java_masa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220" y="2400300"/>
            <a:ext cx="759460" cy="1689100"/>
          </a:xfrm>
          <a:prstGeom prst="rect">
            <a:avLst/>
          </a:prstGeom>
        </p:spPr>
      </p:pic>
      <p:pic>
        <p:nvPicPr>
          <p:cNvPr id="3" name="Captura propia - estructura actividad Android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5300" y="4203700"/>
            <a:ext cx="3289300" cy="19177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SOAP.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Captura propia - mobile-mvc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1537" y="2559253"/>
            <a:ext cx="3225800" cy="31623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SoapClient.java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ksoap2-android para construir solicitudes SOAP y procesar respuestas del servicio.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ódigo editable - ConversionController Android">
            <a:extLst>
              <a:ext uri="{FF2B5EF4-FFF2-40B4-BE49-F238E27FC236}">
                <a16:creationId xmlns:a16="http://schemas.microsoft.com/office/drawing/2014/main" xmlns="" id="{760DE4C0-82E6-4314-AB2E-742463D86AE8}"/>
              </a:ext>
            </a:extLst>
          </p:cNvPr>
          <p:cNvSpPr/>
          <p:nvPr/>
        </p:nvSpPr>
        <p:spPr>
          <a:xfrm>
            <a:off x="4980331" y="342900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s-ES" sz="900" smtClean="0">
                <a:solidFill>
                  <a:srgbClr val="000000"/>
                </a:solidFill>
                <a:latin typeface="Consolas" panose="020B0609020204030204" pitchFamily="49" charset="0"/>
              </a:rPr>
              <a:t>Future&lt;ConversionResponse&gt; future;
String magnitud = req.getMagnitud().toLowerCase();
switch (magnitud) {
    case "longitud":
        future = soapClient.convertirLongitud(
            baseUrl, token, req.getValor(),
            req.getUnidadOrigen(), req.getUnidadDestino());
        break;
}</a:t>
            </a:r>
            <a:endParaRPr lang="en-US" sz="9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ódigo editable - SoapClient Android">
            <a:extLst>
              <a:ext uri="{FF2B5EF4-FFF2-40B4-BE49-F238E27FC236}">
                <a16:creationId xmlns:a16="http://schemas.microsoft.com/office/drawing/2014/main" xmlns="" id="{BD4B1769-EB83-4114-B094-A3F8F5C58221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n-US" sz="900" smtClean="0">
                <a:solidFill>
                  <a:srgbClr val="000000"/>
                </a:solidFill>
                <a:latin typeface="Consolas" panose="020B0609020204030204" pitchFamily="49" charset="0"/>
              </a:rPr>
              <a:t>String endpoint = normalizarUrl(baseUrl) + "/ServicioAutenticacion";
String soapAction = NAMESPACE + "iniciarSesion";
SoapObject request = new SoapObject(NAMESPACE, "iniciarSesion");
request.addProperty("usuario", usuario);
request.addProperty("clave", clave);</a:t>
            </a:r>
            <a:endParaRPr lang="en-US" sz="9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59" name="Captura conversión móvil SOAP Java" descr="Conversión Android SOAP Java: 100.00 Metro a 10000.00 Centimet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748" y="3395466"/>
            <a:ext cx="1404564" cy="3121254"/>
          </a:xfrm>
          <a:prstGeom prst="rect">
            <a:avLst/>
          </a:prstGeom>
        </p:spPr>
      </p:pic>
      <p:pic>
        <p:nvPicPr>
          <p:cNvPr id="2" name="Captura login móvil SOAP Java" descr="Cliente móvil SOAP Java: inicio de sesión capturado en Andro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2009" y="3523400"/>
            <a:ext cx="1030616" cy="229025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SOAP. Luego inicia la aplicación en un emulador o dispositivo Android y verifica el acceso a la dirección del host y al puerto 8080.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96" name="Captura móvil SOAP Java emulador" descr="Ejecución móvil SOAP Java en emulador: 100.00 Celsius a 212.00 Fahrenhe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6915" y="3132225"/>
            <a:ext cx="1561387" cy="3469750"/>
          </a:xfrm>
          <a:prstGeom prst="rect">
            <a:avLst/>
          </a:prstGeom>
        </p:spPr>
      </p:pic>
      <p:pic>
        <p:nvPicPr>
          <p:cNvPr id="3" name="Captura cliente móvil - Inicio de sesión" descr="Captura del cliente móvil Android: pantalla de inicio de sesión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5360" y="3132224"/>
            <a:ext cx="1577205" cy="3469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Java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2002</Words>
  <Application>Microsoft Office PowerPoint</Application>
  <PresentationFormat>Panorámica</PresentationFormat>
  <Paragraphs>405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7" baseType="lpstr">
      <vt:lpstr>Noto Sans Symbols</vt:lpstr>
      <vt:lpstr>Arial</vt:lpstr>
      <vt:lpstr>Gill Sans</vt:lpstr>
      <vt:lpstr>Consolas</vt:lpstr>
      <vt:lpstr>Cambria</vt:lpstr>
      <vt:lpstr>Calibri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Java SINBDD GR09</dc:title>
  <dc:creator>Murillo Medina, Gabriel Omar; Viche Castillo, Julio Enrique</dc:creator>
  <cp:lastModifiedBy>Murillo Medina, Gabriel Omar; Viche Castillo, Julio Enrique</cp:lastModifiedBy>
  <cp:revision>10</cp:revision>
  <dcterms:created xsi:type="dcterms:W3CDTF">2026-10-28T05:41:41Z</dcterms:created>
  <dcterms:modified xsi:type="dcterms:W3CDTF">2026-10-29T22:34:26Z</dcterms:modified>
</cp:coreProperties>
</file>